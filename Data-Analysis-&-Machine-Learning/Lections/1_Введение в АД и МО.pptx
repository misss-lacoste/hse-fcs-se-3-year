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C9021C-99E4-4324-9E32-43716AB5A53B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8C2221-B660-45C9-A8A6-F9E2A8D93B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19DB85-E58C-4316-AD6B-7C17DB5512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ECD7AB-129B-4BB9-B94C-D5C3366435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4C6819-6540-4474-B080-729CCF4C35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648414-1298-43C0-BCCF-8830774583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B5D9E8-42CC-4309-9F94-1906A4423B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811F84-DA7B-4DC4-8993-0BC874F4B7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A41092-E3B1-4BD2-AD64-8AA9A4AB33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587456-67E4-4F17-BD7F-D97F4C9455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0EB51E-E9A1-4DAE-8A4D-8A163877B9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D5BE18-124E-45B7-86BC-CB420B8999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5DBE30-7D3D-4C70-A601-1B3D2F7087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40C130-47C9-4EB0-8AA0-E274CD945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4124F0-BA9C-4F6E-AECF-F42A226715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6D8AD9-1CF2-4DD1-92DC-8771ECD501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69F0F2-0B44-4AE2-9F75-BBC33DFE81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8089BC-4D66-416F-9C16-193EFDFEE9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403249-76EC-435A-8DA6-61930F4461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7495B7-6E0D-4EDF-AB2D-4058F643CC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181550-F690-41A8-9234-D4F634F661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E1C428-513E-4475-B162-732BE0D5F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A7C2F3-D9A5-49EF-A578-96195E54DE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93F360-B5F2-4F26-B8F9-FBEDB8A6D0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C6943D-7A4A-4DD8-B6AE-B8B7FA69AC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260113-5BE6-4F94-87A0-65A093CA61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1F9B0D-D97A-4093-B3DE-16643ED573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6BF196-76E3-4288-9207-28D9A8F470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536489-68DC-4A5C-BC4E-1DBEC5A015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4C4DA8-F9CE-46C5-893C-7042633C6F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63D77A-183F-4CB0-B4B9-2B4D334625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1AAA9D-B9C8-47FA-9F3A-4D5C1DBB26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148CA-171E-42C5-AD49-18825835F8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2398B2-359D-4CD3-AA14-4E277BC944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hyperlink" Target="https://disk.yandex.ru/d/uPPfxtBt3uQJZA" TargetMode="External"/><Relationship Id="rId3" Type="http://schemas.openxmlformats.org/officeDocument/2006/relationships/hyperlink" Target="https://disk.yandex.ru/d/uPPfxtBt3uQJZA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4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7955280" y="-2377440"/>
            <a:ext cx="6857640" cy="685764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194560" y="4572000"/>
            <a:ext cx="4205880" cy="4205880"/>
          </a:xfrm>
          <a:prstGeom prst="ellipse">
            <a:avLst/>
          </a:prstGeom>
          <a:solidFill>
            <a:srgbClr val="4038B8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22960" y="182880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9AA0DE"/>
                </a:solidFill>
                <a:effectLst/>
                <a:uFillTx/>
                <a:latin typeface="Cambria"/>
                <a:ea typeface="Cambria"/>
              </a:rPr>
              <a:t>Введение</a:t>
            </a:r>
            <a:endParaRPr lang="ru-R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777240" y="2331720"/>
            <a:ext cx="98751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Анализ данных и</a:t>
            </a:r>
            <a:endParaRPr lang="ru-RU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машинное обучение</a:t>
            </a:r>
            <a:endParaRPr lang="ru-RU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868680" y="4617720"/>
            <a:ext cx="2011680" cy="360"/>
          </a:xfrm>
          <a:prstGeom prst="line">
            <a:avLst/>
          </a:prstGeom>
          <a:ln w="38100">
            <a:solidFill>
              <a:srgbClr val="5B4F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68680" y="484632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Савченко Людмила Васильевна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Доцент кафедры ИСиТ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lsavchenko@hse.ru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8899920" y="-2011680"/>
            <a:ext cx="5943240" cy="594324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822960" y="1965960"/>
            <a:ext cx="3657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ru-RU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868680" y="3977640"/>
            <a:ext cx="868320" cy="8683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/home/claude/work/icons/clipboard.png"/>
          <p:cNvPicPr/>
          <p:nvPr/>
        </p:nvPicPr>
        <p:blipFill>
          <a:blip r:embed="rId1"/>
          <a:stretch/>
        </p:blipFill>
        <p:spPr>
          <a:xfrm>
            <a:off x="1059840" y="4168800"/>
            <a:ext cx="486000" cy="4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3"/>
          <p:cNvSpPr/>
          <p:nvPr/>
        </p:nvSpPr>
        <p:spPr>
          <a:xfrm>
            <a:off x="1965960" y="3886200"/>
            <a:ext cx="87778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Организация курса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8686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Регламент, аттестация и темы курса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ОРГАНИЗАЦИЯ КУРСА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Общая информация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640080" y="1691640"/>
            <a:ext cx="6491880" cy="4434480"/>
          </a:xfrm>
          <a:prstGeom prst="roundRect">
            <a:avLst>
              <a:gd name="adj" fmla="val 247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960120" y="1965960"/>
            <a:ext cx="548280" cy="5482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/home/claude/work/icons/award.png"/>
          <p:cNvPicPr/>
          <p:nvPr/>
        </p:nvPicPr>
        <p:blipFill>
          <a:blip r:embed="rId1"/>
          <a:stretch/>
        </p:blipFill>
        <p:spPr>
          <a:xfrm>
            <a:off x="1080720" y="208656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4"/>
          <p:cNvSpPr/>
          <p:nvPr/>
        </p:nvSpPr>
        <p:spPr>
          <a:xfrm>
            <a:off x="1691640" y="19933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Статус дисциплины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960120" y="2697480"/>
            <a:ext cx="589752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4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Курс имеет статус «ДПР» — дисциплина-пререквизит к независимому экзамену. Согласно ПОПАТКУС («Положение об организации промежуточной аттестации и текущего контроля успеваемости студентов»), оценка за ДПР не может быть выше 8 баллов.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Получить оценку 10 можно при перезачёте оценки за НЭ.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7315200" y="1691640"/>
            <a:ext cx="4205880" cy="2102760"/>
          </a:xfrm>
          <a:prstGeom prst="roundRect">
            <a:avLst>
              <a:gd name="adj" fmla="val 5217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7635240" y="1965960"/>
            <a:ext cx="502560" cy="502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1" descr="/home/claude/work/icons/link.png"/>
          <p:cNvPicPr/>
          <p:nvPr/>
        </p:nvPicPr>
        <p:blipFill>
          <a:blip r:embed="rId2"/>
          <a:stretch/>
        </p:blipFill>
        <p:spPr>
          <a:xfrm>
            <a:off x="7745760" y="207648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8"/>
          <p:cNvSpPr/>
          <p:nvPr/>
        </p:nvSpPr>
        <p:spPr>
          <a:xfrm>
            <a:off x="8321040" y="198432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Полезная информация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7635240" y="2606040"/>
            <a:ext cx="3657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hse.ru/dataculture/dc_assessment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SmartLMS: https://edu.hse.ru/course/view.php?id=289689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7315200" y="4023360"/>
            <a:ext cx="4205880" cy="2102760"/>
          </a:xfrm>
          <a:prstGeom prst="roundRect">
            <a:avLst>
              <a:gd name="adj" fmla="val 5217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7635240" y="4297680"/>
            <a:ext cx="502560" cy="502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2" descr="/home/claude/work/icons/calendar.png"/>
          <p:cNvPicPr/>
          <p:nvPr/>
        </p:nvPicPr>
        <p:blipFill>
          <a:blip r:embed="rId3"/>
          <a:stretch/>
        </p:blipFill>
        <p:spPr>
          <a:xfrm>
            <a:off x="7745760" y="440820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2"/>
          <p:cNvSpPr/>
          <p:nvPr/>
        </p:nvSpPr>
        <p:spPr>
          <a:xfrm>
            <a:off x="8321040" y="431604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Даты проведения НЭ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7635240" y="4892040"/>
            <a:ext cx="3702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Экзамены проходят в две волны — в 3-м и 4-м модулях. Результаты доступны через 3 недели после окончания волны. Дата и время выбираются самостоятельно; график публикуется за 10 дней до начала волны.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ОРГАНИЗАЦИЯ КУРСА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Темы курса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640080" y="187452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960120" y="2194560"/>
            <a:ext cx="658080" cy="6580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0" descr="/home/claude/work/icons/grid.png"/>
          <p:cNvPicPr/>
          <p:nvPr/>
        </p:nvPicPr>
        <p:blipFill>
          <a:blip r:embed="rId1"/>
          <a:stretch/>
        </p:blipFill>
        <p:spPr>
          <a:xfrm>
            <a:off x="1104840" y="233928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4"/>
          <p:cNvSpPr/>
          <p:nvPr/>
        </p:nvSpPr>
        <p:spPr>
          <a:xfrm>
            <a:off x="914400" y="297180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Регрессия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5"/>
          <p:cNvSpPr/>
          <p:nvPr/>
        </p:nvSpPr>
        <p:spPr>
          <a:xfrm>
            <a:off x="4416480" y="187452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4736520" y="2194560"/>
            <a:ext cx="658080" cy="6580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1" descr="/home/claude/work/icons/layers.png"/>
          <p:cNvPicPr/>
          <p:nvPr/>
        </p:nvPicPr>
        <p:blipFill>
          <a:blip r:embed="rId2"/>
          <a:stretch/>
        </p:blipFill>
        <p:spPr>
          <a:xfrm>
            <a:off x="4881600" y="233928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7"/>
          <p:cNvSpPr/>
          <p:nvPr/>
        </p:nvSpPr>
        <p:spPr>
          <a:xfrm>
            <a:off x="4690800" y="297180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Классификация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8192880" y="187452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9"/>
          <p:cNvSpPr/>
          <p:nvPr/>
        </p:nvSpPr>
        <p:spPr>
          <a:xfrm>
            <a:off x="8512920" y="2194560"/>
            <a:ext cx="658080" cy="6580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2" descr="/home/claude/work/icons/target.png"/>
          <p:cNvPicPr/>
          <p:nvPr/>
        </p:nvPicPr>
        <p:blipFill>
          <a:blip r:embed="rId3"/>
          <a:stretch/>
        </p:blipFill>
        <p:spPr>
          <a:xfrm>
            <a:off x="8658000" y="233928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10"/>
          <p:cNvSpPr/>
          <p:nvPr/>
        </p:nvSpPr>
        <p:spPr>
          <a:xfrm>
            <a:off x="8467200" y="297180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Кластеризация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640080" y="416052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960120" y="4480560"/>
            <a:ext cx="658080" cy="6580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3" descr="/home/claude/work/icons/cpu.png"/>
          <p:cNvPicPr/>
          <p:nvPr/>
        </p:nvPicPr>
        <p:blipFill>
          <a:blip r:embed="rId4"/>
          <a:stretch/>
        </p:blipFill>
        <p:spPr>
          <a:xfrm>
            <a:off x="1104840" y="462528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13"/>
          <p:cNvSpPr/>
          <p:nvPr/>
        </p:nvSpPr>
        <p:spPr>
          <a:xfrm>
            <a:off x="914400" y="525780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Нейронные сети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4416480" y="416052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4736520" y="4480560"/>
            <a:ext cx="658080" cy="6580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4" descr="/home/claude/work/icons/book.png"/>
          <p:cNvPicPr/>
          <p:nvPr/>
        </p:nvPicPr>
        <p:blipFill>
          <a:blip r:embed="rId5"/>
          <a:stretch/>
        </p:blipFill>
        <p:spPr>
          <a:xfrm>
            <a:off x="4881600" y="462528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6"/>
          <p:cNvSpPr/>
          <p:nvPr/>
        </p:nvSpPr>
        <p:spPr>
          <a:xfrm>
            <a:off x="4690800" y="5257800"/>
            <a:ext cx="297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Подготовка к независимому экзамену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5" descr="/home/claude/work/icons/messageCircle.png"/>
          <p:cNvPicPr/>
          <p:nvPr/>
        </p:nvPicPr>
        <p:blipFill>
          <a:blip r:embed="rId6"/>
          <a:stretch/>
        </p:blipFill>
        <p:spPr>
          <a:xfrm>
            <a:off x="8658000" y="4625280"/>
            <a:ext cx="368280" cy="3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0"/>
          <p:cNvSpPr/>
          <p:nvPr/>
        </p:nvSpPr>
        <p:spPr>
          <a:xfrm>
            <a:off x="640080" y="6172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(*) — тема отмечена как дополнительная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ОРГАНИЗАЦИЯ КУРСА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Аттестация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640080" y="16916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Оценка за курс — экзамен во 2-м модуле, складывается из следующих компонентов: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640080" y="2331720"/>
            <a:ext cx="1631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2272320" y="2331720"/>
            <a:ext cx="1087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3360600" y="2331720"/>
            <a:ext cx="1087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4448520" y="2331720"/>
            <a:ext cx="1631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6080760" y="2331720"/>
            <a:ext cx="1087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7169040" y="2331720"/>
            <a:ext cx="1087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8256960" y="2331720"/>
            <a:ext cx="217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10433160" y="2331720"/>
            <a:ext cx="1087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10%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640080" y="3447360"/>
            <a:ext cx="200880" cy="200880"/>
          </a:xfrm>
          <a:prstGeom prst="rect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960120" y="33375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Практическая работа, 1 модуль — 10%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1"/>
          <p:cNvSpPr/>
          <p:nvPr/>
        </p:nvSpPr>
        <p:spPr>
          <a:xfrm>
            <a:off x="6172200" y="3447360"/>
            <a:ext cx="200880" cy="200880"/>
          </a:xfrm>
          <a:prstGeom prst="rect">
            <a:avLst/>
          </a:prstGeom>
          <a:solidFill>
            <a:srgbClr val="6E6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6492240" y="33375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Активность на семинарах, 1 модуль — 10%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640080" y="3904560"/>
            <a:ext cx="200880" cy="200880"/>
          </a:xfrm>
          <a:prstGeom prst="rect">
            <a:avLst/>
          </a:prstGeom>
          <a:solidFill>
            <a:srgbClr val="817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4"/>
          <p:cNvSpPr/>
          <p:nvPr/>
        </p:nvSpPr>
        <p:spPr>
          <a:xfrm>
            <a:off x="960120" y="37947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Контрольная работа, 1 модуль — 10%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5"/>
          <p:cNvSpPr/>
          <p:nvPr/>
        </p:nvSpPr>
        <p:spPr>
          <a:xfrm>
            <a:off x="6172200" y="3904560"/>
            <a:ext cx="200880" cy="200880"/>
          </a:xfrm>
          <a:prstGeom prst="rect">
            <a:avLst/>
          </a:prstGeom>
          <a:solidFill>
            <a:srgbClr val="4038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6492240" y="37947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Практическая работа, 2 модуль — 10%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640080" y="4361760"/>
            <a:ext cx="200880" cy="200880"/>
          </a:xfrm>
          <a:prstGeom prst="rect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960120" y="4251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Активность на семинарах, 2 модуль — 10%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9"/>
          <p:cNvSpPr/>
          <p:nvPr/>
        </p:nvSpPr>
        <p:spPr>
          <a:xfrm>
            <a:off x="6172200" y="4361760"/>
            <a:ext cx="200880" cy="200880"/>
          </a:xfrm>
          <a:prstGeom prst="rect">
            <a:avLst/>
          </a:prstGeom>
          <a:solidFill>
            <a:srgbClr val="6E6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6492240" y="4251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Контрольная работа, 2 модуль — 10%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1"/>
          <p:cNvSpPr/>
          <p:nvPr/>
        </p:nvSpPr>
        <p:spPr>
          <a:xfrm>
            <a:off x="699120" y="5199120"/>
            <a:ext cx="200880" cy="200880"/>
          </a:xfrm>
          <a:prstGeom prst="rect">
            <a:avLst/>
          </a:prstGeom>
          <a:solidFill>
            <a:srgbClr val="817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2"/>
          <p:cNvSpPr/>
          <p:nvPr/>
        </p:nvSpPr>
        <p:spPr>
          <a:xfrm>
            <a:off x="1044000" y="5033160"/>
            <a:ext cx="4908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Проект — 20%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3"/>
          <p:cNvSpPr/>
          <p:nvPr/>
        </p:nvSpPr>
        <p:spPr>
          <a:xfrm>
            <a:off x="7560000" y="5166000"/>
            <a:ext cx="200880" cy="200880"/>
          </a:xfrm>
          <a:prstGeom prst="rect">
            <a:avLst/>
          </a:prstGeom>
          <a:solidFill>
            <a:srgbClr val="4038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4"/>
          <p:cNvSpPr/>
          <p:nvPr/>
        </p:nvSpPr>
        <p:spPr>
          <a:xfrm>
            <a:off x="7968240" y="4997160"/>
            <a:ext cx="2651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Экзамен — 10%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5"/>
          <p:cNvSpPr/>
          <p:nvPr/>
        </p:nvSpPr>
        <p:spPr>
          <a:xfrm>
            <a:off x="640080" y="5623560"/>
            <a:ext cx="10881000" cy="776880"/>
          </a:xfrm>
          <a:prstGeom prst="roundRect">
            <a:avLst>
              <a:gd name="adj" fmla="val 14118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6"/>
          <p:cNvSpPr/>
          <p:nvPr/>
        </p:nvSpPr>
        <p:spPr>
          <a:xfrm>
            <a:off x="868680" y="5760720"/>
            <a:ext cx="502560" cy="50256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0" descr="/home/claude/work/icons/users.png"/>
          <p:cNvPicPr/>
          <p:nvPr/>
        </p:nvPicPr>
        <p:blipFill>
          <a:blip r:embed="rId1"/>
          <a:stretch/>
        </p:blipFill>
        <p:spPr>
          <a:xfrm>
            <a:off x="979200" y="58712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37"/>
          <p:cNvSpPr/>
          <p:nvPr/>
        </p:nvSpPr>
        <p:spPr>
          <a:xfrm>
            <a:off x="1554480" y="5623560"/>
            <a:ext cx="9783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Старостам групп проверить актуальные списки групп: </a:t>
            </a: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  <a:hlinkClick r:id="rId2"/>
              </a:rPr>
              <a:t>АД и МО</a:t>
            </a: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  (</a:t>
            </a: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  <a:hlinkClick r:id="rId3"/>
              </a:rPr>
              <a:t>https://disk.yandex.ru/d/uPPfxtBt3uQJZA</a:t>
            </a: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).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8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0"/>
          <p:cNvSpPr/>
          <p:nvPr/>
        </p:nvSpPr>
        <p:spPr>
          <a:xfrm>
            <a:off x="4192200" y="5178960"/>
            <a:ext cx="200880" cy="200880"/>
          </a:xfrm>
          <a:prstGeom prst="rect">
            <a:avLst/>
          </a:prstGeom>
          <a:solidFill>
            <a:srgbClr val="800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320000" y="5172840"/>
            <a:ext cx="3600000" cy="40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Прохождение онлайн курса – 10%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8899920" y="-2011680"/>
            <a:ext cx="5943240" cy="594324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822960" y="1965960"/>
            <a:ext cx="3657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ru-RU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868680" y="3977640"/>
            <a:ext cx="868320" cy="8683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/home/claude/work/icons/messageCircle.png"/>
          <p:cNvPicPr/>
          <p:nvPr/>
        </p:nvPicPr>
        <p:blipFill>
          <a:blip r:embed="rId1"/>
          <a:stretch/>
        </p:blipFill>
        <p:spPr>
          <a:xfrm>
            <a:off x="1059840" y="4168800"/>
            <a:ext cx="486000" cy="4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3"/>
          <p:cNvSpPr/>
          <p:nvPr/>
        </p:nvSpPr>
        <p:spPr>
          <a:xfrm>
            <a:off x="1965960" y="3886200"/>
            <a:ext cx="87778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История чат-ботов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8686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От Элизы до A.L.I.C.E. — путь диалоговых систем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ИСТОРИЯ ЧАТ-БОТОВ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Первые чат-боты. ELIZA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640080" y="1737360"/>
            <a:ext cx="3200040" cy="4388760"/>
          </a:xfrm>
          <a:prstGeom prst="roundRect">
            <a:avLst>
              <a:gd name="adj" fmla="val 3429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640080" y="288036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1966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4"/>
          <p:cNvSpPr/>
          <p:nvPr/>
        </p:nvSpPr>
        <p:spPr>
          <a:xfrm>
            <a:off x="1325880" y="3886200"/>
            <a:ext cx="1828800" cy="360"/>
          </a:xfrm>
          <a:prstGeom prst="line">
            <a:avLst/>
          </a:prstGeom>
          <a:ln w="31750">
            <a:solidFill>
              <a:srgbClr val="5B4F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1325880" y="2103120"/>
            <a:ext cx="685440" cy="685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/home/claude/work/icons/messageCircle.png"/>
          <p:cNvPicPr/>
          <p:nvPr/>
        </p:nvPicPr>
        <p:blipFill>
          <a:blip r:embed="rId1"/>
          <a:stretch/>
        </p:blipFill>
        <p:spPr>
          <a:xfrm>
            <a:off x="1476720" y="22539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Shape 6"/>
          <p:cNvSpPr/>
          <p:nvPr/>
        </p:nvSpPr>
        <p:spPr>
          <a:xfrm>
            <a:off x="4114800" y="1737360"/>
            <a:ext cx="7406280" cy="4388760"/>
          </a:xfrm>
          <a:prstGeom prst="roundRect">
            <a:avLst>
              <a:gd name="adj" fmla="val 2500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4434840" y="2011680"/>
            <a:ext cx="67662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ELIZA была представлена в Массачусетском технологическом институте в 1966 году как эксперимент в области искусственного интеллекта. Цель эксперимента — создать программу, способную проходить тест Тьюринга: если человек не может отличить машину от собеседника-человека, машина считается «интеллектуальной».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ELIZA начинала диалог с вопроса «Как дела?». В ответ на реплику пользователя программа вычленяла ключевое слово и строила на его основе свой ответ, стимулируя продолжение беседы. При отсутствии ключевого слова ELIZA предлагала: «Расскажите мне больше по этому поводу» — или отвечала обобщённо: «Интересно, интересно...».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ИСТОРИЯ ЧАТ-БОТОВ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Пример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640080" y="14400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 Display"/>
                <a:ea typeface="Calibri"/>
              </a:rPr>
              <a:t>https://www.masswerk.at/eliza/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1508760" y="1783080"/>
            <a:ext cx="9143640" cy="4434480"/>
          </a:xfrm>
          <a:prstGeom prst="roundRect">
            <a:avLst>
              <a:gd name="adj" fmla="val 247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0" descr="/home/claude/work/unpacked/ppt/media/image1.png"/>
          <p:cNvPicPr/>
          <p:nvPr/>
        </p:nvPicPr>
        <p:blipFill>
          <a:blip r:embed="rId1"/>
          <a:stretch/>
        </p:blipFill>
        <p:spPr>
          <a:xfrm>
            <a:off x="1737360" y="2011680"/>
            <a:ext cx="868644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4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ИСТОРИЯ ЧАТ-БОТОВ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Первые чат-боты. Parry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640080" y="1737360"/>
            <a:ext cx="3200040" cy="4388760"/>
          </a:xfrm>
          <a:prstGeom prst="roundRect">
            <a:avLst>
              <a:gd name="adj" fmla="val 3429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640080" y="288036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1972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1325880" y="3886200"/>
            <a:ext cx="1828800" cy="360"/>
          </a:xfrm>
          <a:prstGeom prst="line">
            <a:avLst/>
          </a:prstGeom>
          <a:ln w="31750">
            <a:solidFill>
              <a:srgbClr val="5B4F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1325880" y="2103120"/>
            <a:ext cx="685440" cy="685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home/claude/work/icons/messageCircle.png"/>
          <p:cNvPicPr/>
          <p:nvPr/>
        </p:nvPicPr>
        <p:blipFill>
          <a:blip r:embed="rId1"/>
          <a:stretch/>
        </p:blipFill>
        <p:spPr>
          <a:xfrm>
            <a:off x="1476720" y="22539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Shape 6"/>
          <p:cNvSpPr/>
          <p:nvPr/>
        </p:nvSpPr>
        <p:spPr>
          <a:xfrm>
            <a:off x="4114800" y="1737360"/>
            <a:ext cx="7406280" cy="4388760"/>
          </a:xfrm>
          <a:prstGeom prst="roundRect">
            <a:avLst>
              <a:gd name="adj" fmla="val 2500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4434840" y="2011680"/>
            <a:ext cx="67662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Чат-бот Parry был разработан психиатром из Стэнфордской лаборатории искусственного интеллекта Кеннетом Колби в 1972 году.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Parry — текстовый бот, моделирующий поведение человека с шизофренией. Программа стала тренировочной для студентов-медиков, после работы с которой те могли переходить к общению с реальными пациентами.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Parry — первый виртуальный чат-бот, прошедший тест Тьюринга: бот обманул 48% профессиональных психиатров, которые так и не поняли, что общаются с машиной.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ИСТОРИЯ ЧАТ-БОТОВ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Первые чат-боты. Jabberwacky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640080" y="1737360"/>
            <a:ext cx="3200040" cy="4388760"/>
          </a:xfrm>
          <a:prstGeom prst="roundRect">
            <a:avLst>
              <a:gd name="adj" fmla="val 3429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640080" y="288036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1988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1325880" y="3886200"/>
            <a:ext cx="1828800" cy="360"/>
          </a:xfrm>
          <a:prstGeom prst="line">
            <a:avLst/>
          </a:prstGeom>
          <a:ln w="31750">
            <a:solidFill>
              <a:srgbClr val="5B4F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1325880" y="2103120"/>
            <a:ext cx="685440" cy="685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 descr="/home/claude/work/icons/messageCircle.png"/>
          <p:cNvPicPr/>
          <p:nvPr/>
        </p:nvPicPr>
        <p:blipFill>
          <a:blip r:embed="rId1"/>
          <a:stretch/>
        </p:blipFill>
        <p:spPr>
          <a:xfrm>
            <a:off x="1476720" y="22539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Shape 6"/>
          <p:cNvSpPr/>
          <p:nvPr/>
        </p:nvSpPr>
        <p:spPr>
          <a:xfrm>
            <a:off x="4114800" y="1737360"/>
            <a:ext cx="7406280" cy="4388760"/>
          </a:xfrm>
          <a:prstGeom prst="roundRect">
            <a:avLst>
              <a:gd name="adj" fmla="val 2500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4434840" y="2011680"/>
            <a:ext cx="67662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В 1988 году появился весёлый бот-шутник с искусственным интеллектом. Первого голосового бота Jabberwacky создал Ролло Карпентер — программист-самоучка.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Особенность бота была не только в имитации человеческого разговора в развлекательной манере. Абсолютным новшеством стало то, что вместо статической базы данных чат-бот получил способность обучаться.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Jabberwacky запоминал всё, что ему говорят, отзеркаливал поведение собеседника, быстро учился сленгу и в итоге обрёл собственный характер.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ИСТОРИЯ ЧАТ-БОТОВ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Первые чат-боты. A.L.I.C.E.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640080" y="1737360"/>
            <a:ext cx="3200040" cy="4388760"/>
          </a:xfrm>
          <a:prstGeom prst="roundRect">
            <a:avLst>
              <a:gd name="adj" fmla="val 3429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640080" y="288036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1995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1325880" y="3886200"/>
            <a:ext cx="1828800" cy="360"/>
          </a:xfrm>
          <a:prstGeom prst="line">
            <a:avLst/>
          </a:prstGeom>
          <a:ln w="31750">
            <a:solidFill>
              <a:srgbClr val="5B4F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5"/>
          <p:cNvSpPr/>
          <p:nvPr/>
        </p:nvSpPr>
        <p:spPr>
          <a:xfrm>
            <a:off x="1325880" y="2103120"/>
            <a:ext cx="685440" cy="685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0" descr="/home/claude/work/icons/messageCircle.png"/>
          <p:cNvPicPr/>
          <p:nvPr/>
        </p:nvPicPr>
        <p:blipFill>
          <a:blip r:embed="rId1"/>
          <a:stretch/>
        </p:blipFill>
        <p:spPr>
          <a:xfrm>
            <a:off x="1476720" y="22539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Shape 6"/>
          <p:cNvSpPr/>
          <p:nvPr/>
        </p:nvSpPr>
        <p:spPr>
          <a:xfrm>
            <a:off x="4114800" y="1737360"/>
            <a:ext cx="7406280" cy="4388760"/>
          </a:xfrm>
          <a:prstGeom prst="roundRect">
            <a:avLst>
              <a:gd name="adj" fmla="val 2500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4434840" y="2011680"/>
            <a:ext cx="67662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A.L.I.C.E. (Artificial Linguistic Internet Computer Entity) — первый проект, имитирующий голосовой чат с женщиной, созданный в 1995 году программистом Ричардом Уоллесом.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ALICE стала прорывом для индустрии, потому что могла обрабатывать естественную речь пользователя, используя технику сопоставления фразы пользователя с образцами в базе знаний.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8899920" y="-2011680"/>
            <a:ext cx="5943240" cy="594324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822960" y="1965960"/>
            <a:ext cx="3657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ru-RU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868680" y="3977640"/>
            <a:ext cx="868320" cy="8683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/home/claude/work/icons/mic.png"/>
          <p:cNvPicPr/>
          <p:nvPr/>
        </p:nvPicPr>
        <p:blipFill>
          <a:blip r:embed="rId1"/>
          <a:stretch/>
        </p:blipFill>
        <p:spPr>
          <a:xfrm>
            <a:off x="1059840" y="4168800"/>
            <a:ext cx="486000" cy="4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3"/>
          <p:cNvSpPr/>
          <p:nvPr/>
        </p:nvSpPr>
        <p:spPr>
          <a:xfrm>
            <a:off x="1965960" y="3886200"/>
            <a:ext cx="87778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Голосовые помощники и языковые модели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8686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От Siri до ChatGPT — новое поколение ассистентов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ГОЛОСОВЫЕ ПОМОЩНИКИ И ЯЗЫКОВЫЕ МОДЕЛИ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Голосовые помощники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640080" y="1783080"/>
            <a:ext cx="53488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914400" y="2057400"/>
            <a:ext cx="959760" cy="502560"/>
          </a:xfrm>
          <a:prstGeom prst="roundRect">
            <a:avLst>
              <a:gd name="adj" fmla="val 14545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914400" y="205740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2010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2011680" y="203904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Siri (Apple)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914400" y="2651760"/>
            <a:ext cx="4800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Первый бот, способный находить ответы на любые вопросы и выполнять задания в сети: будильники, напоминания, звонки.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6172200" y="1783080"/>
            <a:ext cx="53488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6446520" y="2057400"/>
            <a:ext cx="959760" cy="502560"/>
          </a:xfrm>
          <a:prstGeom prst="roundRect">
            <a:avLst>
              <a:gd name="adj" fmla="val 14545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6446520" y="205740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2012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7543800" y="203904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Google Now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6446520" y="2651760"/>
            <a:ext cx="4800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Бот от Google — отвечает на вопросы, даёт советы и обрабатывает запросы пользователя.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2"/>
          <p:cNvSpPr/>
          <p:nvPr/>
        </p:nvSpPr>
        <p:spPr>
          <a:xfrm>
            <a:off x="640080" y="4023360"/>
            <a:ext cx="53488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914400" y="4297680"/>
            <a:ext cx="959760" cy="502560"/>
          </a:xfrm>
          <a:prstGeom prst="roundRect">
            <a:avLst>
              <a:gd name="adj" fmla="val 14545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4"/>
          <p:cNvSpPr/>
          <p:nvPr/>
        </p:nvSpPr>
        <p:spPr>
          <a:xfrm>
            <a:off x="914400" y="429768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2015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2011680" y="427932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Alexa и Cortana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914400" y="4892040"/>
            <a:ext cx="4800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Alexa (Amazon Echo) — музыка, подкасты, списки дел, погода. Cortana (Microsoft) — предугадывает потребности пользователя по личным данным.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7"/>
          <p:cNvSpPr/>
          <p:nvPr/>
        </p:nvSpPr>
        <p:spPr>
          <a:xfrm>
            <a:off x="6172200" y="4023360"/>
            <a:ext cx="53488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8"/>
          <p:cNvSpPr/>
          <p:nvPr/>
        </p:nvSpPr>
        <p:spPr>
          <a:xfrm>
            <a:off x="6446520" y="4297680"/>
            <a:ext cx="959760" cy="502560"/>
          </a:xfrm>
          <a:prstGeom prst="roundRect">
            <a:avLst>
              <a:gd name="adj" fmla="val 14545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6446520" y="429768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2017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0"/>
          <p:cNvSpPr/>
          <p:nvPr/>
        </p:nvSpPr>
        <p:spPr>
          <a:xfrm>
            <a:off x="7543800" y="427932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Алиса (Яндекс)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1"/>
          <p:cNvSpPr/>
          <p:nvPr/>
        </p:nvSpPr>
        <p:spPr>
          <a:xfrm>
            <a:off x="6446520" y="4892040"/>
            <a:ext cx="4800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Решает повседневные задачи: погода, рекомендации мест, поиск в интернете, помощь с уроками.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2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ГОЛОСОВЫЕ ПОМОЩНИКИ И ЯЗЫКОВЫЕ МОДЕЛИ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Языковые модели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"/>
          <p:cNvSpPr/>
          <p:nvPr/>
        </p:nvSpPr>
        <p:spPr>
          <a:xfrm>
            <a:off x="640080" y="1737360"/>
            <a:ext cx="10881000" cy="1371240"/>
          </a:xfrm>
          <a:prstGeom prst="roundRect">
            <a:avLst>
              <a:gd name="adj" fmla="val 8000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914400" y="1965960"/>
            <a:ext cx="822600" cy="82260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0" descr="/home/claude/work/icons/cpu.png"/>
          <p:cNvPicPr/>
          <p:nvPr/>
        </p:nvPicPr>
        <p:blipFill>
          <a:blip r:embed="rId1"/>
          <a:stretch/>
        </p:blipFill>
        <p:spPr>
          <a:xfrm>
            <a:off x="1095480" y="21470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4"/>
          <p:cNvSpPr/>
          <p:nvPr/>
        </p:nvSpPr>
        <p:spPr>
          <a:xfrm>
            <a:off x="1965960" y="1847160"/>
            <a:ext cx="93265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 2023 году появилась модель ChatGPT — одна из самых популярных и узнаваемых языковых моделей в мире.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Языковые модели — алгоритмы, способные анализировать, понимать, продолжать и генерировать тексты.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640080" y="33375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Наиболее популярные языковые модели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640080" y="384048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640080" y="384048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ChatGPT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2587680" y="384048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2587680" y="384048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DeepSeek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4535280" y="384048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4535280" y="384048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Claude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6483240" y="384048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6483240" y="384048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Gemini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8430840" y="384048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8430840" y="384048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YandexGPT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6"/>
          <p:cNvSpPr/>
          <p:nvPr/>
        </p:nvSpPr>
        <p:spPr>
          <a:xfrm>
            <a:off x="10378440" y="384048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10378440" y="384048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GigaChat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8"/>
          <p:cNvSpPr/>
          <p:nvPr/>
        </p:nvSpPr>
        <p:spPr>
          <a:xfrm>
            <a:off x="640080" y="457200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9"/>
          <p:cNvSpPr/>
          <p:nvPr/>
        </p:nvSpPr>
        <p:spPr>
          <a:xfrm>
            <a:off x="640080" y="45720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Qwen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0"/>
          <p:cNvSpPr/>
          <p:nvPr/>
        </p:nvSpPr>
        <p:spPr>
          <a:xfrm>
            <a:off x="2587680" y="457200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1"/>
          <p:cNvSpPr/>
          <p:nvPr/>
        </p:nvSpPr>
        <p:spPr>
          <a:xfrm>
            <a:off x="2587680" y="45720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Grok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2"/>
          <p:cNvSpPr/>
          <p:nvPr/>
        </p:nvSpPr>
        <p:spPr>
          <a:xfrm>
            <a:off x="4535280" y="457200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3"/>
          <p:cNvSpPr/>
          <p:nvPr/>
        </p:nvSpPr>
        <p:spPr>
          <a:xfrm>
            <a:off x="4535280" y="45720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GLM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4"/>
          <p:cNvSpPr/>
          <p:nvPr/>
        </p:nvSpPr>
        <p:spPr>
          <a:xfrm>
            <a:off x="6483240" y="457200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5"/>
          <p:cNvSpPr/>
          <p:nvPr/>
        </p:nvSpPr>
        <p:spPr>
          <a:xfrm>
            <a:off x="6483240" y="45720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KIMI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6"/>
          <p:cNvSpPr/>
          <p:nvPr/>
        </p:nvSpPr>
        <p:spPr>
          <a:xfrm>
            <a:off x="8430840" y="4572000"/>
            <a:ext cx="1782720" cy="566640"/>
          </a:xfrm>
          <a:prstGeom prst="roundRect">
            <a:avLst>
              <a:gd name="adj" fmla="val 50000"/>
            </a:avLst>
          </a:prstGeom>
          <a:solidFill>
            <a:srgbClr val="EEF1FB"/>
          </a:solidFill>
          <a:ln w="12700">
            <a:solidFill>
              <a:srgbClr val="D8D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7"/>
          <p:cNvSpPr/>
          <p:nvPr/>
        </p:nvSpPr>
        <p:spPr>
          <a:xfrm>
            <a:off x="8430840" y="45720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Mistral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8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ГОЛОСОВЫЕ ПОМОЩНИКИ И ЯЗЫКОВЫЕ МОДЕЛИ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Задачи, которые решают языковые модели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"/>
          <p:cNvSpPr/>
          <p:nvPr/>
        </p:nvSpPr>
        <p:spPr>
          <a:xfrm>
            <a:off x="640080" y="178308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914400" y="2057400"/>
            <a:ext cx="566640" cy="5666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0" descr="/home/claude/work/icons/edit.png"/>
          <p:cNvPicPr/>
          <p:nvPr/>
        </p:nvPicPr>
        <p:blipFill>
          <a:blip r:embed="rId1"/>
          <a:stretch/>
        </p:blipFill>
        <p:spPr>
          <a:xfrm>
            <a:off x="1038960" y="2181960"/>
            <a:ext cx="317160" cy="3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4"/>
          <p:cNvSpPr/>
          <p:nvPr/>
        </p:nvSpPr>
        <p:spPr>
          <a:xfrm>
            <a:off x="914400" y="27158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Генерация текста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914400" y="3081600"/>
            <a:ext cx="2971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Пример: «Напиши приглашение кандидату на должность специалиста по машинному обучению»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6"/>
          <p:cNvSpPr/>
          <p:nvPr/>
        </p:nvSpPr>
        <p:spPr>
          <a:xfrm>
            <a:off x="4416480" y="178308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7"/>
          <p:cNvSpPr/>
          <p:nvPr/>
        </p:nvSpPr>
        <p:spPr>
          <a:xfrm>
            <a:off x="4690800" y="2057400"/>
            <a:ext cx="566640" cy="5666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1" descr="/home/claude/work/icons/repeat.png"/>
          <p:cNvPicPr/>
          <p:nvPr/>
        </p:nvPicPr>
        <p:blipFill>
          <a:blip r:embed="rId2"/>
          <a:stretch/>
        </p:blipFill>
        <p:spPr>
          <a:xfrm>
            <a:off x="4815720" y="2181960"/>
            <a:ext cx="317160" cy="3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8"/>
          <p:cNvSpPr/>
          <p:nvPr/>
        </p:nvSpPr>
        <p:spPr>
          <a:xfrm>
            <a:off x="4690800" y="27158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Суммаризация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4690800" y="3081600"/>
            <a:ext cx="2971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Сжатие длинного текста до ключевых тезисов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0"/>
          <p:cNvSpPr/>
          <p:nvPr/>
        </p:nvSpPr>
        <p:spPr>
          <a:xfrm>
            <a:off x="8192880" y="178308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1"/>
          <p:cNvSpPr/>
          <p:nvPr/>
        </p:nvSpPr>
        <p:spPr>
          <a:xfrm>
            <a:off x="8467200" y="2057400"/>
            <a:ext cx="566640" cy="5666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2" descr="/home/claude/work/icons/globe.png"/>
          <p:cNvPicPr/>
          <p:nvPr/>
        </p:nvPicPr>
        <p:blipFill>
          <a:blip r:embed="rId3"/>
          <a:stretch/>
        </p:blipFill>
        <p:spPr>
          <a:xfrm>
            <a:off x="8592120" y="2181960"/>
            <a:ext cx="317160" cy="3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12"/>
          <p:cNvSpPr/>
          <p:nvPr/>
        </p:nvSpPr>
        <p:spPr>
          <a:xfrm>
            <a:off x="8467200" y="27158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Перевод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8467200" y="3081600"/>
            <a:ext cx="2971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Перевод текста с одного языка на другой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640080" y="406908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914400" y="4343400"/>
            <a:ext cx="566640" cy="5666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3" descr="/home/claude/work/icons/checkCircle.png"/>
          <p:cNvPicPr/>
          <p:nvPr/>
        </p:nvPicPr>
        <p:blipFill>
          <a:blip r:embed="rId4"/>
          <a:stretch/>
        </p:blipFill>
        <p:spPr>
          <a:xfrm>
            <a:off x="1038960" y="4467960"/>
            <a:ext cx="317160" cy="3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16"/>
          <p:cNvSpPr/>
          <p:nvPr/>
        </p:nvSpPr>
        <p:spPr>
          <a:xfrm>
            <a:off x="914400" y="50018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Исправление ошибок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914400" y="5367600"/>
            <a:ext cx="2971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Грамматика, стиль, орфография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8"/>
          <p:cNvSpPr/>
          <p:nvPr/>
        </p:nvSpPr>
        <p:spPr>
          <a:xfrm>
            <a:off x="4416480" y="406908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9"/>
          <p:cNvSpPr/>
          <p:nvPr/>
        </p:nvSpPr>
        <p:spPr>
          <a:xfrm>
            <a:off x="4690800" y="4343400"/>
            <a:ext cx="566640" cy="5666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4" descr="/home/claude/work/icons/search.png"/>
          <p:cNvPicPr/>
          <p:nvPr/>
        </p:nvPicPr>
        <p:blipFill>
          <a:blip r:embed="rId5"/>
          <a:stretch/>
        </p:blipFill>
        <p:spPr>
          <a:xfrm>
            <a:off x="4815720" y="4467960"/>
            <a:ext cx="317160" cy="3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20"/>
          <p:cNvSpPr/>
          <p:nvPr/>
        </p:nvSpPr>
        <p:spPr>
          <a:xfrm>
            <a:off x="4690800" y="50018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Информационный поиск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4690800" y="5367600"/>
            <a:ext cx="2971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Поиск и обобщение сведений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2"/>
          <p:cNvSpPr/>
          <p:nvPr/>
        </p:nvSpPr>
        <p:spPr>
          <a:xfrm>
            <a:off x="8192880" y="4069080"/>
            <a:ext cx="3520080" cy="196560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3"/>
          <p:cNvSpPr/>
          <p:nvPr/>
        </p:nvSpPr>
        <p:spPr>
          <a:xfrm>
            <a:off x="8467200" y="4343400"/>
            <a:ext cx="566640" cy="5666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5" descr="/home/claude/work/icons/target.png"/>
          <p:cNvPicPr/>
          <p:nvPr/>
        </p:nvPicPr>
        <p:blipFill>
          <a:blip r:embed="rId6"/>
          <a:stretch/>
        </p:blipFill>
        <p:spPr>
          <a:xfrm>
            <a:off x="8592120" y="4467960"/>
            <a:ext cx="317160" cy="3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24"/>
          <p:cNvSpPr/>
          <p:nvPr/>
        </p:nvSpPr>
        <p:spPr>
          <a:xfrm>
            <a:off x="8467200" y="50018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Решение задач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5"/>
          <p:cNvSpPr/>
          <p:nvPr/>
        </p:nvSpPr>
        <p:spPr>
          <a:xfrm>
            <a:off x="8467200" y="5367600"/>
            <a:ext cx="2971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Логические и вычислительные задачи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6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ГОЛОСОВЫЕ ПОМОЩНИКИ И ЯЗЫКОВЫЕ МОДЕЛИ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Основные проблемы языковых моделей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"/>
          <p:cNvSpPr/>
          <p:nvPr/>
        </p:nvSpPr>
        <p:spPr>
          <a:xfrm>
            <a:off x="640080" y="1783080"/>
            <a:ext cx="5257440" cy="191988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"/>
          <p:cNvSpPr/>
          <p:nvPr/>
        </p:nvSpPr>
        <p:spPr>
          <a:xfrm>
            <a:off x="914400" y="2057400"/>
            <a:ext cx="594000" cy="594000"/>
          </a:xfrm>
          <a:prstGeom prst="ellipse">
            <a:avLst/>
          </a:prstGeom>
          <a:solidFill>
            <a:srgbClr val="E15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/home/claude/work/icons/alertTriangle.png"/>
          <p:cNvPicPr/>
          <p:nvPr/>
        </p:nvPicPr>
        <p:blipFill>
          <a:blip r:embed="rId1"/>
          <a:stretch/>
        </p:blipFill>
        <p:spPr>
          <a:xfrm>
            <a:off x="1045080" y="218808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4"/>
          <p:cNvSpPr/>
          <p:nvPr/>
        </p:nvSpPr>
        <p:spPr>
          <a:xfrm>
            <a:off x="1691640" y="21031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Галлюцинации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5"/>
          <p:cNvSpPr/>
          <p:nvPr/>
        </p:nvSpPr>
        <p:spPr>
          <a:xfrm>
            <a:off x="914400" y="2743200"/>
            <a:ext cx="4708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Модель «придумывает» факты, которых нет в реальности.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6"/>
          <p:cNvSpPr/>
          <p:nvPr/>
        </p:nvSpPr>
        <p:spPr>
          <a:xfrm>
            <a:off x="6172200" y="1783080"/>
            <a:ext cx="5348880" cy="191988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"/>
          <p:cNvSpPr/>
          <p:nvPr/>
        </p:nvSpPr>
        <p:spPr>
          <a:xfrm>
            <a:off x="6446520" y="2057400"/>
            <a:ext cx="594000" cy="5940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1" descr="/home/claude/work/icons/repeat.png"/>
          <p:cNvPicPr/>
          <p:nvPr/>
        </p:nvPicPr>
        <p:blipFill>
          <a:blip r:embed="rId2"/>
          <a:stretch/>
        </p:blipFill>
        <p:spPr>
          <a:xfrm>
            <a:off x="6577200" y="218808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8"/>
          <p:cNvSpPr/>
          <p:nvPr/>
        </p:nvSpPr>
        <p:spPr>
          <a:xfrm>
            <a:off x="7223760" y="210312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Воспроизводимость ответов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6446520" y="2743200"/>
            <a:ext cx="4845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Один и тот же запрос может давать разные ответы.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640080" y="3977640"/>
            <a:ext cx="10881000" cy="2148480"/>
          </a:xfrm>
          <a:prstGeom prst="roundRect">
            <a:avLst>
              <a:gd name="adj" fmla="val 5106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1"/>
          <p:cNvSpPr/>
          <p:nvPr/>
        </p:nvSpPr>
        <p:spPr>
          <a:xfrm>
            <a:off x="1005840" y="42062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Примеры галлюцинаций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2"/>
          <p:cNvSpPr/>
          <p:nvPr/>
        </p:nvSpPr>
        <p:spPr>
          <a:xfrm>
            <a:off x="1005840" y="4791600"/>
            <a:ext cx="109440" cy="109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1280160" y="466344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DFF9"/>
                </a:solidFill>
                <a:effectLst/>
                <a:uFillTx/>
                <a:latin typeface="Calibri"/>
                <a:ea typeface="Calibri"/>
              </a:rPr>
              <a:t>Неверные даты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4"/>
          <p:cNvSpPr/>
          <p:nvPr/>
        </p:nvSpPr>
        <p:spPr>
          <a:xfrm>
            <a:off x="1005840" y="5248800"/>
            <a:ext cx="109440" cy="109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1280160" y="512064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DFF9"/>
                </a:solidFill>
                <a:effectLst/>
                <a:uFillTx/>
                <a:latin typeface="Calibri"/>
                <a:ea typeface="Calibri"/>
              </a:rPr>
              <a:t>Неверные библиографические списки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6"/>
          <p:cNvSpPr/>
          <p:nvPr/>
        </p:nvSpPr>
        <p:spPr>
          <a:xfrm>
            <a:off x="1005840" y="5706000"/>
            <a:ext cx="109440" cy="109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7"/>
          <p:cNvSpPr/>
          <p:nvPr/>
        </p:nvSpPr>
        <p:spPr>
          <a:xfrm>
            <a:off x="1280160" y="557784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CDFF9"/>
                </a:solidFill>
                <a:effectLst/>
                <a:uFillTx/>
                <a:latin typeface="Calibri"/>
                <a:ea typeface="Calibri"/>
              </a:rPr>
              <a:t>Неверная тема диссертации или статьи автора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8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8899920" y="-2011680"/>
            <a:ext cx="5943240" cy="594324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822960" y="1965960"/>
            <a:ext cx="3657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ru-RU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868680" y="3977640"/>
            <a:ext cx="868320" cy="8683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Image 0" descr="/home/claude/work/icons/edit.png"/>
          <p:cNvPicPr/>
          <p:nvPr/>
        </p:nvPicPr>
        <p:blipFill>
          <a:blip r:embed="rId1"/>
          <a:stretch/>
        </p:blipFill>
        <p:spPr>
          <a:xfrm>
            <a:off x="1059840" y="4168800"/>
            <a:ext cx="486000" cy="4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3"/>
          <p:cNvSpPr/>
          <p:nvPr/>
        </p:nvSpPr>
        <p:spPr>
          <a:xfrm>
            <a:off x="1965960" y="3886200"/>
            <a:ext cx="87778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Промпт-инжиниринг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"/>
          <p:cNvSpPr/>
          <p:nvPr/>
        </p:nvSpPr>
        <p:spPr>
          <a:xfrm>
            <a:off x="8686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Фреймворки и методы для качественных запросов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Промпт-инжиниринг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640080" y="1783080"/>
            <a:ext cx="10881000" cy="1416960"/>
          </a:xfrm>
          <a:prstGeom prst="roundRect">
            <a:avLst>
              <a:gd name="adj" fmla="val 7742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"/>
          <p:cNvSpPr/>
          <p:nvPr/>
        </p:nvSpPr>
        <p:spPr>
          <a:xfrm>
            <a:off x="914400" y="2011680"/>
            <a:ext cx="868320" cy="8683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4" name="Image 0" descr="/home/claude/work/icons/edit.png"/>
          <p:cNvPicPr/>
          <p:nvPr/>
        </p:nvPicPr>
        <p:blipFill>
          <a:blip r:embed="rId1"/>
          <a:stretch/>
        </p:blipFill>
        <p:spPr>
          <a:xfrm>
            <a:off x="1105560" y="2202840"/>
            <a:ext cx="486000" cy="4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 4"/>
          <p:cNvSpPr/>
          <p:nvPr/>
        </p:nvSpPr>
        <p:spPr>
          <a:xfrm>
            <a:off x="1965960" y="1874520"/>
            <a:ext cx="93265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Промпт-инжиниринг — это процесс создания и оптимизации текстовых запросов (промптов) для генеративных моделей с целью получения желаемых ответов.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640080" y="3520440"/>
            <a:ext cx="548280" cy="5482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1" descr="/home/claude/work/icons/target.png"/>
          <p:cNvPicPr/>
          <p:nvPr/>
        </p:nvPicPr>
        <p:blipFill>
          <a:blip r:embed="rId2"/>
          <a:stretch/>
        </p:blipFill>
        <p:spPr>
          <a:xfrm>
            <a:off x="760680" y="364104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6"/>
          <p:cNvSpPr/>
          <p:nvPr/>
        </p:nvSpPr>
        <p:spPr>
          <a:xfrm>
            <a:off x="1417320" y="3474720"/>
            <a:ext cx="9966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Правильно сформулированный промпт может существенно повысить качество результата.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7"/>
          <p:cNvSpPr/>
          <p:nvPr/>
        </p:nvSpPr>
        <p:spPr>
          <a:xfrm>
            <a:off x="640080" y="4526280"/>
            <a:ext cx="548280" cy="5482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2" descr="/home/claude/work/icons/layers.png"/>
          <p:cNvPicPr/>
          <p:nvPr/>
        </p:nvPicPr>
        <p:blipFill>
          <a:blip r:embed="rId3"/>
          <a:stretch/>
        </p:blipFill>
        <p:spPr>
          <a:xfrm>
            <a:off x="760680" y="464688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8"/>
          <p:cNvSpPr/>
          <p:nvPr/>
        </p:nvSpPr>
        <p:spPr>
          <a:xfrm>
            <a:off x="1417320" y="4480560"/>
            <a:ext cx="9966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Необходимо учитывать контекст задачи, её стиль и условия, а также особенности применяемой модели.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9"/>
          <p:cNvSpPr/>
          <p:nvPr/>
        </p:nvSpPr>
        <p:spPr>
          <a:xfrm>
            <a:off x="640080" y="5532120"/>
            <a:ext cx="548280" cy="5482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3" descr="/home/claude/work/icons/clipboard.png"/>
          <p:cNvPicPr/>
          <p:nvPr/>
        </p:nvPicPr>
        <p:blipFill>
          <a:blip r:embed="rId4"/>
          <a:stretch/>
        </p:blipFill>
        <p:spPr>
          <a:xfrm>
            <a:off x="760680" y="56527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10"/>
          <p:cNvSpPr/>
          <p:nvPr/>
        </p:nvSpPr>
        <p:spPr>
          <a:xfrm>
            <a:off x="1417320" y="5486400"/>
            <a:ext cx="9966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Хорошей идеей может быть сохранение полезных промптов на будущее — например, в сервис заметок или текстовый документ.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1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 · ФРЕЙМВОРКИ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RTF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"/>
          <p:cNvSpPr/>
          <p:nvPr/>
        </p:nvSpPr>
        <p:spPr>
          <a:xfrm>
            <a:off x="640080" y="123444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RTF — минимальный каркас для простой и понятной задачи.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3"/>
          <p:cNvSpPr/>
          <p:nvPr/>
        </p:nvSpPr>
        <p:spPr>
          <a:xfrm>
            <a:off x="640080" y="1965960"/>
            <a:ext cx="3474360" cy="3245760"/>
          </a:xfrm>
          <a:prstGeom prst="roundRect">
            <a:avLst>
              <a:gd name="adj" fmla="val 3380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"/>
          <p:cNvSpPr/>
          <p:nvPr/>
        </p:nvSpPr>
        <p:spPr>
          <a:xfrm>
            <a:off x="841320" y="2240280"/>
            <a:ext cx="307188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5"/>
          <p:cNvSpPr/>
          <p:nvPr/>
        </p:nvSpPr>
        <p:spPr>
          <a:xfrm>
            <a:off x="841320" y="2240280"/>
            <a:ext cx="3071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Role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6"/>
          <p:cNvSpPr/>
          <p:nvPr/>
        </p:nvSpPr>
        <p:spPr>
          <a:xfrm>
            <a:off x="841320" y="3017520"/>
            <a:ext cx="307188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С какой профессиональной перспективы работать? Роль уточняет оптику, но не добавляет реальных знаний.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7"/>
          <p:cNvSpPr/>
          <p:nvPr/>
        </p:nvSpPr>
        <p:spPr>
          <a:xfrm>
            <a:off x="4343400" y="1965960"/>
            <a:ext cx="3474360" cy="3245760"/>
          </a:xfrm>
          <a:prstGeom prst="roundRect">
            <a:avLst>
              <a:gd name="adj" fmla="val 3380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8"/>
          <p:cNvSpPr/>
          <p:nvPr/>
        </p:nvSpPr>
        <p:spPr>
          <a:xfrm>
            <a:off x="4544640" y="2240280"/>
            <a:ext cx="307188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9"/>
          <p:cNvSpPr/>
          <p:nvPr/>
        </p:nvSpPr>
        <p:spPr>
          <a:xfrm>
            <a:off x="4544640" y="2240280"/>
            <a:ext cx="3071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Task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0"/>
          <p:cNvSpPr/>
          <p:nvPr/>
        </p:nvSpPr>
        <p:spPr>
          <a:xfrm>
            <a:off x="4544640" y="3017520"/>
            <a:ext cx="307188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Какое действие выполнить? Начинайте с глагола: сравни, извлеки, объясни, отредактируй.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1"/>
          <p:cNvSpPr/>
          <p:nvPr/>
        </p:nvSpPr>
        <p:spPr>
          <a:xfrm>
            <a:off x="8046720" y="1965960"/>
            <a:ext cx="3474360" cy="3245760"/>
          </a:xfrm>
          <a:prstGeom prst="roundRect">
            <a:avLst>
              <a:gd name="adj" fmla="val 3380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2"/>
          <p:cNvSpPr/>
          <p:nvPr/>
        </p:nvSpPr>
        <p:spPr>
          <a:xfrm>
            <a:off x="8247960" y="2240280"/>
            <a:ext cx="307188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3"/>
          <p:cNvSpPr/>
          <p:nvPr/>
        </p:nvSpPr>
        <p:spPr>
          <a:xfrm>
            <a:off x="8247960" y="2240280"/>
            <a:ext cx="3071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Format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4"/>
          <p:cNvSpPr/>
          <p:nvPr/>
        </p:nvSpPr>
        <p:spPr>
          <a:xfrm>
            <a:off x="8247960" y="3017520"/>
            <a:ext cx="307188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Как вернуть результат: список, таблица, план, JSON; какой объём и структура?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5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 · ФРЕЙМВОРКИ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RTF: пример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"/>
          <p:cNvSpPr/>
          <p:nvPr/>
        </p:nvSpPr>
        <p:spPr>
          <a:xfrm>
            <a:off x="640080" y="1691640"/>
            <a:ext cx="10881000" cy="4525920"/>
          </a:xfrm>
          <a:prstGeom prst="roundRect">
            <a:avLst>
              <a:gd name="adj" fmla="val 242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960120" y="1965960"/>
            <a:ext cx="102409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Role: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«Ты — редактор научно-популярного текста для первокурсников».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Task: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«Перепиши абзац так, чтобы объяснить термин "алгоритмическая персонализация" без технического жаргона».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Format: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«120–150 слов; один короткий пример; не добавляй факты, которых нет в исходном абзаце».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 · ФРЕЙМВОРКИ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CRISP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"/>
          <p:cNvSpPr/>
          <p:nvPr/>
        </p:nvSpPr>
        <p:spPr>
          <a:xfrm>
            <a:off x="640080" y="123444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Подходит для задач с несколькими требованиями или риском неверной интерпретации.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64008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4"/>
          <p:cNvSpPr/>
          <p:nvPr/>
        </p:nvSpPr>
        <p:spPr>
          <a:xfrm>
            <a:off x="84132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5"/>
          <p:cNvSpPr/>
          <p:nvPr/>
        </p:nvSpPr>
        <p:spPr>
          <a:xfrm>
            <a:off x="84132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Context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6"/>
          <p:cNvSpPr/>
          <p:nvPr/>
        </p:nvSpPr>
        <p:spPr>
          <a:xfrm>
            <a:off x="84132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Исходная ситуация, данные, аудитория, границы знания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286200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8"/>
          <p:cNvSpPr/>
          <p:nvPr/>
        </p:nvSpPr>
        <p:spPr>
          <a:xfrm>
            <a:off x="306324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9"/>
          <p:cNvSpPr/>
          <p:nvPr/>
        </p:nvSpPr>
        <p:spPr>
          <a:xfrm>
            <a:off x="306324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Role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0"/>
          <p:cNvSpPr/>
          <p:nvPr/>
        </p:nvSpPr>
        <p:spPr>
          <a:xfrm>
            <a:off x="306324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Нужная перспектива или функция: редактор, аналитик, преподаватель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1"/>
          <p:cNvSpPr/>
          <p:nvPr/>
        </p:nvSpPr>
        <p:spPr>
          <a:xfrm>
            <a:off x="508392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2"/>
          <p:cNvSpPr/>
          <p:nvPr/>
        </p:nvSpPr>
        <p:spPr>
          <a:xfrm>
            <a:off x="528516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3"/>
          <p:cNvSpPr/>
          <p:nvPr/>
        </p:nvSpPr>
        <p:spPr>
          <a:xfrm>
            <a:off x="528516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Instruction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4"/>
          <p:cNvSpPr/>
          <p:nvPr/>
        </p:nvSpPr>
        <p:spPr>
          <a:xfrm>
            <a:off x="528516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Конкретное действие и ожидаемый результат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5"/>
          <p:cNvSpPr/>
          <p:nvPr/>
        </p:nvSpPr>
        <p:spPr>
          <a:xfrm>
            <a:off x="730620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6"/>
          <p:cNvSpPr/>
          <p:nvPr/>
        </p:nvSpPr>
        <p:spPr>
          <a:xfrm>
            <a:off x="750708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7"/>
          <p:cNvSpPr/>
          <p:nvPr/>
        </p:nvSpPr>
        <p:spPr>
          <a:xfrm>
            <a:off x="750708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Specification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8"/>
          <p:cNvSpPr/>
          <p:nvPr/>
        </p:nvSpPr>
        <p:spPr>
          <a:xfrm>
            <a:off x="750708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Критерии, ограничения, запреты, период, источники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9"/>
          <p:cNvSpPr/>
          <p:nvPr/>
        </p:nvSpPr>
        <p:spPr>
          <a:xfrm>
            <a:off x="952812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0"/>
          <p:cNvSpPr/>
          <p:nvPr/>
        </p:nvSpPr>
        <p:spPr>
          <a:xfrm>
            <a:off x="972936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1"/>
          <p:cNvSpPr/>
          <p:nvPr/>
        </p:nvSpPr>
        <p:spPr>
          <a:xfrm>
            <a:off x="972936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Parameters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2"/>
          <p:cNvSpPr/>
          <p:nvPr/>
        </p:nvSpPr>
        <p:spPr>
          <a:xfrm>
            <a:off x="972936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Формат, объём, язык, стиль, структура вывода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3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 · ФРЕЙМВОРКИ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CRISP: пример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"/>
          <p:cNvSpPr/>
          <p:nvPr/>
        </p:nvSpPr>
        <p:spPr>
          <a:xfrm>
            <a:off x="640080" y="1691640"/>
            <a:ext cx="10881000" cy="4525920"/>
          </a:xfrm>
          <a:prstGeom prst="roundRect">
            <a:avLst>
              <a:gd name="adj" fmla="val 242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"/>
          <p:cNvSpPr/>
          <p:nvPr/>
        </p:nvSpPr>
        <p:spPr>
          <a:xfrm>
            <a:off x="960120" y="1965960"/>
            <a:ext cx="102409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Context: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«Я готовлю для преподавателей памятку о том, как разрешать студентам использовать генеративный ИИ в учебных заданиях. Памятка будет приложением к рабочей программе дисциплины».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Role: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«Ты — методист университета, который помогает преподавателю сформулировать ясные и выполнимые правила».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Instruction: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«Подготовь черновик раздела "Использование генеративного ИИ в задании"».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Specification: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«Раздели допустимое и недопустимое использование ИИ; укажи, что студент должен декларировать инструмент; не утверждай, что ИИ-детектор надёжно устанавливает авторство; не ссылайся на несуществующие нормы вуза».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Parameters: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«Оформи в виде таблицы из трёх колонок: "Ситуация", "Допустимо / недопустимо", "Что должен сделать студент". До 350 слов, официальный нейтральный стиль».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4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 · ФРЕЙМВОРКИ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CO-STAR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640080" y="123444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Подходит для письма, объяснения, поста, презентации или инструкции.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"/>
          <p:cNvSpPr/>
          <p:nvPr/>
        </p:nvSpPr>
        <p:spPr>
          <a:xfrm>
            <a:off x="64008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"/>
          <p:cNvSpPr/>
          <p:nvPr/>
        </p:nvSpPr>
        <p:spPr>
          <a:xfrm>
            <a:off x="84132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5"/>
          <p:cNvSpPr/>
          <p:nvPr/>
        </p:nvSpPr>
        <p:spPr>
          <a:xfrm>
            <a:off x="84132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Context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6"/>
          <p:cNvSpPr/>
          <p:nvPr/>
        </p:nvSpPr>
        <p:spPr>
          <a:xfrm>
            <a:off x="84132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В какой ситуации и с какими входными данными работаем?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7"/>
          <p:cNvSpPr/>
          <p:nvPr/>
        </p:nvSpPr>
        <p:spPr>
          <a:xfrm>
            <a:off x="286200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8"/>
          <p:cNvSpPr/>
          <p:nvPr/>
        </p:nvSpPr>
        <p:spPr>
          <a:xfrm>
            <a:off x="306324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9"/>
          <p:cNvSpPr/>
          <p:nvPr/>
        </p:nvSpPr>
        <p:spPr>
          <a:xfrm>
            <a:off x="306324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Objective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0"/>
          <p:cNvSpPr/>
          <p:nvPr/>
        </p:nvSpPr>
        <p:spPr>
          <a:xfrm>
            <a:off x="306324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Какой измеримый результат нужен?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1"/>
          <p:cNvSpPr/>
          <p:nvPr/>
        </p:nvSpPr>
        <p:spPr>
          <a:xfrm>
            <a:off x="508392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2"/>
          <p:cNvSpPr/>
          <p:nvPr/>
        </p:nvSpPr>
        <p:spPr>
          <a:xfrm>
            <a:off x="528516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3"/>
          <p:cNvSpPr/>
          <p:nvPr/>
        </p:nvSpPr>
        <p:spPr>
          <a:xfrm>
            <a:off x="528516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Style + Tone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4"/>
          <p:cNvSpPr/>
          <p:nvPr/>
        </p:nvSpPr>
        <p:spPr>
          <a:xfrm>
            <a:off x="528516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Как писать: академично, разговорно, спокойно, убедительно, эмпатично?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5"/>
          <p:cNvSpPr/>
          <p:nvPr/>
        </p:nvSpPr>
        <p:spPr>
          <a:xfrm>
            <a:off x="730620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6"/>
          <p:cNvSpPr/>
          <p:nvPr/>
        </p:nvSpPr>
        <p:spPr>
          <a:xfrm>
            <a:off x="750708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7"/>
          <p:cNvSpPr/>
          <p:nvPr/>
        </p:nvSpPr>
        <p:spPr>
          <a:xfrm>
            <a:off x="750708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Audience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8"/>
          <p:cNvSpPr/>
          <p:nvPr/>
        </p:nvSpPr>
        <p:spPr>
          <a:xfrm>
            <a:off x="750708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Для кого ответ и какой у аудитории уровень знаний?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9"/>
          <p:cNvSpPr/>
          <p:nvPr/>
        </p:nvSpPr>
        <p:spPr>
          <a:xfrm>
            <a:off x="9528120" y="1965960"/>
            <a:ext cx="1992960" cy="3245760"/>
          </a:xfrm>
          <a:prstGeom prst="roundRect">
            <a:avLst>
              <a:gd name="adj" fmla="val 550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0"/>
          <p:cNvSpPr/>
          <p:nvPr/>
        </p:nvSpPr>
        <p:spPr>
          <a:xfrm>
            <a:off x="9729360" y="2240280"/>
            <a:ext cx="1590840" cy="548280"/>
          </a:xfrm>
          <a:prstGeom prst="roundRect">
            <a:avLst>
              <a:gd name="adj" fmla="val 16667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1"/>
          <p:cNvSpPr/>
          <p:nvPr/>
        </p:nvSpPr>
        <p:spPr>
          <a:xfrm>
            <a:off x="9729360" y="224028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Response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2"/>
          <p:cNvSpPr/>
          <p:nvPr/>
        </p:nvSpPr>
        <p:spPr>
          <a:xfrm>
            <a:off x="9729360" y="3017520"/>
            <a:ext cx="159084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Как оформить результат: объём, структура, формат?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3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 · ФРЕЙМВОРКИ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CO-STAR: пример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"/>
          <p:cNvSpPr/>
          <p:nvPr/>
        </p:nvSpPr>
        <p:spPr>
          <a:xfrm>
            <a:off x="640080" y="1691640"/>
            <a:ext cx="10881000" cy="4525920"/>
          </a:xfrm>
          <a:prstGeom prst="roundRect">
            <a:avLst>
              <a:gd name="adj" fmla="val 242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3"/>
          <p:cNvSpPr/>
          <p:nvPr/>
        </p:nvSpPr>
        <p:spPr>
          <a:xfrm>
            <a:off x="960120" y="1965960"/>
            <a:ext cx="102409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Context: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«Университет вводит правило: при использовании генеративного ИИ в учебной работе студент должен кратко указать, какой инструмент использовал и для какой задачи».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Objective: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«Объяснить новое правило так, чтобы студенты поняли его смысл и не восприняли как запрет на любые ИИ-инструменты».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Style: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«Ясный, конкретный, без бюрократических формулировок и технического жаргона».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Tone: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«Доброжелательный и поддерживающий; не обвиняющий и не угрожающий».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Audience: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«Первокурсники, которые уже пользуются чат-ботами, но могут не понимать разницу между помощью в работе и подменой собственной работы».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Response:  </a:t>
            </a: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«Письмо от преподавателя: тема, три коротких абзаца и маркированный список из трёх примеров (допустимое, с декларированием, недопустимое использование). До 250 слов».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4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Методы промпт-инжиниринга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"/>
          <p:cNvSpPr/>
          <p:nvPr/>
        </p:nvSpPr>
        <p:spPr>
          <a:xfrm>
            <a:off x="640080" y="1783080"/>
            <a:ext cx="10881000" cy="1508400"/>
          </a:xfrm>
          <a:prstGeom prst="roundRect">
            <a:avLst>
              <a:gd name="adj" fmla="val 7273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3"/>
          <p:cNvSpPr/>
          <p:nvPr/>
        </p:nvSpPr>
        <p:spPr>
          <a:xfrm>
            <a:off x="914400" y="2057400"/>
            <a:ext cx="822600" cy="82260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0" descr="/home/claude/work/icons/layers.png"/>
          <p:cNvPicPr/>
          <p:nvPr/>
        </p:nvPicPr>
        <p:blipFill>
          <a:blip r:embed="rId1"/>
          <a:stretch/>
        </p:blipFill>
        <p:spPr>
          <a:xfrm>
            <a:off x="1095480" y="22384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4"/>
          <p:cNvSpPr/>
          <p:nvPr/>
        </p:nvSpPr>
        <p:spPr>
          <a:xfrm>
            <a:off x="1965960" y="1874520"/>
            <a:ext cx="932652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Chain-of-Thought (цепочка размышлений)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Способ формулирования промптов, которые побуждают модель не только предоставить конечный ответ, но и подробно описать промежуточные шаги рассуждений, ведущие к этому ответу.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5"/>
          <p:cNvSpPr/>
          <p:nvPr/>
        </p:nvSpPr>
        <p:spPr>
          <a:xfrm>
            <a:off x="640080" y="3566160"/>
            <a:ext cx="10881000" cy="2514240"/>
          </a:xfrm>
          <a:prstGeom prst="roundRect">
            <a:avLst>
              <a:gd name="adj" fmla="val 436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6"/>
          <p:cNvSpPr/>
          <p:nvPr/>
        </p:nvSpPr>
        <p:spPr>
          <a:xfrm>
            <a:off x="1005840" y="37947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Пример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7"/>
          <p:cNvSpPr/>
          <p:nvPr/>
        </p:nvSpPr>
        <p:spPr>
          <a:xfrm>
            <a:off x="1005840" y="4206240"/>
            <a:ext cx="10149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«Даны данные о продажах за последние 5 лет с явными сезонными колебаниями. Объясни, как ты определишь влияние праздников на общий объём продаж, разбив анализ на логические этапы».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8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Цепочка рассуждений (Chain-of-Thought). Пример.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"/>
          <p:cNvSpPr/>
          <p:nvPr/>
        </p:nvSpPr>
        <p:spPr>
          <a:xfrm>
            <a:off x="640080" y="1508760"/>
            <a:ext cx="5348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Стандартный запрос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"/>
          <p:cNvSpPr/>
          <p:nvPr/>
        </p:nvSpPr>
        <p:spPr>
          <a:xfrm>
            <a:off x="6172200" y="1508760"/>
            <a:ext cx="5348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Запрос Chain-of-Thought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4"/>
          <p:cNvSpPr/>
          <p:nvPr/>
        </p:nvSpPr>
        <p:spPr>
          <a:xfrm>
            <a:off x="640080" y="1920240"/>
            <a:ext cx="5348880" cy="2331360"/>
          </a:xfrm>
          <a:prstGeom prst="roundRect">
            <a:avLst>
              <a:gd name="adj" fmla="val 4706"/>
            </a:avLst>
          </a:prstGeom>
          <a:solidFill>
            <a:srgbClr val="EEF1FB"/>
          </a:solidFill>
          <a:ln w="12700">
            <a:solidFill>
              <a:srgbClr val="9AA0DE"/>
            </a:solidFill>
            <a:round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5"/>
          <p:cNvSpPr/>
          <p:nvPr/>
        </p:nvSpPr>
        <p:spPr>
          <a:xfrm>
            <a:off x="868680" y="2103120"/>
            <a:ext cx="4891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Запрос к модели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6"/>
          <p:cNvSpPr/>
          <p:nvPr/>
        </p:nvSpPr>
        <p:spPr>
          <a:xfrm>
            <a:off x="868680" y="2468880"/>
            <a:ext cx="48916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В: У Ромы было 5 теннисных мячей. Он купил ещё две упаковки, по 3 мяча в каждой. Сколько всего у него мячей?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О: Ответ: 11.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В: В кафе было 23 яблока. 20 ушло на приготовление обеда, потом купили ещё 6. Сколько всего яблок?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7"/>
          <p:cNvSpPr/>
          <p:nvPr/>
        </p:nvSpPr>
        <p:spPr>
          <a:xfrm>
            <a:off x="6172200" y="1920240"/>
            <a:ext cx="5348880" cy="2331360"/>
          </a:xfrm>
          <a:prstGeom prst="roundRect">
            <a:avLst>
              <a:gd name="adj" fmla="val 4706"/>
            </a:avLst>
          </a:prstGeom>
          <a:solidFill>
            <a:srgbClr val="EEF1FB"/>
          </a:solidFill>
          <a:ln w="12700">
            <a:solidFill>
              <a:srgbClr val="9AA0DE"/>
            </a:solidFill>
            <a:round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8"/>
          <p:cNvSpPr/>
          <p:nvPr/>
        </p:nvSpPr>
        <p:spPr>
          <a:xfrm>
            <a:off x="6400800" y="2103120"/>
            <a:ext cx="4891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Запрос к модели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9"/>
          <p:cNvSpPr/>
          <p:nvPr/>
        </p:nvSpPr>
        <p:spPr>
          <a:xfrm>
            <a:off x="6400800" y="2468880"/>
            <a:ext cx="48916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В: У Ромы было 5 теннисных мячей. Он купил ещё две упаковки, по 3 мяча в каждой. Сколько всего у него мячей?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О: Сначала у Ромы было 5 мячей. В упаковке 3 мяча, всего упаковок 2, значит, это ещё 6. 5 + 6 = 11. Ответ: 11.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В: В кафе было 23 яблока. 20 ушло на обед, потом купили ещё 6. Сколько всего яблок?</a:t>
            </a:r>
            <a:endParaRPr lang="ru-RU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0"/>
          <p:cNvSpPr/>
          <p:nvPr/>
        </p:nvSpPr>
        <p:spPr>
          <a:xfrm>
            <a:off x="640080" y="4434840"/>
            <a:ext cx="5348880" cy="1691280"/>
          </a:xfrm>
          <a:prstGeom prst="roundRect">
            <a:avLst>
              <a:gd name="adj" fmla="val 6486"/>
            </a:avLst>
          </a:prstGeom>
          <a:solidFill>
            <a:srgbClr val="FFF7E6"/>
          </a:solidFill>
          <a:ln w="12700">
            <a:solidFill>
              <a:srgbClr val="F5A623"/>
            </a:solidFill>
            <a:round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1"/>
          <p:cNvSpPr/>
          <p:nvPr/>
        </p:nvSpPr>
        <p:spPr>
          <a:xfrm>
            <a:off x="868680" y="4590360"/>
            <a:ext cx="4434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A6B00"/>
                </a:solidFill>
                <a:effectLst/>
                <a:uFillTx/>
                <a:latin typeface="Calibri"/>
                <a:ea typeface="Calibri"/>
              </a:rPr>
              <a:t>Ответ модели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2"/>
          <p:cNvSpPr/>
          <p:nvPr/>
        </p:nvSpPr>
        <p:spPr>
          <a:xfrm>
            <a:off x="5394960" y="4553640"/>
            <a:ext cx="365400" cy="365400"/>
          </a:xfrm>
          <a:prstGeom prst="ellipse">
            <a:avLst/>
          </a:prstGeom>
          <a:solidFill>
            <a:srgbClr val="E15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8" name="Image 0" descr="/home/claude/work/icons/xCircle.png"/>
          <p:cNvPicPr/>
          <p:nvPr/>
        </p:nvPicPr>
        <p:blipFill>
          <a:blip r:embed="rId1"/>
          <a:stretch/>
        </p:blipFill>
        <p:spPr>
          <a:xfrm>
            <a:off x="5475600" y="4634280"/>
            <a:ext cx="204480" cy="20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Text 13"/>
          <p:cNvSpPr/>
          <p:nvPr/>
        </p:nvSpPr>
        <p:spPr>
          <a:xfrm>
            <a:off x="868680" y="4919400"/>
            <a:ext cx="4891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О: Ответ: 27.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4"/>
          <p:cNvSpPr/>
          <p:nvPr/>
        </p:nvSpPr>
        <p:spPr>
          <a:xfrm>
            <a:off x="6172200" y="4434840"/>
            <a:ext cx="5348880" cy="1691280"/>
          </a:xfrm>
          <a:prstGeom prst="roundRect">
            <a:avLst>
              <a:gd name="adj" fmla="val 6486"/>
            </a:avLst>
          </a:prstGeom>
          <a:solidFill>
            <a:srgbClr val="FFF7E6"/>
          </a:solidFill>
          <a:ln w="12700">
            <a:solidFill>
              <a:srgbClr val="F5A623"/>
            </a:solidFill>
            <a:round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5"/>
          <p:cNvSpPr/>
          <p:nvPr/>
        </p:nvSpPr>
        <p:spPr>
          <a:xfrm>
            <a:off x="6400800" y="4590360"/>
            <a:ext cx="4434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A6B00"/>
                </a:solidFill>
                <a:effectLst/>
                <a:uFillTx/>
                <a:latin typeface="Calibri"/>
                <a:ea typeface="Calibri"/>
              </a:rPr>
              <a:t>Ответ модели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6"/>
          <p:cNvSpPr/>
          <p:nvPr/>
        </p:nvSpPr>
        <p:spPr>
          <a:xfrm>
            <a:off x="10927080" y="4553640"/>
            <a:ext cx="365400" cy="365400"/>
          </a:xfrm>
          <a:prstGeom prst="ellipse">
            <a:avLst/>
          </a:prstGeom>
          <a:solidFill>
            <a:srgbClr val="2FAE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3" name="Image 1" descr="/home/claude/work/icons/checkCircle.png"/>
          <p:cNvPicPr/>
          <p:nvPr/>
        </p:nvPicPr>
        <p:blipFill>
          <a:blip r:embed="rId2"/>
          <a:stretch/>
        </p:blipFill>
        <p:spPr>
          <a:xfrm>
            <a:off x="11007720" y="4634280"/>
            <a:ext cx="204480" cy="20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Text 17"/>
          <p:cNvSpPr/>
          <p:nvPr/>
        </p:nvSpPr>
        <p:spPr>
          <a:xfrm>
            <a:off x="6400800" y="4919400"/>
            <a:ext cx="4891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О: Сначала в кафе было 23 яблока. 20 ушло на обеды, значит, осталось 23 − 20 = 3. Потом докупили ещё 6, значит, стало 3 + 6 = 9. Ответ: 9.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8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ПРОМПТ-ИНЖИНИРИНГ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Модели с рассуждением (Reasoning-модели)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"/>
          <p:cNvSpPr/>
          <p:nvPr/>
        </p:nvSpPr>
        <p:spPr>
          <a:xfrm>
            <a:off x="640080" y="1783080"/>
            <a:ext cx="5257440" cy="4434480"/>
          </a:xfrm>
          <a:prstGeom prst="roundRect">
            <a:avLst>
              <a:gd name="adj" fmla="val 247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"/>
          <p:cNvSpPr/>
          <p:nvPr/>
        </p:nvSpPr>
        <p:spPr>
          <a:xfrm>
            <a:off x="960120" y="2057400"/>
            <a:ext cx="594000" cy="59400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0" name="Image 0" descr="/home/claude/work/icons/cpu.png"/>
          <p:cNvPicPr/>
          <p:nvPr/>
        </p:nvPicPr>
        <p:blipFill>
          <a:blip r:embed="rId1"/>
          <a:stretch/>
        </p:blipFill>
        <p:spPr>
          <a:xfrm>
            <a:off x="1090800" y="218808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Text 4"/>
          <p:cNvSpPr/>
          <p:nvPr/>
        </p:nvSpPr>
        <p:spPr>
          <a:xfrm>
            <a:off x="1737360" y="21031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Что это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5"/>
          <p:cNvSpPr/>
          <p:nvPr/>
        </p:nvSpPr>
        <p:spPr>
          <a:xfrm>
            <a:off x="960120" y="2743200"/>
            <a:ext cx="46630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Языковые модели, специально обученные для работы с цепочкой размышлений (CoT).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Примеры: DeepSeek, Gemini.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Фокусируются на логическом анализе, пошаговом рассуждении и глубокой проработке ответов.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Эффективнее в решении сложных задач, требующих аргументации, объяснений и многоэтапных вычислений.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6"/>
          <p:cNvSpPr/>
          <p:nvPr/>
        </p:nvSpPr>
        <p:spPr>
          <a:xfrm>
            <a:off x="6172200" y="1783080"/>
            <a:ext cx="5348880" cy="4434480"/>
          </a:xfrm>
          <a:prstGeom prst="roundRect">
            <a:avLst>
              <a:gd name="adj" fmla="val 2474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6492240" y="2057400"/>
            <a:ext cx="594000" cy="59400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5" name="Image 1" descr="/home/claude/work/icons/checkCircle.png"/>
          <p:cNvPicPr/>
          <p:nvPr/>
        </p:nvPicPr>
        <p:blipFill>
          <a:blip r:embed="rId2"/>
          <a:stretch/>
        </p:blipFill>
        <p:spPr>
          <a:xfrm>
            <a:off x="6622920" y="218808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 8"/>
          <p:cNvSpPr/>
          <p:nvPr/>
        </p:nvSpPr>
        <p:spPr>
          <a:xfrm>
            <a:off x="7269480" y="21031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Рекомендации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9"/>
          <p:cNvSpPr/>
          <p:nvPr/>
        </p:nvSpPr>
        <p:spPr>
          <a:xfrm>
            <a:off x="6446520" y="2843640"/>
            <a:ext cx="109440" cy="109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0"/>
          <p:cNvSpPr/>
          <p:nvPr/>
        </p:nvSpPr>
        <p:spPr>
          <a:xfrm>
            <a:off x="6675120" y="2651760"/>
            <a:ext cx="4617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DFF9"/>
                </a:solidFill>
                <a:effectLst/>
                <a:uFillTx/>
                <a:latin typeface="Calibri"/>
                <a:ea typeface="Calibri"/>
              </a:rPr>
              <a:t>Не используйте chain-of-thought — эти модели и так выполняют рассуждения.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1"/>
          <p:cNvSpPr/>
          <p:nvPr/>
        </p:nvSpPr>
        <p:spPr>
          <a:xfrm>
            <a:off x="6446520" y="3803760"/>
            <a:ext cx="109440" cy="109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2"/>
          <p:cNvSpPr/>
          <p:nvPr/>
        </p:nvSpPr>
        <p:spPr>
          <a:xfrm>
            <a:off x="6675120" y="3611880"/>
            <a:ext cx="4617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DFF9"/>
                </a:solidFill>
                <a:effectLst/>
                <a:uFillTx/>
                <a:latin typeface="Calibri"/>
                <a:ea typeface="Calibri"/>
              </a:rPr>
              <a:t>Пишите кратко и понятно: модели отлично понимают чёткие инструкции.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3"/>
          <p:cNvSpPr/>
          <p:nvPr/>
        </p:nvSpPr>
        <p:spPr>
          <a:xfrm>
            <a:off x="6446520" y="4763880"/>
            <a:ext cx="109440" cy="109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4"/>
          <p:cNvSpPr/>
          <p:nvPr/>
        </p:nvSpPr>
        <p:spPr>
          <a:xfrm>
            <a:off x="6675120" y="4572000"/>
            <a:ext cx="4617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DFF9"/>
                </a:solidFill>
                <a:effectLst/>
                <a:uFillTx/>
                <a:latin typeface="Calibri"/>
                <a:ea typeface="Calibri"/>
              </a:rPr>
              <a:t>Указывайте конкретные параметры успешного ответа и поощряйте модель продолжать итерации, пока она не будет соответствовать вашим критериям.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5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0"/>
          <p:cNvSpPr/>
          <p:nvPr/>
        </p:nvSpPr>
        <p:spPr>
          <a:xfrm>
            <a:off x="8899920" y="-2011680"/>
            <a:ext cx="5943240" cy="594324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822960" y="1965960"/>
            <a:ext cx="3657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ru-RU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"/>
          <p:cNvSpPr/>
          <p:nvPr/>
        </p:nvSpPr>
        <p:spPr>
          <a:xfrm>
            <a:off x="868680" y="3977640"/>
            <a:ext cx="868320" cy="8683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0" descr="/home/claude/work/icons/search.png"/>
          <p:cNvPicPr/>
          <p:nvPr/>
        </p:nvPicPr>
        <p:blipFill>
          <a:blip r:embed="rId1"/>
          <a:stretch/>
        </p:blipFill>
        <p:spPr>
          <a:xfrm>
            <a:off x="1059840" y="4168800"/>
            <a:ext cx="486000" cy="4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3"/>
          <p:cNvSpPr/>
          <p:nvPr/>
        </p:nvSpPr>
        <p:spPr>
          <a:xfrm>
            <a:off x="1965960" y="3886200"/>
            <a:ext cx="87778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Проверка и фактчекинг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8686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Как отличить достоверный ответ от галлюцинации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ПРОВЕРКА И ФАКТЧЕКИНГ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Галлюцинации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2"/>
          <p:cNvSpPr/>
          <p:nvPr/>
        </p:nvSpPr>
        <p:spPr>
          <a:xfrm>
            <a:off x="640080" y="1783080"/>
            <a:ext cx="10881000" cy="1234080"/>
          </a:xfrm>
          <a:prstGeom prst="roundRect">
            <a:avLst>
              <a:gd name="adj" fmla="val 8889"/>
            </a:avLst>
          </a:prstGeom>
          <a:solidFill>
            <a:srgbClr val="1B1F4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3"/>
          <p:cNvSpPr/>
          <p:nvPr/>
        </p:nvSpPr>
        <p:spPr>
          <a:xfrm>
            <a:off x="914400" y="1965960"/>
            <a:ext cx="776880" cy="776880"/>
          </a:xfrm>
          <a:prstGeom prst="ellipse">
            <a:avLst/>
          </a:prstGeom>
          <a:solidFill>
            <a:srgbClr val="E15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4" name="Image 0" descr="/home/claude/work/icons/alertTriangle.png"/>
          <p:cNvPicPr/>
          <p:nvPr/>
        </p:nvPicPr>
        <p:blipFill>
          <a:blip r:embed="rId1"/>
          <a:stretch/>
        </p:blipFill>
        <p:spPr>
          <a:xfrm>
            <a:off x="1085400" y="2136960"/>
            <a:ext cx="434880" cy="4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 4"/>
          <p:cNvSpPr/>
          <p:nvPr/>
        </p:nvSpPr>
        <p:spPr>
          <a:xfrm>
            <a:off x="1920240" y="1874520"/>
            <a:ext cx="9417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Галлюцинация — правдоподобный, но неверный или неподтверждённый факт, источник, цитата, число, имя или расчёт.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5"/>
          <p:cNvSpPr/>
          <p:nvPr/>
        </p:nvSpPr>
        <p:spPr>
          <a:xfrm>
            <a:off x="640080" y="3246120"/>
            <a:ext cx="5257440" cy="2971440"/>
          </a:xfrm>
          <a:prstGeom prst="roundRect">
            <a:avLst>
              <a:gd name="adj" fmla="val 369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6"/>
          <p:cNvSpPr/>
          <p:nvPr/>
        </p:nvSpPr>
        <p:spPr>
          <a:xfrm>
            <a:off x="914400" y="3520440"/>
            <a:ext cx="548280" cy="5482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8" name="Image 1" descr="/home/claude/work/icons/edit.png"/>
          <p:cNvPicPr/>
          <p:nvPr/>
        </p:nvPicPr>
        <p:blipFill>
          <a:blip r:embed="rId2"/>
          <a:stretch/>
        </p:blipFill>
        <p:spPr>
          <a:xfrm>
            <a:off x="1035000" y="364104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 7"/>
          <p:cNvSpPr/>
          <p:nvPr/>
        </p:nvSpPr>
        <p:spPr>
          <a:xfrm>
            <a:off x="1600200" y="35661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Что добавлять в промпт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8"/>
          <p:cNvSpPr/>
          <p:nvPr/>
        </p:nvSpPr>
        <p:spPr>
          <a:xfrm>
            <a:off x="914400" y="4206240"/>
            <a:ext cx="4708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«Не выдумывай источники. Если данных недостаточно — обозначь это. Отдели факты от предположений».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9"/>
          <p:cNvSpPr/>
          <p:nvPr/>
        </p:nvSpPr>
        <p:spPr>
          <a:xfrm>
            <a:off x="6172200" y="3246120"/>
            <a:ext cx="5348880" cy="2971440"/>
          </a:xfrm>
          <a:prstGeom prst="roundRect">
            <a:avLst>
              <a:gd name="adj" fmla="val 369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0"/>
          <p:cNvSpPr/>
          <p:nvPr/>
        </p:nvSpPr>
        <p:spPr>
          <a:xfrm>
            <a:off x="6446520" y="3520440"/>
            <a:ext cx="548280" cy="5482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3" name="Image 2" descr="/home/claude/work/icons/search.png"/>
          <p:cNvPicPr/>
          <p:nvPr/>
        </p:nvPicPr>
        <p:blipFill>
          <a:blip r:embed="rId3"/>
          <a:stretch/>
        </p:blipFill>
        <p:spPr>
          <a:xfrm>
            <a:off x="6567120" y="364104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11"/>
          <p:cNvSpPr/>
          <p:nvPr/>
        </p:nvSpPr>
        <p:spPr>
          <a:xfrm>
            <a:off x="7132320" y="35661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Что проверять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2"/>
          <p:cNvSpPr/>
          <p:nvPr/>
        </p:nvSpPr>
        <p:spPr>
          <a:xfrm>
            <a:off x="6446520" y="4206240"/>
            <a:ext cx="4845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Имена, даты, числа, ссылки, цитаты и юридические / медицинские / финансовые утверждения — по первоисточникам и независимым источникам.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3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ПРОВЕРКА И ФАКТЧЕКИНГ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Фактчекинг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2"/>
          <p:cNvSpPr/>
          <p:nvPr/>
        </p:nvSpPr>
        <p:spPr>
          <a:xfrm>
            <a:off x="640080" y="1737360"/>
            <a:ext cx="10881000" cy="44344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9050">
            <a:solidFill>
              <a:srgbClr val="E4E7F7"/>
            </a:solidFill>
            <a:round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960120" y="2011680"/>
            <a:ext cx="685440" cy="685440"/>
          </a:xfrm>
          <a:prstGeom prst="roundRect">
            <a:avLst>
              <a:gd name="adj" fmla="val 13333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4"/>
          <p:cNvSpPr/>
          <p:nvPr/>
        </p:nvSpPr>
        <p:spPr>
          <a:xfrm>
            <a:off x="960120" y="201168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5"/>
          <p:cNvSpPr/>
          <p:nvPr/>
        </p:nvSpPr>
        <p:spPr>
          <a:xfrm>
            <a:off x="1828800" y="2057400"/>
            <a:ext cx="8960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Поисковая проверка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6"/>
          <p:cNvSpPr/>
          <p:nvPr/>
        </p:nvSpPr>
        <p:spPr>
          <a:xfrm>
            <a:off x="960120" y="278892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Берём отдельные результаты или решения, полученные в совместной работе с языковой моделью, и проводим самостоятельный поиск корректного ответа. Найденный ответ сопоставляем с результатом решения от модели.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7"/>
          <p:cNvSpPr/>
          <p:nvPr/>
        </p:nvSpPr>
        <p:spPr>
          <a:xfrm>
            <a:off x="1005840" y="3639240"/>
            <a:ext cx="118440" cy="118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8"/>
          <p:cNvSpPr/>
          <p:nvPr/>
        </p:nvSpPr>
        <p:spPr>
          <a:xfrm>
            <a:off x="1280160" y="349308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Конкретные факты, даты, данные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9"/>
          <p:cNvSpPr/>
          <p:nvPr/>
        </p:nvSpPr>
        <p:spPr>
          <a:xfrm>
            <a:off x="1005840" y="4169520"/>
            <a:ext cx="118440" cy="118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0"/>
          <p:cNvSpPr/>
          <p:nvPr/>
        </p:nvSpPr>
        <p:spPr>
          <a:xfrm>
            <a:off x="1280160" y="402336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Источники, на которые ссылается модель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1"/>
          <p:cNvSpPr/>
          <p:nvPr/>
        </p:nvSpPr>
        <p:spPr>
          <a:xfrm>
            <a:off x="1005840" y="4700160"/>
            <a:ext cx="118440" cy="118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2"/>
          <p:cNvSpPr/>
          <p:nvPr/>
        </p:nvSpPr>
        <p:spPr>
          <a:xfrm>
            <a:off x="1280160" y="455364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Контекст, из которого была взята информация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3"/>
          <p:cNvSpPr/>
          <p:nvPr/>
        </p:nvSpPr>
        <p:spPr>
          <a:xfrm>
            <a:off x="1005840" y="5230440"/>
            <a:ext cx="118440" cy="118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4"/>
          <p:cNvSpPr/>
          <p:nvPr/>
        </p:nvSpPr>
        <p:spPr>
          <a:xfrm>
            <a:off x="1280160" y="508392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Дату контента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5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ПРОВЕРКА И ФАКТЧЕКИНГ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Фактчекинг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"/>
          <p:cNvSpPr/>
          <p:nvPr/>
        </p:nvSpPr>
        <p:spPr>
          <a:xfrm>
            <a:off x="640080" y="1737360"/>
            <a:ext cx="10881000" cy="44344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9050">
            <a:solidFill>
              <a:srgbClr val="E4E7F7"/>
            </a:solidFill>
            <a:round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"/>
          <p:cNvSpPr/>
          <p:nvPr/>
        </p:nvSpPr>
        <p:spPr>
          <a:xfrm>
            <a:off x="960120" y="2011680"/>
            <a:ext cx="685440" cy="685440"/>
          </a:xfrm>
          <a:prstGeom prst="roundRect">
            <a:avLst>
              <a:gd name="adj" fmla="val 13333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4"/>
          <p:cNvSpPr/>
          <p:nvPr/>
        </p:nvSpPr>
        <p:spPr>
          <a:xfrm>
            <a:off x="960120" y="201168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"/>
          <p:cNvSpPr/>
          <p:nvPr/>
        </p:nvSpPr>
        <p:spPr>
          <a:xfrm>
            <a:off x="1828800" y="2057400"/>
            <a:ext cx="8960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Кросс-проверка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6"/>
          <p:cNvSpPr/>
          <p:nvPr/>
        </p:nvSpPr>
        <p:spPr>
          <a:xfrm>
            <a:off x="960120" y="278892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Пытаемся получить несколько версий ответов на одну задачу и сопоставляем их между собой.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7"/>
          <p:cNvSpPr/>
          <p:nvPr/>
        </p:nvSpPr>
        <p:spPr>
          <a:xfrm>
            <a:off x="1005840" y="3639240"/>
            <a:ext cx="118440" cy="118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8"/>
          <p:cNvSpPr/>
          <p:nvPr/>
        </p:nvSpPr>
        <p:spPr>
          <a:xfrm>
            <a:off x="1280160" y="349308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Одной и той же модели — можно менять язык и форму запроса, полезно обнулять контекст диалога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9"/>
          <p:cNvSpPr/>
          <p:nvPr/>
        </p:nvSpPr>
        <p:spPr>
          <a:xfrm>
            <a:off x="1005840" y="4169520"/>
            <a:ext cx="118440" cy="118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0"/>
          <p:cNvSpPr/>
          <p:nvPr/>
        </p:nvSpPr>
        <p:spPr>
          <a:xfrm>
            <a:off x="1280160" y="402336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Разным моделям — различия моделей и не полностью совпадающие базы обучения помогают увидеть фактологические расхождения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1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 0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ПРОВЕРКА И ФАКТЧЕКИНГ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"/>
          <p:cNvSpPr/>
          <p:nvPr/>
        </p:nvSpPr>
        <p:spPr>
          <a:xfrm>
            <a:off x="640080" y="77724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Фактчекинг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2"/>
          <p:cNvSpPr/>
          <p:nvPr/>
        </p:nvSpPr>
        <p:spPr>
          <a:xfrm>
            <a:off x="640080" y="1737360"/>
            <a:ext cx="10881000" cy="44344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9050">
            <a:solidFill>
              <a:srgbClr val="E4E7F7"/>
            </a:solidFill>
            <a:round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3"/>
          <p:cNvSpPr/>
          <p:nvPr/>
        </p:nvSpPr>
        <p:spPr>
          <a:xfrm>
            <a:off x="960120" y="2011680"/>
            <a:ext cx="685440" cy="685440"/>
          </a:xfrm>
          <a:prstGeom prst="roundRect">
            <a:avLst>
              <a:gd name="adj" fmla="val 13333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"/>
          <p:cNvSpPr/>
          <p:nvPr/>
        </p:nvSpPr>
        <p:spPr>
          <a:xfrm>
            <a:off x="960120" y="201168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5"/>
          <p:cNvSpPr/>
          <p:nvPr/>
        </p:nvSpPr>
        <p:spPr>
          <a:xfrm>
            <a:off x="1828800" y="2057400"/>
            <a:ext cx="8960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Цепочка верификации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6"/>
          <p:cNvSpPr/>
          <p:nvPr/>
        </p:nvSpPr>
        <p:spPr>
          <a:xfrm>
            <a:off x="960120" y="278892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Подход основан на том, чтобы взять полученный ответ, разделить его на небольшие вопросы и дать задачи на проверку каждого из них на достоверность и ошибки.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7"/>
          <p:cNvSpPr/>
          <p:nvPr/>
        </p:nvSpPr>
        <p:spPr>
          <a:xfrm>
            <a:off x="1005840" y="3639240"/>
            <a:ext cx="118440" cy="118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8"/>
          <p:cNvSpPr/>
          <p:nvPr/>
        </p:nvSpPr>
        <p:spPr>
          <a:xfrm>
            <a:off x="1280160" y="349308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Разделение результата на небольшие вопросы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9"/>
          <p:cNvSpPr/>
          <p:nvPr/>
        </p:nvSpPr>
        <p:spPr>
          <a:xfrm>
            <a:off x="1005840" y="4169520"/>
            <a:ext cx="118440" cy="118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0"/>
          <p:cNvSpPr/>
          <p:nvPr/>
        </p:nvSpPr>
        <p:spPr>
          <a:xfrm>
            <a:off x="1280160" y="402336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Промптинг каждого вопроса (с обнулением контекста)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1"/>
          <p:cNvSpPr/>
          <p:nvPr/>
        </p:nvSpPr>
        <p:spPr>
          <a:xfrm>
            <a:off x="1005840" y="4700160"/>
            <a:ext cx="118440" cy="1184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2"/>
          <p:cNvSpPr/>
          <p:nvPr/>
        </p:nvSpPr>
        <p:spPr>
          <a:xfrm>
            <a:off x="1280160" y="4553640"/>
            <a:ext cx="9783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Интеграция и сопоставление с изначальным ответом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3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-2377440" y="-2377440"/>
            <a:ext cx="5943240" cy="594324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"/>
          <p:cNvSpPr/>
          <p:nvPr/>
        </p:nvSpPr>
        <p:spPr>
          <a:xfrm>
            <a:off x="640080" y="4572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A7ACD9"/>
                </a:solidFill>
                <a:effectLst/>
                <a:uFillTx/>
                <a:latin typeface="Calibri"/>
                <a:ea typeface="Calibri"/>
              </a:rPr>
              <a:t>ПРАКТИЧЕСКОЕ ЗАДАНИЕ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"/>
          <p:cNvSpPr/>
          <p:nvPr/>
        </p:nvSpPr>
        <p:spPr>
          <a:xfrm>
            <a:off x="640080" y="822960"/>
            <a:ext cx="7314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Задание 1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3"/>
          <p:cNvSpPr/>
          <p:nvPr/>
        </p:nvSpPr>
        <p:spPr>
          <a:xfrm>
            <a:off x="640080" y="148140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Применение языковых моделей для парсинга сайта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4"/>
          <p:cNvSpPr/>
          <p:nvPr/>
        </p:nvSpPr>
        <p:spPr>
          <a:xfrm>
            <a:off x="640080" y="1965960"/>
            <a:ext cx="10881000" cy="776880"/>
          </a:xfrm>
          <a:prstGeom prst="roundRect">
            <a:avLst>
              <a:gd name="adj" fmla="val 14118"/>
            </a:avLst>
          </a:prstGeom>
          <a:solidFill>
            <a:srgbClr val="242A63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5"/>
          <p:cNvSpPr/>
          <p:nvPr/>
        </p:nvSpPr>
        <p:spPr>
          <a:xfrm>
            <a:off x="868680" y="2103120"/>
            <a:ext cx="502560" cy="502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5" name="Image 0" descr="/home/claude/work/icons/target.png"/>
          <p:cNvPicPr/>
          <p:nvPr/>
        </p:nvPicPr>
        <p:blipFill>
          <a:blip r:embed="rId1"/>
          <a:stretch/>
        </p:blipFill>
        <p:spPr>
          <a:xfrm>
            <a:off x="979200" y="22136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Text 6"/>
          <p:cNvSpPr/>
          <p:nvPr/>
        </p:nvSpPr>
        <p:spPr>
          <a:xfrm>
            <a:off x="1600200" y="207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Цель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7"/>
          <p:cNvSpPr/>
          <p:nvPr/>
        </p:nvSpPr>
        <p:spPr>
          <a:xfrm>
            <a:off x="1600200" y="23684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Провести парсинг сайта с помощью современных языковых моделей.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8"/>
          <p:cNvSpPr/>
          <p:nvPr/>
        </p:nvSpPr>
        <p:spPr>
          <a:xfrm>
            <a:off x="640080" y="2889360"/>
            <a:ext cx="10881000" cy="776880"/>
          </a:xfrm>
          <a:prstGeom prst="roundRect">
            <a:avLst>
              <a:gd name="adj" fmla="val 14118"/>
            </a:avLst>
          </a:prstGeom>
          <a:solidFill>
            <a:srgbClr val="242A63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9"/>
          <p:cNvSpPr/>
          <p:nvPr/>
        </p:nvSpPr>
        <p:spPr>
          <a:xfrm>
            <a:off x="868680" y="3026520"/>
            <a:ext cx="502560" cy="502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0" name="Image 1" descr="/home/claude/work/icons/users.png"/>
          <p:cNvPicPr/>
          <p:nvPr/>
        </p:nvPicPr>
        <p:blipFill>
          <a:blip r:embed="rId2"/>
          <a:stretch/>
        </p:blipFill>
        <p:spPr>
          <a:xfrm>
            <a:off x="979200" y="313740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Text 10"/>
          <p:cNvSpPr/>
          <p:nvPr/>
        </p:nvSpPr>
        <p:spPr>
          <a:xfrm>
            <a:off x="1600200" y="29991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Формат работы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1"/>
          <p:cNvSpPr/>
          <p:nvPr/>
        </p:nvSpPr>
        <p:spPr>
          <a:xfrm>
            <a:off x="1600200" y="32918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Работа в группах по 2–3 человека.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2"/>
          <p:cNvSpPr/>
          <p:nvPr/>
        </p:nvSpPr>
        <p:spPr>
          <a:xfrm>
            <a:off x="640080" y="3813120"/>
            <a:ext cx="10881000" cy="1279800"/>
          </a:xfrm>
          <a:prstGeom prst="roundRect">
            <a:avLst>
              <a:gd name="adj" fmla="val 8571"/>
            </a:avLst>
          </a:prstGeom>
          <a:solidFill>
            <a:srgbClr val="242A63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3"/>
          <p:cNvSpPr/>
          <p:nvPr/>
        </p:nvSpPr>
        <p:spPr>
          <a:xfrm>
            <a:off x="868680" y="4201560"/>
            <a:ext cx="502560" cy="502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5" name="Image 2" descr="/home/claude/work/icons/clipboard.png"/>
          <p:cNvPicPr/>
          <p:nvPr/>
        </p:nvPicPr>
        <p:blipFill>
          <a:blip r:embed="rId3"/>
          <a:stretch/>
        </p:blipFill>
        <p:spPr>
          <a:xfrm>
            <a:off x="979200" y="4312440"/>
            <a:ext cx="28116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Text 14"/>
          <p:cNvSpPr/>
          <p:nvPr/>
        </p:nvSpPr>
        <p:spPr>
          <a:xfrm>
            <a:off x="1600200" y="392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Задание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5"/>
          <p:cNvSpPr/>
          <p:nvPr/>
        </p:nvSpPr>
        <p:spPr>
          <a:xfrm>
            <a:off x="1600200" y="4215240"/>
            <a:ext cx="9143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Собрать данные с сайта в виде таблицы, пригодной для дальнейшего анализа (данные можно прочитать функцией read_csv()). Для парсинга использовать модели со слайда «Языковые модели». Каждый участник применяет по 3 модели.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Т.е. на выходе датасет для решения задач машинного обучения с учителем.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6"/>
          <p:cNvSpPr/>
          <p:nvPr/>
        </p:nvSpPr>
        <p:spPr>
          <a:xfrm>
            <a:off x="640080" y="5239440"/>
            <a:ext cx="10881000" cy="731160"/>
          </a:xfrm>
          <a:prstGeom prst="roundRect">
            <a:avLst>
              <a:gd name="adj" fmla="val 15000"/>
            </a:avLst>
          </a:prstGeom>
          <a:solidFill>
            <a:srgbClr val="5B4FE9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7"/>
          <p:cNvSpPr/>
          <p:nvPr/>
        </p:nvSpPr>
        <p:spPr>
          <a:xfrm>
            <a:off x="868680" y="533088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0" name="Image 3" descr="/home/claude/work/icons/book.png"/>
          <p:cNvPicPr/>
          <p:nvPr/>
        </p:nvPicPr>
        <p:blipFill>
          <a:blip r:embed="rId4"/>
          <a:stretch/>
        </p:blipFill>
        <p:spPr>
          <a:xfrm>
            <a:off x="989280" y="545148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Text 18"/>
          <p:cNvSpPr/>
          <p:nvPr/>
        </p:nvSpPr>
        <p:spPr>
          <a:xfrm>
            <a:off x="1600200" y="5239440"/>
            <a:ext cx="9646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Примеры: По некоторым параметрам квартиры (площадь, количество комнат, этаж и т.п.) предсказать ее стоимость. 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9"/>
          <p:cNvSpPr/>
          <p:nvPr/>
        </p:nvSpPr>
        <p:spPr>
          <a:xfrm>
            <a:off x="11277360" y="635508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ACD9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8"/>
          <p:cNvSpPr/>
          <p:nvPr/>
        </p:nvSpPr>
        <p:spPr>
          <a:xfrm>
            <a:off x="639000" y="6108840"/>
            <a:ext cx="10881000" cy="731160"/>
          </a:xfrm>
          <a:prstGeom prst="roundRect">
            <a:avLst>
              <a:gd name="adj" fmla="val 15000"/>
            </a:avLst>
          </a:prstGeom>
          <a:solidFill>
            <a:srgbClr val="5B4FE9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В файле </a:t>
            </a:r>
            <a:r>
              <a:rPr lang="en-US" sz="1000" b="1" u="none" strike="noStrike">
                <a:solidFill>
                  <a:srgbClr val="FBE3D6"/>
                </a:solidFill>
                <a:effectLst/>
                <a:uFillTx/>
                <a:latin typeface="Arial"/>
                <a:ea typeface="Microsoft YaHei"/>
              </a:rPr>
              <a:t>https://docs.google.com/spreadsheets/d/1guaI4ASduc8TNzv5ZGz9y_d1oWB5i_b85nxTfvMcteM/edit?usp=sharing</a:t>
            </a: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указать тему напротив своей фамилии. Темы в одной группе не должны пересекаться.  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</TotalTime>
  <Application>LibreOffice/26.2.4.2$Windows_X86_64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2026-09-03T07:11:00Z</dcterms:created>
  <dc:creator>PptxGenJS</dc:creator>
  <dc:description/>
  <dc:language>ru-RU</dc:language>
  <cp:lastModifiedBy/>
  <dcterms:modified xsi:type="dcterms:W3CDTF">2026-09-04T11:20:32Z</dcterms:modified>
  <cp:revision>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33</vt:i4>
  </property>
  <property fmtid="{D5CDD505-2E9C-101B-9397-08002B2CF9AE}" pid="3" name="PresentationFormat">
    <vt:lpwstr>On-screen Show (16:9)</vt:lpwstr>
  </property>
  <property fmtid="{D5CDD505-2E9C-101B-9397-08002B2CF9AE}" pid="4" name="Slides">
    <vt:i4>33</vt:i4>
  </property>
</Properties>
</file>