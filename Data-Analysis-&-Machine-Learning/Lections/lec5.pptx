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media/image15.wmf" ContentType="image/x-wmf"/>
  <Override PartName="/ppt/media/image16.wmf" ContentType="image/x-wmf"/>
  <Override PartName="/ppt/media/image17.wmf" ContentType="image/x-wmf"/>
  <Override PartName="/ppt/media/image18.wmf" ContentType="image/x-wmf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2AA5BA-6A73-4C33-81ED-6BE8E3E89A08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93CA8A-3FF9-44A3-A59D-739C011314AE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CE149F-9BF3-423D-B6D0-38A64EC8C9A2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29;p4"/>
          <p:cNvGrpSpPr/>
          <p:nvPr/>
        </p:nvGrpSpPr>
        <p:grpSpPr>
          <a:xfrm>
            <a:off x="0" y="5204880"/>
            <a:ext cx="9144000" cy="1652760"/>
            <a:chOff x="0" y="5204880"/>
            <a:chExt cx="9144000" cy="1652760"/>
          </a:xfrm>
        </p:grpSpPr>
        <p:sp>
          <p:nvSpPr>
            <p:cNvPr id="18" name="Google Shape;30;p4"/>
            <p:cNvSpPr/>
            <p:nvPr/>
          </p:nvSpPr>
          <p:spPr>
            <a:xfrm>
              <a:off x="8154720" y="5204880"/>
              <a:ext cx="988920" cy="1316880"/>
            </a:xfrm>
            <a:prstGeom prst="rtTriangle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9" name="Google Shape;31;p4"/>
            <p:cNvSpPr/>
            <p:nvPr/>
          </p:nvSpPr>
          <p:spPr>
            <a:xfrm flipH="1">
              <a:off x="6180480" y="5204880"/>
              <a:ext cx="988920" cy="1316880"/>
            </a:xfrm>
            <a:prstGeom prst="rtTriangle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0" name="Google Shape;32;p4"/>
            <p:cNvSpPr/>
            <p:nvPr/>
          </p:nvSpPr>
          <p:spPr>
            <a:xfrm>
              <a:off x="7170120" y="5204880"/>
              <a:ext cx="988920" cy="1316880"/>
            </a:xfrm>
            <a:prstGeom prst="rect">
              <a:avLst/>
            </a:pr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1" name="Google Shape;33;p4"/>
            <p:cNvSpPr/>
            <p:nvPr/>
          </p:nvSpPr>
          <p:spPr>
            <a:xfrm rot="10800000">
              <a:off x="8155080" y="5205240"/>
              <a:ext cx="988920" cy="1316880"/>
            </a:xfrm>
            <a:prstGeom prst="rtTriangle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2" name="Google Shape;34;p4"/>
            <p:cNvSpPr/>
            <p:nvPr/>
          </p:nvSpPr>
          <p:spPr>
            <a:xfrm>
              <a:off x="0" y="6522120"/>
              <a:ext cx="9143640" cy="3355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11760" y="546840"/>
            <a:ext cx="8520120" cy="81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0000" lnSpcReduction="19999"/>
          </a:bodyPr>
          <a:lstStyle>
            <a:lvl1pPr indent="0" algn="l" defTabSz="914400"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11760" y="1639800"/>
            <a:ext cx="8520120" cy="445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5720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1" indent="-31752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2" indent="-31752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3" indent="-31752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4" indent="-31752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5" indent="-31752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200400" lvl="6" indent="-31752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10"/>
          </p:nvPr>
        </p:nvSpPr>
        <p:spPr>
          <a:xfrm>
            <a:off x="8460360" y="620172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defRPr lang="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04FFE5-7D68-47D8-B2CA-CBF224CA1B13}" type="slidenum">
              <a:rPr lang="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8A0BAC-2EB4-4B25-8069-86A5F171F859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ru-RU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ru-RU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1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1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9A9633-52DD-4B57-ACC8-B6AC7C0ADE08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1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1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165D7D-9608-4C2D-9117-08C95FABC0D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2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4F5D71-0064-47A7-A6ED-7F5AC8BAD823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2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78B1D8-DCB1-4941-A3E3-8AFBB72D9E9C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dt" idx="2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ftr" idx="2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sldNum" idx="2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E41ABC-2AA7-439B-946D-207E6FCC7349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ru-RU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2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2B657A-F7C8-4A41-B55C-01BBD7D0E4F1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lang="ru-RU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ru-RU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40971B-127F-4C04-BEB4-C44AE0FC980A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5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16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17.wmf"/><Relationship Id="rId7" Type="http://schemas.openxmlformats.org/officeDocument/2006/relationships/oleObject" Target="../embeddings/oleObject4.bin"/><Relationship Id="rId8" Type="http://schemas.openxmlformats.org/officeDocument/2006/relationships/image" Target="../media/image18.wmf"/><Relationship Id="rId9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hyperlink" Target="https://drive.google.com/file/d/1YlFndB4HtoRoidGNyO9kmtrIfyLnHuXX/view?usp=sharing" TargetMode="External"/><Relationship Id="rId2" Type="http://schemas.openxmlformats.org/officeDocument/2006/relationships/hyperlink" Target="https://drive.google.com/file/d/1YlFndB4HtoRoidGNyO9kmtrIfyLnHuXX/view?usp=sharing" TargetMode="External"/><Relationship Id="rId3" Type="http://schemas.openxmlformats.org/officeDocument/2006/relationships/hyperlink" Target="https://drive.google.com/file/d/1yWh-OHgGsClzQxgqfCqRBoYlKwBzX3oS/view?usp=sharing" TargetMode="External"/><Relationship Id="rId4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85800" y="148464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Бинарная классификация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Заголовок 1"/>
          <p:cNvSpPr/>
          <p:nvPr/>
        </p:nvSpPr>
        <p:spPr>
          <a:xfrm>
            <a:off x="827640" y="4725000"/>
            <a:ext cx="7772040" cy="14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Савченко Людмила Васильевна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Доцент кафедры ИСиТ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266040" y="2304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Задача классификации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55080" y="1166040"/>
            <a:ext cx="8650800" cy="566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Source Sans Pro"/>
              </a:rPr>
              <a:t>Классификация - разделение множества объектов на группы, называемые классами, на основе анализа их формального описания. При 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Source Sans Pro"/>
              </a:rPr>
              <a:t>классификации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Source Sans Pro"/>
              </a:rPr>
              <a:t> каждая единица наблюдения относится к определенной группе или номинальной категории на основе некоторого качественного свойства.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Source Sans Pro"/>
              </a:rPr>
              <a:t>Пусть 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th-I"/>
              </a:rPr>
              <a:t>X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Source Sans Pro"/>
              </a:rPr>
              <a:t> — множество описаний объектов, 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th-I"/>
              </a:rPr>
              <a:t>Y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Source Sans Pro"/>
              </a:rPr>
              <a:t> — конечное множество номеров (имен, меток) классов. Существует неизвестная целевая зависимость — отображение 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th-I"/>
              </a:rPr>
              <a:t>y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in-R"/>
              </a:rPr>
              <a:t>∗ : 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th-I"/>
              </a:rPr>
              <a:t>X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in-R"/>
              </a:rPr>
              <a:t>→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th-I"/>
              </a:rPr>
              <a:t>Y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Source Sans Pro"/>
              </a:rPr>
              <a:t>, значения которой известны только на объектах конечной обучающей 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Source Sans Pro"/>
              </a:rPr>
              <a:t>выборки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Source Sans Pro"/>
              </a:rPr>
              <a:t> 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th-I"/>
              </a:rPr>
              <a:t>X</a:t>
            </a:r>
            <a:r>
              <a:rPr lang="ru-RU" sz="2100" b="0" u="none" strike="noStrike">
                <a:solidFill>
                  <a:srgbClr val="333333"/>
                </a:solidFill>
                <a:effectLst/>
                <a:uFillTx/>
                <a:latin typeface="MJXc-TeX-math-I"/>
              </a:rPr>
              <a:t>m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in-R"/>
              </a:rPr>
              <a:t>=(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th-I"/>
              </a:rPr>
              <a:t>x</a:t>
            </a:r>
            <a:r>
              <a:rPr lang="ru-RU" sz="2100" b="0" u="none" strike="noStrike">
                <a:solidFill>
                  <a:srgbClr val="333333"/>
                </a:solidFill>
                <a:effectLst/>
                <a:uFillTx/>
                <a:latin typeface="MJXc-TeX-main-R"/>
              </a:rPr>
              <a:t>1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in-R"/>
              </a:rPr>
              <a:t>,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th-I"/>
              </a:rPr>
              <a:t>y</a:t>
            </a:r>
            <a:r>
              <a:rPr lang="ru-RU" sz="1500" b="0" u="none" strike="noStrike">
                <a:solidFill>
                  <a:srgbClr val="333333"/>
                </a:solidFill>
                <a:effectLst/>
                <a:uFillTx/>
                <a:latin typeface="MJXc-TeX-main-R"/>
              </a:rPr>
              <a:t>1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in-R"/>
              </a:rPr>
              <a:t>),…,(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th-I"/>
              </a:rPr>
              <a:t>x</a:t>
            </a:r>
            <a:r>
              <a:rPr lang="ru-RU" sz="2100" b="0" u="none" strike="noStrike">
                <a:solidFill>
                  <a:srgbClr val="333333"/>
                </a:solidFill>
                <a:effectLst/>
                <a:uFillTx/>
                <a:latin typeface="MJXc-TeX-math-I"/>
              </a:rPr>
              <a:t>m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in-R"/>
              </a:rPr>
              <a:t>,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th-I"/>
              </a:rPr>
              <a:t>y</a:t>
            </a:r>
            <a:r>
              <a:rPr lang="ru-RU" sz="2100" b="0" u="none" strike="noStrike">
                <a:solidFill>
                  <a:srgbClr val="333333"/>
                </a:solidFill>
                <a:effectLst/>
                <a:uFillTx/>
                <a:latin typeface="MJXc-TeX-math-I"/>
              </a:rPr>
              <a:t>m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in-R"/>
              </a:rPr>
              <a:t>)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Source Sans Pro"/>
              </a:rPr>
              <a:t>. Требуется построить алгоритм 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th-I"/>
              </a:rPr>
              <a:t>a 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in-R"/>
              </a:rPr>
              <a:t>: 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th-I"/>
              </a:rPr>
              <a:t>X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in-R"/>
              </a:rPr>
              <a:t>→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th-I"/>
              </a:rPr>
              <a:t>Y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Source Sans Pro"/>
              </a:rPr>
              <a:t>, способный классифицировать произвольный объект 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th-I"/>
              </a:rPr>
              <a:t>x 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in-R"/>
              </a:rPr>
              <a:t>∈ 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MJXc-TeX-math-I"/>
              </a:rPr>
              <a:t>X</a:t>
            </a: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Source Sans Pro"/>
              </a:rPr>
              <a:t>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Source Sans Pro"/>
              </a:rPr>
              <a:t>Примеры бинарной классификации: определить является ли письмо спамом или нет, будет дождь или нет.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Что такое классификация?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28560" y="2265120"/>
            <a:ext cx="7886520" cy="3224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Классификация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– отнесение объекта к одной из категорий на основании его признаков.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Классифицировать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ru-RU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объект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значит, указать номер (или наименование класса), к которому относится данный объект.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Классификация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ru-RU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объекта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номер или наименование класса, выдаваемый алгоритмом классификации в результате его применения к данному конкретному объекту.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Классификация = обучение с учителем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Бинарная классификация (линейная) 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28560" y="2036880"/>
            <a:ext cx="3133800" cy="337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= {0, 1}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0 — отрицательный класс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1 — положительный класс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 должен возвращать одно из двух чисел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7" name="Рисунок 4"/>
          <p:cNvPicPr/>
          <p:nvPr/>
        </p:nvPicPr>
        <p:blipFill>
          <a:blip r:embed="rId1"/>
          <a:stretch/>
        </p:blipFill>
        <p:spPr>
          <a:xfrm>
            <a:off x="3989520" y="2125440"/>
            <a:ext cx="5006520" cy="2539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Примеры бинарной классификации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-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есть ли у человека болезнь (0-нет, 1-есть)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-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является ли письмо спамом (0 – не является, 1 - является)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-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является ли банковская транзакция мошеннической (0 – не является, 1 - является)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-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 изображении кот или собака (0 – кот, 1 - собака)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Байесовский подход к классификации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(1)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Байесовский подход к классификации основан на теореме, утверждающей, что если плотности распределения каждого из классов известны, то искомый алгоритм можно выписать в явном аналитическом виде. Более того, этот алгоритм оптимален, то есть обладает минимальной вероятностью ошибок.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 практике плотности распределения классов, как правило, не известны. Их приходится 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оценивать (восстанавливать)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 обучающей выборке. В результате байесовский алгоритм перестаёт быть оптимальным, так как восстановить плотность по выборке можно только с некоторой погрешностью. Чем короче выборка, тем выше шансы подогнать распределение под конкретные данные и столкнуться с 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эффектом переобучения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Байесовский подход к классификации является одним из старейших, но до сих пор сохраняет прочные позиции в теории распознавания. Он лежит в основе многих достаточно удачных алгоритмов классификации.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-273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Байесовский подход к классификации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(2)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Рисунок 4"/>
          <p:cNvPicPr/>
          <p:nvPr/>
        </p:nvPicPr>
        <p:blipFill>
          <a:blip r:embed="rId1"/>
          <a:stretch/>
        </p:blipFill>
        <p:spPr>
          <a:xfrm>
            <a:off x="0" y="2147040"/>
            <a:ext cx="9143640" cy="256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-993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Логистическая регрессия (1)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19080" y="908640"/>
            <a:ext cx="896400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just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Логистическая регрессия (Logistic regression) — метод построения линейного классификатора, позволяющий оценивать апостериорные вероятности принадлежности объектов классам.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6" name="Рисунок 4"/>
          <p:cNvPicPr/>
          <p:nvPr/>
        </p:nvPicPr>
        <p:blipFill>
          <a:blip r:embed="rId1"/>
          <a:stretch/>
        </p:blipFill>
        <p:spPr>
          <a:xfrm>
            <a:off x="29880" y="1852200"/>
            <a:ext cx="9121320" cy="182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Рисунок 6"/>
          <p:cNvPicPr/>
          <p:nvPr/>
        </p:nvPicPr>
        <p:blipFill>
          <a:blip r:embed="rId2"/>
          <a:stretch/>
        </p:blipFill>
        <p:spPr>
          <a:xfrm>
            <a:off x="19080" y="3861000"/>
            <a:ext cx="9143640" cy="241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Box 9"/>
          <p:cNvSpPr/>
          <p:nvPr/>
        </p:nvSpPr>
        <p:spPr>
          <a:xfrm>
            <a:off x="-36000" y="6488640"/>
            <a:ext cx="46076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* http://www.machinelearning.ru/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1"/>
          <p:cNvSpPr/>
          <p:nvPr/>
        </p:nvSpPr>
        <p:spPr>
          <a:xfrm>
            <a:off x="4445280" y="4360320"/>
            <a:ext cx="6303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(1)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2"/>
          <p:cNvSpPr/>
          <p:nvPr/>
        </p:nvSpPr>
        <p:spPr>
          <a:xfrm>
            <a:off x="3132000" y="5324040"/>
            <a:ext cx="6303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(2)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Логистическая регрессия (2)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Объект 4"/>
          <p:cNvPicPr/>
          <p:nvPr/>
        </p:nvPicPr>
        <p:blipFill>
          <a:blip r:embed="rId1"/>
          <a:stretch/>
        </p:blipFill>
        <p:spPr>
          <a:xfrm>
            <a:off x="457200" y="1666800"/>
            <a:ext cx="8229240" cy="4392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Логистическая регрессия (3)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4" name="Рисунок 4"/>
          <p:cNvPicPr/>
          <p:nvPr/>
        </p:nvPicPr>
        <p:blipFill>
          <a:blip r:embed="rId1"/>
          <a:stretch/>
        </p:blipFill>
        <p:spPr>
          <a:xfrm>
            <a:off x="0" y="1350360"/>
            <a:ext cx="9143640" cy="415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-993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Градиентный спуск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6" name="Рисунок 4"/>
          <p:cNvPicPr/>
          <p:nvPr/>
        </p:nvPicPr>
        <p:blipFill>
          <a:blip r:embed="rId1"/>
          <a:stretch/>
        </p:blipFill>
        <p:spPr>
          <a:xfrm>
            <a:off x="195840" y="1340640"/>
            <a:ext cx="8751960" cy="143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Рисунок 6"/>
          <p:cNvPicPr/>
          <p:nvPr/>
        </p:nvPicPr>
        <p:blipFill>
          <a:blip r:embed="rId2"/>
          <a:stretch/>
        </p:blipFill>
        <p:spPr>
          <a:xfrm>
            <a:off x="195840" y="831240"/>
            <a:ext cx="8751960" cy="71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Рисунок 3"/>
          <p:cNvPicPr/>
          <p:nvPr/>
        </p:nvPicPr>
        <p:blipFill>
          <a:blip r:embed="rId3"/>
          <a:stretch/>
        </p:blipFill>
        <p:spPr>
          <a:xfrm>
            <a:off x="251640" y="2781000"/>
            <a:ext cx="7600680" cy="3904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-993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Градиентный спуск. Алгоритм.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0" name="Рисунок 4"/>
          <p:cNvPicPr/>
          <p:nvPr/>
        </p:nvPicPr>
        <p:blipFill>
          <a:blip r:embed="rId1"/>
          <a:stretch/>
        </p:blipFill>
        <p:spPr>
          <a:xfrm>
            <a:off x="467640" y="1196640"/>
            <a:ext cx="5804280" cy="54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Проблема локальных минимумов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2" name="Объект 4"/>
          <p:cNvPicPr/>
          <p:nvPr/>
        </p:nvPicPr>
        <p:blipFill>
          <a:blip r:embed="rId1"/>
          <a:stretch/>
        </p:blipFill>
        <p:spPr>
          <a:xfrm>
            <a:off x="14760" y="1700640"/>
            <a:ext cx="9093600" cy="408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-4593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ctr" defTabSz="914400">
              <a:lnSpc>
                <a:spcPct val="100000"/>
              </a:lnSpc>
              <a:buNone/>
            </a:pPr>
            <a:br>
              <a:rPr sz="4400"/>
            </a:br>
            <a:r>
              <a:rPr lang="en-US" sz="4400" b="0" u="none" strike="noStrike">
                <a:solidFill>
                  <a:srgbClr val="1F1F1F"/>
                </a:solidFill>
                <a:effectLst/>
                <a:uFillTx/>
                <a:latin typeface="Source Sans Pro"/>
              </a:rPr>
              <a:t>SVM (1)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5"/>
          <p:cNvSpPr/>
          <p:nvPr/>
        </p:nvSpPr>
        <p:spPr>
          <a:xfrm>
            <a:off x="0" y="476640"/>
            <a:ext cx="8964000" cy="25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111111"/>
                </a:solidFill>
                <a:effectLst/>
                <a:uFillTx/>
                <a:latin typeface="-apple-system"/>
              </a:rPr>
              <a:t>Машина опорных векторов — является одной из наиболее популярных методологий обучения по прецедентам, предложенной В. Н. Вапником и известной в англоязычной литературе под названием SVM (Support Vector Machine).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111111"/>
                </a:solidFill>
                <a:effectLst/>
                <a:uFillTx/>
                <a:latin typeface="-apple-system"/>
              </a:rPr>
              <a:t>Основной задачей алгоритма является нахождение наиболее правильной линии, или гиперплоскости разделяющей данные на классы. SVM - это алгоритм, который получает на входе данные, и возвращает такую разделяющую линию.</a:t>
            </a:r>
            <a:br>
              <a:rPr sz="1800"/>
            </a:br>
            <a:br>
              <a:rPr sz="1800"/>
            </a:b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30240" y="6330600"/>
            <a:ext cx="91508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*</a:t>
            </a:r>
            <a:r>
              <a:rPr lang="ru-RU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http://www.machinelearning.ru/wiki/index.php?title=%D0%9C%D0%B0%D1%88%D0%B8%D0%BD%D0%B0_%D0%BE%D0%BF%D0%BE%D1%80%D0%BD%D1%8B%D1%85_%D0%B2%D0%B5%D0%BA%D1%82%D0%BE%D1%80%D0%BE%D0%B2</a:t>
            </a:r>
            <a:endParaRPr lang="ru-RU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Рисунок 6"/>
          <p:cNvPicPr/>
          <p:nvPr/>
        </p:nvPicPr>
        <p:blipFill>
          <a:blip r:embed="rId1"/>
          <a:stretch/>
        </p:blipFill>
        <p:spPr>
          <a:xfrm>
            <a:off x="-4320" y="2493000"/>
            <a:ext cx="8964000" cy="387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395640" y="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SVM (2)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8" name="Рисунок 4"/>
          <p:cNvPicPr/>
          <p:nvPr/>
        </p:nvPicPr>
        <p:blipFill>
          <a:blip r:embed="rId1"/>
          <a:stretch/>
        </p:blipFill>
        <p:spPr>
          <a:xfrm>
            <a:off x="0" y="1412640"/>
            <a:ext cx="9143640" cy="425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Box 6"/>
          <p:cNvSpPr/>
          <p:nvPr/>
        </p:nvSpPr>
        <p:spPr>
          <a:xfrm>
            <a:off x="0" y="6119280"/>
            <a:ext cx="887040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*http://www.machinelearning.ru/wiki/index.php?title=%D0%9C%D0%B0%D1%88%D0%B8%D0%BD%D0%B0_%D0%BE%D0%BF%D0%BE%D1%80%D0%BD%D1%8B%D1%85_%D0%B2%D0%B5%D0%BA%D1%82%D0%BE%D1%80%D0%BE%D0%B2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7740360" y="5122800"/>
            <a:ext cx="7916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Рис. 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Деревья решений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Source Sans Pro"/>
              </a:rPr>
              <a:t>Деревья решений являются одним из наиболее эффективных решения задачи классификации и регрессии.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Source Sans Pro"/>
              </a:rPr>
              <a:t>Они представляют собой иерархические древовидные структуры, состоящие из решающих правил вида «Если ..., то ...». Правила автоматически генерируются в процессе обучения на обучающем множестве.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Пример получения одобрения по страховке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4" name="Рисунок 4"/>
          <p:cNvPicPr/>
          <p:nvPr/>
        </p:nvPicPr>
        <p:blipFill>
          <a:blip r:embed="rId1"/>
          <a:stretch/>
        </p:blipFill>
        <p:spPr>
          <a:xfrm>
            <a:off x="311040" y="1469880"/>
            <a:ext cx="8521920" cy="3917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Классификаторы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Sklearn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Деревья решений (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DecisionTreeClassifier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Случайные леса (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RandomForestClassifier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Методы опорных векторов (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SVC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Градиентный спуск (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SGDClassifier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Логистическая регрессия (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LogisticRegression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Байесовские методы (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GaussianNB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543600" y="-237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Показатели качества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Бинарная классификация.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18" name="Таблица 3"/>
          <p:cNvGraphicFramePr/>
          <p:nvPr/>
        </p:nvGraphicFramePr>
        <p:xfrm>
          <a:off x="773280" y="1119240"/>
          <a:ext cx="7578000" cy="4109760"/>
        </p:xfrm>
        <a:graphic>
          <a:graphicData uri="http://schemas.openxmlformats.org/drawingml/2006/table">
            <a:tbl>
              <a:tblPr/>
              <a:tblGrid>
                <a:gridCol w="2525760"/>
                <a:gridCol w="2525760"/>
                <a:gridCol w="2526480"/>
              </a:tblGrid>
              <a:tr h="622080">
                <a:tc>
                  <a:txBody>
                    <a:bodyPr lIns="68400" tIns="0" rIns="68400" bIns="0" anchor="t">
                      <a:noAutofit/>
                    </a:bodyPr>
                    <a:p>
                      <a:pPr algn="just" defTabSz="914400">
                        <a:lnSpc>
                          <a:spcPct val="115000"/>
                        </a:lnSpc>
                        <a:spcAft>
                          <a:spcPts val="1001"/>
                        </a:spcAft>
                      </a:pPr>
                      <a:r>
                        <a:rPr lang="ru-RU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 </a:t>
                      </a:r>
                      <a:endParaRPr lang="ru-RU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algn="just" defTabSz="914400">
                        <a:lnSpc>
                          <a:spcPct val="115000"/>
                        </a:lnSpc>
                        <a:spcAft>
                          <a:spcPts val="1001"/>
                        </a:spcAft>
                      </a:pPr>
                      <a:r>
                        <a:rPr lang="ru-RU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Фактически положительные</a:t>
                      </a:r>
                      <a:endParaRPr lang="ru-RU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algn="just" defTabSz="914400">
                        <a:lnSpc>
                          <a:spcPct val="115000"/>
                        </a:lnSpc>
                        <a:spcAft>
                          <a:spcPts val="1001"/>
                        </a:spcAft>
                      </a:pPr>
                      <a:r>
                        <a:rPr lang="ru-RU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Фактически отрицательные</a:t>
                      </a:r>
                      <a:endParaRPr lang="ru-RU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1583640">
                <a:tc>
                  <a:txBody>
                    <a:bodyPr lIns="68400" tIns="0" rIns="68400" bIns="0" anchor="t">
                      <a:noAutofit/>
                    </a:bodyPr>
                    <a:p>
                      <a:pPr algn="just" defTabSz="914400">
                        <a:lnSpc>
                          <a:spcPct val="115000"/>
                        </a:lnSpc>
                        <a:spcAft>
                          <a:spcPts val="1001"/>
                        </a:spcAft>
                      </a:pPr>
                      <a:r>
                        <a:rPr lang="ru-RU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Принято решение «Спам» (положительные примеры, </a:t>
                      </a:r>
                      <a:r>
                        <a:rPr lang="en-US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y=1</a:t>
                      </a:r>
                      <a:r>
                        <a:rPr lang="ru-RU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)</a:t>
                      </a:r>
                      <a:endParaRPr lang="ru-RU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algn="just" defTabSz="914400">
                        <a:lnSpc>
                          <a:spcPct val="115000"/>
                        </a:lnSpc>
                        <a:spcAft>
                          <a:spcPts val="1001"/>
                        </a:spcAft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ТР - верно классифицированные положительные примеры (спам распознан как спам)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algn="just" defTabSz="914400">
                        <a:lnSpc>
                          <a:spcPct val="115000"/>
                        </a:lnSpc>
                        <a:spcAft>
                          <a:spcPts val="1001"/>
                        </a:spcAf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FP </a:t>
                      </a: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– ложное обнаружение (ошибка 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 </a:t>
                      </a: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рода), т.е. не спам распознан как спам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1904040">
                <a:tc>
                  <a:txBody>
                    <a:bodyPr lIns="68400" tIns="0" rIns="68400" bIns="0" anchor="t">
                      <a:noAutofit/>
                    </a:bodyPr>
                    <a:p>
                      <a:pPr algn="just" defTabSz="914400">
                        <a:lnSpc>
                          <a:spcPct val="115000"/>
                        </a:lnSpc>
                        <a:spcAft>
                          <a:spcPts val="1001"/>
                        </a:spcAft>
                      </a:pPr>
                      <a:r>
                        <a:rPr lang="ru-RU" sz="14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Принято решение «не спам» (отрицательные примеры, y=0)</a:t>
                      </a:r>
                      <a:endParaRPr lang="ru-RU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algn="just" defTabSz="914400">
                        <a:lnSpc>
                          <a:spcPct val="115000"/>
                        </a:lnSpc>
                        <a:spcAft>
                          <a:spcPts val="1001"/>
                        </a:spcAf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FN </a:t>
                      </a: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– положительные примеры которые классифицированы как отрицательные (ошибка 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II </a:t>
                      </a: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рода), т.е. спам распознан как не спам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algn="just" defTabSz="914400">
                        <a:lnSpc>
                          <a:spcPct val="115000"/>
                        </a:lnSpc>
                        <a:spcAft>
                          <a:spcPts val="1001"/>
                        </a:spcAft>
                      </a:pP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Т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</a:t>
                      </a:r>
                      <a:r>
                        <a:rPr lang="ru-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- верно классифицированные отрицательные примеры (не спам распознан как не спам)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9" name="Объект 4"/>
          <p:cNvGraphicFramePr/>
          <p:nvPr/>
        </p:nvGraphicFramePr>
        <p:xfrm>
          <a:off x="611640" y="5168520"/>
          <a:ext cx="2881440" cy="852480"/>
        </p:xfrm>
        <a:graphic>
          <a:graphicData uri="http://schemas.openxmlformats.org/presentationml/2006/ole">
            <p:oleObj progId="Equation.DSMT4" r:id="rId1" spid="">
              <p:embed/>
              <p:pic>
                <p:nvPicPr>
                  <p:cNvPr id="120" name="Объект 4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611640" y="5168520"/>
                    <a:ext cx="2881440" cy="8524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21" name="Объект 5"/>
          <p:cNvGraphicFramePr/>
          <p:nvPr/>
        </p:nvGraphicFramePr>
        <p:xfrm>
          <a:off x="4329000" y="5157360"/>
          <a:ext cx="2936520" cy="852120"/>
        </p:xfrm>
        <a:graphic>
          <a:graphicData uri="http://schemas.openxmlformats.org/presentationml/2006/ole">
            <p:oleObj progId="Equation.DSMT4" r:id="rId3" spid="">
              <p:embed/>
              <p:pic>
                <p:nvPicPr>
                  <p:cNvPr id="122" name="Объект 5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4329000" y="5157360"/>
                    <a:ext cx="2936520" cy="8521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23" name="Объект 6"/>
          <p:cNvGraphicFramePr/>
          <p:nvPr/>
        </p:nvGraphicFramePr>
        <p:xfrm>
          <a:off x="773280" y="6191280"/>
          <a:ext cx="2304720" cy="385560"/>
        </p:xfrm>
        <a:graphic>
          <a:graphicData uri="http://schemas.openxmlformats.org/presentationml/2006/ole">
            <p:oleObj progId="Equation.DSMT4" r:id="rId5" spid="">
              <p:embed/>
              <p:pic>
                <p:nvPicPr>
                  <p:cNvPr id="124" name="Объект 6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773280" y="6191280"/>
                    <a:ext cx="2304720" cy="3855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25" name="Объект 7"/>
          <p:cNvGraphicFramePr/>
          <p:nvPr/>
        </p:nvGraphicFramePr>
        <p:xfrm>
          <a:off x="4329000" y="6191280"/>
          <a:ext cx="2304720" cy="385560"/>
        </p:xfrm>
        <a:graphic>
          <a:graphicData uri="http://schemas.openxmlformats.org/presentationml/2006/ole">
            <p:oleObj progId="Equation.DSMT4" r:id="rId7" spid="">
              <p:embed/>
              <p:pic>
                <p:nvPicPr>
                  <p:cNvPr id="126" name="Объект 7"/>
                  <p:cNvPicPr/>
                  <p:nvPr/>
                </p:nvPicPr>
                <p:blipFill>
                  <a:blip r:embed="rId8"/>
                  <a:stretch/>
                </p:blipFill>
                <p:spPr>
                  <a:xfrm>
                    <a:off x="4329000" y="6191280"/>
                    <a:ext cx="2304720" cy="3855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Метрики качества (1)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107640" y="1600200"/>
            <a:ext cx="8928720" cy="50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111111"/>
                </a:solidFill>
                <a:effectLst/>
                <a:uFillTx/>
                <a:latin typeface="Verdana"/>
              </a:rPr>
              <a:t>Метрика Accuracy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222222"/>
                </a:solidFill>
                <a:effectLst/>
                <a:uFillTx/>
                <a:latin typeface="Verdana"/>
              </a:rPr>
              <a:t>Accuracy — это показатель, который описывает общую точность предсказания модели по всем классам. Это особенно полезно, когда каждый класс одинаково важен. Он рассчитывается как отношение количества правильных прогнозов к их общему количеству.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222222"/>
                </a:solidFill>
                <a:effectLst/>
                <a:uFillTx/>
                <a:latin typeface="Verdana"/>
              </a:rPr>
              <a:t>Стоит учесть, что метрика accuracy может быть обманчивой. Один из таких случаев — это несбалансированные данные. Предположим, у нас есть всего 600 единиц данных, из которых 550 относятся к классу Positive и только 50 — к Negative. Поскольку большинство семплов принадлежит к одному классу, accuracy для этого класса будет выше, чем для другого.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9" name="Рисунок 5"/>
          <p:cNvPicPr/>
          <p:nvPr/>
        </p:nvPicPr>
        <p:blipFill>
          <a:blip r:embed="rId1"/>
          <a:stretch/>
        </p:blipFill>
        <p:spPr>
          <a:xfrm>
            <a:off x="323640" y="5805360"/>
            <a:ext cx="3472560" cy="662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Метрики качества (2)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650800" cy="391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111111"/>
                </a:solidFill>
                <a:effectLst/>
                <a:uFillTx/>
                <a:latin typeface="Verdana"/>
              </a:rPr>
              <a:t>Метрики </a:t>
            </a: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Verdana"/>
              </a:rPr>
              <a:t>Precision</a:t>
            </a:r>
            <a:r>
              <a:rPr lang="ru-RU" sz="3200" b="1" u="none" strike="noStrike">
                <a:solidFill>
                  <a:srgbClr val="111111"/>
                </a:solidFill>
                <a:effectLst/>
                <a:uFillTx/>
                <a:latin typeface="Verdana"/>
              </a:rPr>
              <a:t> (</a:t>
            </a:r>
            <a:r>
              <a:rPr lang="ru-RU" sz="3200" b="0" u="none" strike="noStrike">
                <a:solidFill>
                  <a:srgbClr val="3F3F3F"/>
                </a:solidFill>
                <a:effectLst/>
                <a:uFillTx/>
                <a:latin typeface="Rubik"/>
              </a:rPr>
              <a:t>показывает количество истинно положительных исходов из всего набора положительных меток</a:t>
            </a:r>
            <a:r>
              <a:rPr lang="ru-RU" sz="3200" b="1" u="none" strike="noStrike">
                <a:solidFill>
                  <a:srgbClr val="111111"/>
                </a:solidFill>
                <a:effectLst/>
                <a:uFillTx/>
                <a:latin typeface="Verdana"/>
              </a:rPr>
              <a:t>)</a:t>
            </a: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Verdana"/>
              </a:rPr>
              <a:t> </a:t>
            </a:r>
            <a:r>
              <a:rPr lang="ru-RU" sz="3200" b="1" u="none" strike="noStrike">
                <a:solidFill>
                  <a:srgbClr val="111111"/>
                </a:solidFill>
                <a:effectLst/>
                <a:uFillTx/>
                <a:latin typeface="Verdana"/>
              </a:rPr>
              <a:t>и </a:t>
            </a: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Verdana"/>
              </a:rPr>
              <a:t>Recall</a:t>
            </a:r>
            <a:r>
              <a:rPr lang="ru-RU" sz="3200" b="1" u="none" strike="noStrike">
                <a:solidFill>
                  <a:srgbClr val="111111"/>
                </a:solidFill>
                <a:effectLst/>
                <a:uFillTx/>
                <a:latin typeface="Verdana"/>
              </a:rPr>
              <a:t> (</a:t>
            </a:r>
            <a:r>
              <a:rPr lang="ru-RU" sz="3200" b="0" u="none" strike="noStrike">
                <a:solidFill>
                  <a:srgbClr val="3F3F3F"/>
                </a:solidFill>
                <a:effectLst/>
                <a:uFillTx/>
                <a:latin typeface="Rubik"/>
              </a:rPr>
              <a:t>определяет количество истинно положительных среди всех меток класса, которые были определены как «положительный»</a:t>
            </a:r>
            <a:r>
              <a:rPr lang="ru-RU" sz="3200" b="1" u="none" strike="noStrike">
                <a:solidFill>
                  <a:srgbClr val="111111"/>
                </a:solidFill>
                <a:effectLst/>
                <a:uFillTx/>
                <a:latin typeface="Verdana"/>
              </a:rPr>
              <a:t>), </a:t>
            </a:r>
            <a:r>
              <a:rPr lang="ru-RU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F1-мера</a:t>
            </a:r>
            <a:r>
              <a:rPr lang="ru-RU" sz="3200" b="1" u="none" strike="noStrike">
                <a:solidFill>
                  <a:srgbClr val="111111"/>
                </a:solidFill>
                <a:effectLst/>
                <a:uFillTx/>
                <a:latin typeface="Verdana"/>
              </a:rPr>
              <a:t>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 случае пары Precision-Recall существует популярный способ скомпоновать их в одну метрику - взять их среднее гармоническое. Данный показатель эффективности носит название F1-мера.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2" name="Рисунок 4"/>
          <p:cNvPicPr/>
          <p:nvPr/>
        </p:nvPicPr>
        <p:blipFill>
          <a:blip r:embed="rId1"/>
          <a:stretch/>
        </p:blipFill>
        <p:spPr>
          <a:xfrm>
            <a:off x="395640" y="2909880"/>
            <a:ext cx="3771720" cy="103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Рисунок 6"/>
          <p:cNvPicPr/>
          <p:nvPr/>
        </p:nvPicPr>
        <p:blipFill>
          <a:blip r:embed="rId2"/>
          <a:stretch/>
        </p:blipFill>
        <p:spPr>
          <a:xfrm>
            <a:off x="4791600" y="2781000"/>
            <a:ext cx="3352320" cy="104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Рисунок 8"/>
          <p:cNvPicPr/>
          <p:nvPr/>
        </p:nvPicPr>
        <p:blipFill>
          <a:blip r:embed="rId3"/>
          <a:stretch/>
        </p:blipFill>
        <p:spPr>
          <a:xfrm>
            <a:off x="2933280" y="5138280"/>
            <a:ext cx="3716280" cy="1273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-3063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Метрики качества (3)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323640" y="606240"/>
            <a:ext cx="8229240" cy="283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ROC (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receiver operating characteristic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 AUC (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area under the curve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 – площадь под ROC-кривой – часто используют для оценивания качества упорядочивания алгоритмом объектов двух классов, значение лежит на отрезке [0, 1]. 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Идеальному случаю соответствует ROC-кривая, проходящая через точку (0, 1), площадь под ней равна 1. Наихудшему – ROC-кривая, проходящая через точку (1, 0), площадь под ней – 0. Случайному – что-то похожее на диагональ квадрата, площадь примерно равна 0.5.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roc_auc_score ()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6"/>
          <p:cNvSpPr/>
          <p:nvPr/>
        </p:nvSpPr>
        <p:spPr>
          <a:xfrm>
            <a:off x="323640" y="2997000"/>
            <a:ext cx="8517240" cy="28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Свойства ROC-AUC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Значение ROC-AUC варьируется от 0 до 1.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1.0 — идеальное ранжирование (идеальная модель).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0.5 — случайное ранжирование (модель не различает классы).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Ниже 0.5 — модель путает классы, ошибается противоположным образом.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ROC-кривая строится как зависимость True Positive (TP) от False Positive (FP) для различных порогов отсечения. Площадь под этой кривой (AUC) и есть итоговая оценка качества ранжирования модели. Если положительные примеры чаще располагаются выше отрицательных по предсказаниям модели, то ROC-AUC будет стремиться к 1.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395640" y="-172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Задание с НЭ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9" name="Рисунок 3"/>
          <p:cNvPicPr/>
          <p:nvPr/>
        </p:nvPicPr>
        <p:blipFill>
          <a:blip r:embed="rId1"/>
          <a:stretch/>
        </p:blipFill>
        <p:spPr>
          <a:xfrm>
            <a:off x="518760" y="908640"/>
            <a:ext cx="7773120" cy="277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Box 5"/>
          <p:cNvSpPr/>
          <p:nvPr/>
        </p:nvSpPr>
        <p:spPr>
          <a:xfrm>
            <a:off x="381960" y="3715200"/>
            <a:ext cx="4824000" cy="24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Положительные объекты: 0.7, 0.45 для них метка +1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Размер положительного класса равен 2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Отрицательные объекты: 0.6, 0.3, 0.92 для них метка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0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, размер отрицательного класса равен 3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br>
              <a:rPr sz="1800"/>
            </a:b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" name="Рисунок 4"/>
          <p:cNvPicPr/>
          <p:nvPr/>
        </p:nvPicPr>
        <p:blipFill>
          <a:blip r:embed="rId2"/>
          <a:stretch/>
        </p:blipFill>
        <p:spPr>
          <a:xfrm>
            <a:off x="251640" y="4591800"/>
            <a:ext cx="3936960" cy="78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Рисунок 7"/>
          <p:cNvPicPr/>
          <p:nvPr/>
        </p:nvPicPr>
        <p:blipFill>
          <a:blip r:embed="rId3"/>
          <a:stretch/>
        </p:blipFill>
        <p:spPr>
          <a:xfrm>
            <a:off x="5580000" y="3715200"/>
            <a:ext cx="2915280" cy="301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Объект 8"/>
          <p:cNvSpPr/>
          <p:nvPr/>
        </p:nvSpPr>
        <p:spPr>
          <a:xfrm>
            <a:off x="381960" y="5838840"/>
            <a:ext cx="1561680" cy="40248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Объект 11"/>
          <p:cNvSpPr/>
          <p:nvPr/>
        </p:nvSpPr>
        <p:spPr>
          <a:xfrm>
            <a:off x="417600" y="6275520"/>
            <a:ext cx="1489680" cy="40248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15"/>
          <p:cNvSpPr/>
          <p:nvPr/>
        </p:nvSpPr>
        <p:spPr>
          <a:xfrm>
            <a:off x="5485680" y="3170160"/>
            <a:ext cx="45716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ROC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AUC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=0.5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9"/>
          <p:cNvSpPr/>
          <p:nvPr/>
        </p:nvSpPr>
        <p:spPr>
          <a:xfrm>
            <a:off x="1800000" y="5490360"/>
            <a:ext cx="333252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Порог 1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: FP = 0, TP=0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Порог 0.9: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FP = 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1:3=0.33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, TP=0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Порог 0.7: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FP = 0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.33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, TP=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1:2=0.5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Порог 0.6: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FP = 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2:3=0.66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, TP=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0.5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Порог 0.4: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FP = 0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.66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, TP=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2:2=1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Порог 0.3: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FP = 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1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, TP=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1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Задание с НЭ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8" name="Рисунок 3"/>
          <p:cNvPicPr/>
          <p:nvPr/>
        </p:nvPicPr>
        <p:blipFill>
          <a:blip r:embed="rId1"/>
          <a:stretch/>
        </p:blipFill>
        <p:spPr>
          <a:xfrm>
            <a:off x="490320" y="1498680"/>
            <a:ext cx="8114760" cy="268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TextBox 5"/>
          <p:cNvSpPr/>
          <p:nvPr/>
        </p:nvSpPr>
        <p:spPr>
          <a:xfrm>
            <a:off x="539640" y="4437000"/>
            <a:ext cx="842472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fkGroteskNeue"/>
              </a:rPr>
              <a:t>Метрика MAPE (Mean Absolute Percentage Error) — это средняя абсолютная процентная ошибка, которая используется для оценки точности прогностических моделей. Она показывает, насколько в среднем предсказанные значения отличаются от фактических в процентах.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Пример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0" algn="just" defTabSz="914400">
              <a:lnSpc>
                <a:spcPct val="15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В файле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titanic.csv  (</a:t>
            </a:r>
            <a:r>
              <a:rPr lang="ru-RU" sz="1800" b="0" u="sng" strike="noStrike">
                <a:solidFill>
                  <a:srgbClr val="0000FF"/>
                </a:solidFill>
                <a:effectLst/>
                <a:uFillTx/>
                <a:latin typeface="Calibri"/>
                <a:ea typeface="Calibri"/>
                <a:hlinkClick r:id="rId1"/>
              </a:rPr>
              <a:t> </a:t>
            </a:r>
            <a:r>
              <a:rPr lang="ru-RU" sz="1400" b="0" u="sng" strike="noStrike">
                <a:solidFill>
                  <a:srgbClr val="0000FF"/>
                </a:solidFill>
                <a:effectLst/>
                <a:uFillTx/>
                <a:latin typeface="Calibri"/>
                <a:ea typeface="Calibri"/>
                <a:hlinkClick r:id="rId2"/>
              </a:rPr>
              <a:t>https://drive.google.com/file/d/1YlFndB4HtoRoidGNyO9kmtrIfyLnHuXX/view?usp=sharing</a:t>
            </a:r>
            <a:r>
              <a:rPr lang="ru-RU" sz="1400" b="0" u="sng" strike="noStrike">
                <a:solidFill>
                  <a:srgbClr val="0000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ru-RU" sz="1800" b="0" u="sng" strike="noStrike">
                <a:solidFill>
                  <a:srgbClr val="0000FF"/>
                </a:solidFill>
                <a:effectLst/>
                <a:uFillTx/>
                <a:latin typeface="Calibri"/>
                <a:ea typeface="Calibri"/>
              </a:rPr>
              <a:t>)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есть набор данных из 891 строки, включающий в себя: id пассажира, класс каюты, имя, возраст, пол, и самое важное – выжил ли пассажир Титаника или нет. 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Цель – найти показатели качества для задачи бинарной классификации (выжил пассажир или нет), сделать выводы. С кодом можно ознакомиться по ссылке titanic.ipynb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ru-RU" sz="1400" b="0" u="sng" strike="noStrike">
                <a:solidFill>
                  <a:srgbClr val="0000FF"/>
                </a:solidFill>
                <a:effectLst/>
                <a:uFillTx/>
                <a:latin typeface="Calibri"/>
                <a:ea typeface="Calibri"/>
                <a:hlinkClick r:id="rId3"/>
              </a:rPr>
              <a:t>https://drive.google.com/file/d/1yWh-OHgGsClzQxgqfCqRBoYlKwBzX3oS/view?usp=sharing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52788</TotalTime>
  <Application>LibreOffice/26.2.4.2$Windows_X86_64 LibreOffice_project/0229ac93fcf0d7cbc6376066c6f35021cef002dc</Application>
  <AppVersion>15.0000</AppVersion>
  <Words>2070</Words>
  <Paragraphs>168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2020-11-30T08:31:50Z</dcterms:created>
  <dc:creator>Lyudmila</dc:creator>
  <dc:description/>
  <dc:language>ru-RU</dc:language>
  <cp:lastModifiedBy/>
  <cp:lastPrinted>2025-02-24T09:06:07Z</cp:lastPrinted>
  <dcterms:modified xsi:type="dcterms:W3CDTF">2026-09-25T15:43:40Z</dcterms:modified>
  <cp:revision>71</cp:revision>
  <dc:subject/>
  <dc:title>Списки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Экран (4:3)</vt:lpwstr>
  </property>
  <property fmtid="{D5CDD505-2E9C-101B-9397-08002B2CF9AE}" pid="4" name="Slides">
    <vt:i4>34</vt:i4>
  </property>
</Properties>
</file>