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перемещения страницы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097E7A8-AE30-4345-902C-CAE0E63CBB17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86FB7A-8138-4846-A84B-99540986D4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5352B7-FE07-4195-9CBA-072BA44489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1BA2D53-D962-42F3-97A1-7E301A13B6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48ED6A5-9141-426D-8704-2DA22807D1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2457FD2-6EFB-41F9-BEA5-99924A8B46A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30B4D0-90E5-43F3-89F0-17CCB12494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6F4EF2-16F8-409E-953F-222A4104B2B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AD9E61-2F3B-4B8C-8896-85E8F69618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7B4FFB-C23B-4E65-887B-A67D350859C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620776E-8D5A-4C37-B60E-2D3A8B8BE4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30ECCC6-27E4-447C-842A-CB7C4B4FAE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D18495-A9CF-4E5C-AF2C-B87D1421A1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EFDA4CD-B727-48E4-95E9-7FC5FBAC077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8F4BA0E-3CBE-4289-B397-06EF16D1D9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7A113D8-0345-4E86-BCA8-D456A40BB99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FA88EA2-FED4-482C-B224-EF4C44F48D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0EB5C0B-93B5-47EB-AF12-2CDE48F060E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FD1F9A-F035-468E-B29F-ADCA81B587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E08BCFC-1845-482E-8319-CCED4CF251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2EAE007-8D86-49EE-9403-BD942C80D11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3B78C2-76C2-4B77-A761-7A079D5B22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857DBB0-2B7A-473E-B599-786AC1489A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0A7B0F1-8C00-4BBA-AECD-89ADBE3623B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1884400-C2C2-4F7C-BC32-2D29B52E0E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B7F3EFE-C846-4B04-8DD7-08BA0D2243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E4B33C-96F2-4141-88C7-117DC518A36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50D70DA-8484-4A78-A73D-D685E74F0A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hyperlink" Target="https://datasetsearch.research.google.com/" TargetMode="External"/><Relationship Id="rId3" Type="http://schemas.openxmlformats.org/officeDocument/2006/relationships/image" Target="../media/image14.png"/><Relationship Id="rId4" Type="http://schemas.openxmlformats.org/officeDocument/2006/relationships/hyperlink" Target="https://www.kaggle.com/" TargetMode="External"/><Relationship Id="rId5" Type="http://schemas.openxmlformats.org/officeDocument/2006/relationships/image" Target="../media/image14.png"/><Relationship Id="rId6" Type="http://schemas.openxmlformats.org/officeDocument/2006/relationships/hyperlink" Target="https://rosstat.gov.ru/" TargetMode="External"/><Relationship Id="rId7" Type="http://schemas.openxmlformats.org/officeDocument/2006/relationships/image" Target="../media/image14.png"/><Relationship Id="rId8" Type="http://schemas.openxmlformats.org/officeDocument/2006/relationships/hyperlink" Target="https://huggingface.co/datasets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17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897040" y="-2011680"/>
            <a:ext cx="5942520" cy="594252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22960" y="1874520"/>
            <a:ext cx="8228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9AA0DE"/>
                </a:solidFill>
                <a:effectLst/>
                <a:uFillTx/>
                <a:latin typeface="Cambria"/>
                <a:ea typeface="Cambria"/>
              </a:rPr>
              <a:t>АНАЛИЗ ДАННЫХ И МАШИННОЕ ОБУЧЕНИЕ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22960" y="2331720"/>
            <a:ext cx="960012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Основные понятия.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Обработка данных.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400"/>
              </a:lnSpc>
              <a:tabLst>
                <a:tab pos="0" algn="l"/>
              </a:tabLst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Pandas.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5400"/>
              </a:lnSpc>
              <a:tabLst>
                <a:tab pos="0" algn="l"/>
              </a:tabLst>
            </a:pP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4206240"/>
            <a:ext cx="54853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Савченко Людмила Васильевна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Доцент кафедры ИСиТ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2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lsavchenko@hse.ru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8897040" y="-2011680"/>
            <a:ext cx="5942520" cy="594252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2"/>
          <p:cNvSpPr/>
          <p:nvPr/>
        </p:nvSpPr>
        <p:spPr>
          <a:xfrm>
            <a:off x="868680" y="3977640"/>
            <a:ext cx="867600" cy="8676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0" descr="/home/claude/work/icons/database.png"/>
          <p:cNvPicPr/>
          <p:nvPr/>
        </p:nvPicPr>
        <p:blipFill>
          <a:blip r:embed="rId1"/>
          <a:stretch/>
        </p:blipFill>
        <p:spPr>
          <a:xfrm>
            <a:off x="990360" y="4099320"/>
            <a:ext cx="624240" cy="62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Text 3"/>
          <p:cNvSpPr/>
          <p:nvPr/>
        </p:nvSpPr>
        <p:spPr>
          <a:xfrm>
            <a:off x="1965960" y="3977640"/>
            <a:ext cx="86857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Данные и их качество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68680" y="4892040"/>
            <a:ext cx="9600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Что такое данные, откуда они берутся и почему их качество определяет результат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ДАННЫЕ И ИХ КАЧЕСТВО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Основные понятия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40080" y="178308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" name="Image 0" descr="/home/claude/work/icons/activity.png"/>
          <p:cNvPicPr/>
          <p:nvPr/>
        </p:nvPicPr>
        <p:blipFill>
          <a:blip r:embed="rId1"/>
          <a:stretch/>
        </p:blipFill>
        <p:spPr>
          <a:xfrm>
            <a:off x="710640" y="18536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Text 4"/>
          <p:cNvSpPr/>
          <p:nvPr/>
        </p:nvSpPr>
        <p:spPr>
          <a:xfrm>
            <a:off x="1398960" y="175572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Анализ данных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5"/>
          <p:cNvSpPr/>
          <p:nvPr/>
        </p:nvSpPr>
        <p:spPr>
          <a:xfrm>
            <a:off x="1398960" y="2103120"/>
            <a:ext cx="4360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Процесс сбора, очистки, преобразования и исследования информации для поиска полезных закономерностей, проверки гипотез и принятия точных решений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6"/>
          <p:cNvSpPr/>
          <p:nvPr/>
        </p:nvSpPr>
        <p:spPr>
          <a:xfrm>
            <a:off x="640080" y="27432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/home/claude/work/icons/gitbranch.png"/>
          <p:cNvPicPr/>
          <p:nvPr/>
        </p:nvPicPr>
        <p:blipFill>
          <a:blip r:embed="rId2"/>
          <a:stretch/>
        </p:blipFill>
        <p:spPr>
          <a:xfrm>
            <a:off x="710640" y="28137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7"/>
          <p:cNvSpPr/>
          <p:nvPr/>
        </p:nvSpPr>
        <p:spPr>
          <a:xfrm>
            <a:off x="1398960" y="271584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Алгоритм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8"/>
          <p:cNvSpPr/>
          <p:nvPr/>
        </p:nvSpPr>
        <p:spPr>
          <a:xfrm>
            <a:off x="1398960" y="3063240"/>
            <a:ext cx="4360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Чёткая последовательность правил: «если A, то B»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640080" y="370332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2" descr="/home/claude/work/icons/settings.png"/>
          <p:cNvPicPr/>
          <p:nvPr/>
        </p:nvPicPr>
        <p:blipFill>
          <a:blip r:embed="rId3"/>
          <a:stretch/>
        </p:blipFill>
        <p:spPr>
          <a:xfrm>
            <a:off x="710640" y="377388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Text 10"/>
          <p:cNvSpPr/>
          <p:nvPr/>
        </p:nvSpPr>
        <p:spPr>
          <a:xfrm>
            <a:off x="1398960" y="367596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Автоматизация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1398960" y="4023360"/>
            <a:ext cx="4360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Исполнение заранее заданного процесса; правила не меняются сами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2"/>
          <p:cNvSpPr/>
          <p:nvPr/>
        </p:nvSpPr>
        <p:spPr>
          <a:xfrm>
            <a:off x="6263640" y="178308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Image 3" descr="/home/claude/work/icons/cpu.png"/>
          <p:cNvPicPr/>
          <p:nvPr/>
        </p:nvPicPr>
        <p:blipFill>
          <a:blip r:embed="rId4"/>
          <a:stretch/>
        </p:blipFill>
        <p:spPr>
          <a:xfrm>
            <a:off x="6334200" y="18536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 13"/>
          <p:cNvSpPr/>
          <p:nvPr/>
        </p:nvSpPr>
        <p:spPr>
          <a:xfrm>
            <a:off x="7022520" y="175572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Машинное обучение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4"/>
          <p:cNvSpPr/>
          <p:nvPr/>
        </p:nvSpPr>
        <p:spPr>
          <a:xfrm>
            <a:off x="7022520" y="2103120"/>
            <a:ext cx="4360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Модель находит закономерности в примерах и применяет их к новым случаям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5"/>
          <p:cNvSpPr/>
          <p:nvPr/>
        </p:nvSpPr>
        <p:spPr>
          <a:xfrm>
            <a:off x="6263640" y="27432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Image 4" descr="/home/claude/work/icons/zap.png"/>
          <p:cNvPicPr/>
          <p:nvPr/>
        </p:nvPicPr>
        <p:blipFill>
          <a:blip r:embed="rId5"/>
          <a:stretch/>
        </p:blipFill>
        <p:spPr>
          <a:xfrm>
            <a:off x="6334200" y="28137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" name="Text 16"/>
          <p:cNvSpPr/>
          <p:nvPr/>
        </p:nvSpPr>
        <p:spPr>
          <a:xfrm>
            <a:off x="7022520" y="271584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Генеративный ИИ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7022520" y="3063240"/>
            <a:ext cx="4360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Тип моделей, создающих новый текст, изображения, звук, видео или код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ДАННЫЕ И ИХ КАЧЕСТВО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Данные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640080" y="1783080"/>
            <a:ext cx="10880280" cy="173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Любая модель начинается с данных.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Данные — зафиксированные наблюдения: числа, текст, изображения, аудио, видео, клики, транзакции и события.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Обычно данные хранятся в базах данных; открытые данные публикуются для повторного использования по заданным условиям и лицензии.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«Большие данные» — не просто много файлов, а ситуация, где объём, скорость поступления или разнообразие требуют специальной инфраструктуры и методов.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640080" y="361188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ТИПЫ ДАННЫХ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640080" y="3977640"/>
            <a:ext cx="3427920" cy="2239200"/>
          </a:xfrm>
          <a:prstGeom prst="roundRect">
            <a:avLst>
              <a:gd name="adj" fmla="val 4898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6"/>
          <p:cNvSpPr/>
          <p:nvPr/>
        </p:nvSpPr>
        <p:spPr>
          <a:xfrm>
            <a:off x="914400" y="4251960"/>
            <a:ext cx="2879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038B8"/>
                </a:solidFill>
                <a:effectLst/>
                <a:uFillTx/>
                <a:latin typeface="Calibri"/>
                <a:ea typeface="Calibri"/>
              </a:rPr>
              <a:t>Структурированные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7"/>
          <p:cNvSpPr/>
          <p:nvPr/>
        </p:nvSpPr>
        <p:spPr>
          <a:xfrm>
            <a:off x="914400" y="4892040"/>
            <a:ext cx="28792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Таблица: строки, столбцы, числа и категории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8"/>
          <p:cNvSpPr/>
          <p:nvPr/>
        </p:nvSpPr>
        <p:spPr>
          <a:xfrm>
            <a:off x="4361760" y="3977640"/>
            <a:ext cx="3427920" cy="2239200"/>
          </a:xfrm>
          <a:prstGeom prst="roundRect">
            <a:avLst>
              <a:gd name="adj" fmla="val 4898"/>
            </a:avLst>
          </a:prstGeom>
          <a:solidFill>
            <a:srgbClr val="F2F3FA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9"/>
          <p:cNvSpPr/>
          <p:nvPr/>
        </p:nvSpPr>
        <p:spPr>
          <a:xfrm>
            <a:off x="4636080" y="4251960"/>
            <a:ext cx="2879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038B8"/>
                </a:solidFill>
                <a:effectLst/>
                <a:uFillTx/>
                <a:latin typeface="Calibri"/>
                <a:ea typeface="Calibri"/>
              </a:rPr>
              <a:t>Полуструктурированные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4636080" y="4892040"/>
            <a:ext cx="28792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JSON, XML, логи: есть схема, но не фиксированная таблица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8083440" y="3977640"/>
            <a:ext cx="3427920" cy="2239200"/>
          </a:xfrm>
          <a:prstGeom prst="roundRect">
            <a:avLst>
              <a:gd name="adj" fmla="val 4898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8357760" y="4251960"/>
            <a:ext cx="2879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4038B8"/>
                </a:solidFill>
                <a:effectLst/>
                <a:uFillTx/>
                <a:latin typeface="Calibri"/>
                <a:ea typeface="Calibri"/>
              </a:rPr>
              <a:t>Неструктурированные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8357760" y="4892040"/>
            <a:ext cx="2879280" cy="109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Текст, изображение, аудио, видео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Рисунок 6"/>
          <p:cNvPicPr/>
          <p:nvPr/>
        </p:nvPicPr>
        <p:blipFill>
          <a:blip r:embed="rId1"/>
          <a:stretch/>
        </p:blipFill>
        <p:spPr>
          <a:xfrm>
            <a:off x="5991840" y="1393200"/>
            <a:ext cx="5491440" cy="2930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" name="Рисунок 8"/>
          <p:cNvPicPr/>
          <p:nvPr/>
        </p:nvPicPr>
        <p:blipFill>
          <a:blip r:embed="rId2"/>
          <a:stretch/>
        </p:blipFill>
        <p:spPr>
          <a:xfrm>
            <a:off x="838440" y="1541880"/>
            <a:ext cx="3485880" cy="2781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Рисунок 9"/>
          <p:cNvPicPr/>
          <p:nvPr/>
        </p:nvPicPr>
        <p:blipFill>
          <a:blip r:embed="rId3"/>
          <a:stretch/>
        </p:blipFill>
        <p:spPr>
          <a:xfrm>
            <a:off x="1388880" y="4493880"/>
            <a:ext cx="2220480" cy="2220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Рисунок 10"/>
          <p:cNvPicPr/>
          <p:nvPr/>
        </p:nvPicPr>
        <p:blipFill>
          <a:blip r:embed="rId4"/>
          <a:stretch/>
        </p:blipFill>
        <p:spPr>
          <a:xfrm>
            <a:off x="6096240" y="4493880"/>
            <a:ext cx="4395600" cy="226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/>
          <p:nvPr/>
        </p:nvSpPr>
        <p:spPr>
          <a:xfrm>
            <a:off x="1260000" y="221040"/>
            <a:ext cx="5759280" cy="71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Данные (примеры)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ДАННЫЕ И ИХ КАЧЕСТВО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Способы получения данных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"/>
          <p:cNvSpPr/>
          <p:nvPr/>
        </p:nvSpPr>
        <p:spPr>
          <a:xfrm>
            <a:off x="640080" y="1783080"/>
            <a:ext cx="5119560" cy="196488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4"/>
          <p:cNvSpPr/>
          <p:nvPr/>
        </p:nvSpPr>
        <p:spPr>
          <a:xfrm>
            <a:off x="914400" y="20574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6" name="Image 0" descr="/home/claude/work/icons/database.png"/>
          <p:cNvPicPr/>
          <p:nvPr/>
        </p:nvPicPr>
        <p:blipFill>
          <a:blip r:embed="rId1"/>
          <a:stretch/>
        </p:blipFill>
        <p:spPr>
          <a:xfrm>
            <a:off x="984960" y="21279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 5"/>
          <p:cNvSpPr/>
          <p:nvPr/>
        </p:nvSpPr>
        <p:spPr>
          <a:xfrm>
            <a:off x="1600200" y="2039040"/>
            <a:ext cx="3930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Открытые датасеты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960120" y="2651760"/>
            <a:ext cx="4525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Kaggle и прочие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Сайты статистики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Энтузиасты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7"/>
          <p:cNvSpPr/>
          <p:nvPr/>
        </p:nvSpPr>
        <p:spPr>
          <a:xfrm>
            <a:off x="6263640" y="1783080"/>
            <a:ext cx="5119560" cy="196488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6537960" y="20574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Image 1" descr="/home/claude/work/icons/refreshcw.png"/>
          <p:cNvPicPr/>
          <p:nvPr/>
        </p:nvPicPr>
        <p:blipFill>
          <a:blip r:embed="rId2"/>
          <a:stretch/>
        </p:blipFill>
        <p:spPr>
          <a:xfrm>
            <a:off x="6608520" y="21279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9"/>
          <p:cNvSpPr/>
          <p:nvPr/>
        </p:nvSpPr>
        <p:spPr>
          <a:xfrm>
            <a:off x="7223760" y="2039040"/>
            <a:ext cx="3930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Автоматизированный сбор данных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6583680" y="2651760"/>
            <a:ext cx="4525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Легальные API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640080" y="4069080"/>
            <a:ext cx="5119560" cy="196488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914400" y="43434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6" name="Image 2" descr="/home/claude/work/icons/users.png"/>
          <p:cNvPicPr/>
          <p:nvPr/>
        </p:nvPicPr>
        <p:blipFill>
          <a:blip r:embed="rId3"/>
          <a:stretch/>
        </p:blipFill>
        <p:spPr>
          <a:xfrm>
            <a:off x="984960" y="44139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Text 13"/>
          <p:cNvSpPr/>
          <p:nvPr/>
        </p:nvSpPr>
        <p:spPr>
          <a:xfrm>
            <a:off x="1600200" y="4325040"/>
            <a:ext cx="3930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Краудсорсинг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4"/>
          <p:cNvSpPr/>
          <p:nvPr/>
        </p:nvSpPr>
        <p:spPr>
          <a:xfrm>
            <a:off x="960120" y="4937760"/>
            <a:ext cx="4525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Толока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5"/>
          <p:cNvSpPr/>
          <p:nvPr/>
        </p:nvSpPr>
        <p:spPr>
          <a:xfrm>
            <a:off x="6263640" y="4069080"/>
            <a:ext cx="5119560" cy="1964880"/>
          </a:xfrm>
          <a:prstGeom prst="roundRect">
            <a:avLst>
              <a:gd name="adj" fmla="val 5581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6"/>
          <p:cNvSpPr/>
          <p:nvPr/>
        </p:nvSpPr>
        <p:spPr>
          <a:xfrm>
            <a:off x="6537960" y="43434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" name="Image 3" descr="/home/claude/work/icons/briefcase.png"/>
          <p:cNvPicPr/>
          <p:nvPr/>
        </p:nvPicPr>
        <p:blipFill>
          <a:blip r:embed="rId4"/>
          <a:stretch/>
        </p:blipFill>
        <p:spPr>
          <a:xfrm>
            <a:off x="6608520" y="44139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Text 17"/>
          <p:cNvSpPr/>
          <p:nvPr/>
        </p:nvSpPr>
        <p:spPr>
          <a:xfrm>
            <a:off x="7223760" y="4325040"/>
            <a:ext cx="393084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Покупка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8"/>
          <p:cNvSpPr/>
          <p:nvPr/>
        </p:nvSpPr>
        <p:spPr>
          <a:xfrm>
            <a:off x="6583680" y="4937760"/>
            <a:ext cx="452520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Операторы связи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Интернет-компании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701"/>
              </a:lnSpc>
              <a:spcAft>
                <a:spcPts val="400"/>
              </a:spcAft>
              <a:buClr>
                <a:srgbClr val="20233F"/>
              </a:buClr>
              <a:buFont typeface="Symbol" charset="2"/>
              <a:buChar char=""/>
            </a:pPr>
            <a:r>
              <a:rPr lang="en-US" sz="12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Операторы или агрегаторы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ДАННЫЕ И ИХ КАЧЕСТВО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Открытые источники данных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640080" y="201168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Image 0" descr="/home/claude/work/icons/link.png"/>
          <p:cNvPicPr/>
          <p:nvPr/>
        </p:nvPicPr>
        <p:blipFill>
          <a:blip r:embed="rId1"/>
          <a:stretch/>
        </p:blipFill>
        <p:spPr>
          <a:xfrm>
            <a:off x="716760" y="208836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" name="Text 4"/>
          <p:cNvSpPr/>
          <p:nvPr/>
        </p:nvSpPr>
        <p:spPr>
          <a:xfrm>
            <a:off x="1508760" y="2011680"/>
            <a:ext cx="9600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2"/>
              </a:rPr>
              <a:t>https://datasetsearch.research.google.com/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640080" y="333756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1" descr="/home/claude/work/icons/link.png"/>
          <p:cNvPicPr/>
          <p:nvPr/>
        </p:nvPicPr>
        <p:blipFill>
          <a:blip r:embed="rId3"/>
          <a:stretch/>
        </p:blipFill>
        <p:spPr>
          <a:xfrm>
            <a:off x="716760" y="341424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 6"/>
          <p:cNvSpPr/>
          <p:nvPr/>
        </p:nvSpPr>
        <p:spPr>
          <a:xfrm>
            <a:off x="1508760" y="3337560"/>
            <a:ext cx="9600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4"/>
              </a:rPr>
              <a:t>https://www.kaggle.com/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7"/>
          <p:cNvSpPr/>
          <p:nvPr/>
        </p:nvSpPr>
        <p:spPr>
          <a:xfrm>
            <a:off x="640080" y="46634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" name="Image 2" descr="/home/claude/work/icons/link.png"/>
          <p:cNvPicPr/>
          <p:nvPr/>
        </p:nvPicPr>
        <p:blipFill>
          <a:blip r:embed="rId5"/>
          <a:stretch/>
        </p:blipFill>
        <p:spPr>
          <a:xfrm>
            <a:off x="716760" y="474012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8"/>
          <p:cNvSpPr/>
          <p:nvPr/>
        </p:nvSpPr>
        <p:spPr>
          <a:xfrm>
            <a:off x="1508760" y="4663440"/>
            <a:ext cx="9600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sng" strike="noStrike">
                <a:solidFill>
                  <a:srgbClr val="0563C1"/>
                </a:solidFill>
                <a:effectLst/>
                <a:uFillTx/>
                <a:latin typeface="Calibri"/>
                <a:ea typeface="Calibri"/>
                <a:hlinkClick r:id="rId6"/>
              </a:rPr>
              <a:t>https://rosstat.gov.ru/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"/>
          <p:cNvSpPr/>
          <p:nvPr/>
        </p:nvSpPr>
        <p:spPr>
          <a:xfrm>
            <a:off x="612000" y="59324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9" descr="/home/claude/work/icons/link.png"/>
          <p:cNvPicPr/>
          <p:nvPr/>
        </p:nvPicPr>
        <p:blipFill>
          <a:blip r:embed="rId7"/>
          <a:stretch/>
        </p:blipFill>
        <p:spPr>
          <a:xfrm>
            <a:off x="680760" y="603612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"/>
          <p:cNvSpPr txBox="1"/>
          <p:nvPr/>
        </p:nvSpPr>
        <p:spPr>
          <a:xfrm>
            <a:off x="1334880" y="6084000"/>
            <a:ext cx="3345120" cy="3466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8"/>
              </a:rPr>
              <a:t>https://huggingface.co/datasets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ДАННЫЕ И ИХ КАЧЕСТВО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Качество данных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3"/>
          <p:cNvSpPr/>
          <p:nvPr/>
        </p:nvSpPr>
        <p:spPr>
          <a:xfrm>
            <a:off x="640080" y="1783080"/>
            <a:ext cx="10907640" cy="1004760"/>
          </a:xfrm>
          <a:prstGeom prst="roundRect">
            <a:avLst>
              <a:gd name="adj" fmla="val 10909"/>
            </a:avLst>
          </a:prstGeom>
          <a:solidFill>
            <a:srgbClr val="1B1F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960120" y="1783080"/>
            <a:ext cx="1024020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Garbage In – Garbage Out: </a:t>
            </a:r>
            <a:r>
              <a:rPr lang="en-US" sz="145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модель не становится умнее, чем данные и критерии, по которым её обучают и проверяют.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640080" y="3063240"/>
            <a:ext cx="108802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Модель тем лучше, чем чище данные, но чистых данных почти нет.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640080" y="36576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/home/claude/work/icons/alerttriangle.png"/>
          <p:cNvPicPr/>
          <p:nvPr/>
        </p:nvPicPr>
        <p:blipFill>
          <a:blip r:embed="rId1"/>
          <a:stretch/>
        </p:blipFill>
        <p:spPr>
          <a:xfrm>
            <a:off x="710640" y="37281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7"/>
          <p:cNvSpPr/>
          <p:nvPr/>
        </p:nvSpPr>
        <p:spPr>
          <a:xfrm>
            <a:off x="1398960" y="363024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Происхождение и полнота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1398960" y="3977640"/>
            <a:ext cx="436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Откуда взяты данные и насколько они покрывают реальную картину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6263640" y="365760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Image 1" descr="/home/claude/work/icons/target.png"/>
          <p:cNvPicPr/>
          <p:nvPr/>
        </p:nvPicPr>
        <p:blipFill>
          <a:blip r:embed="rId2"/>
          <a:stretch/>
        </p:blipFill>
        <p:spPr>
          <a:xfrm>
            <a:off x="6334200" y="372816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Text 10"/>
          <p:cNvSpPr/>
          <p:nvPr/>
        </p:nvSpPr>
        <p:spPr>
          <a:xfrm>
            <a:off x="7022520" y="363024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Точность и актуальность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7022520" y="3977640"/>
            <a:ext cx="436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Насколько данные верны на момент использования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640080" y="461772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Image 2" descr="/home/claude/work/icons/users.png"/>
          <p:cNvPicPr/>
          <p:nvPr/>
        </p:nvPicPr>
        <p:blipFill>
          <a:blip r:embed="rId3"/>
          <a:stretch/>
        </p:blipFill>
        <p:spPr>
          <a:xfrm>
            <a:off x="710640" y="468828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Text 13"/>
          <p:cNvSpPr/>
          <p:nvPr/>
        </p:nvSpPr>
        <p:spPr>
          <a:xfrm>
            <a:off x="1398960" y="459036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Репрезентативность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1398960" y="4937760"/>
            <a:ext cx="436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Насколько выборка отражает всю совокупность объектов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5"/>
          <p:cNvSpPr/>
          <p:nvPr/>
        </p:nvSpPr>
        <p:spPr>
          <a:xfrm>
            <a:off x="6263640" y="461772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3" descr="/home/claude/work/icons/checkcircle.png"/>
          <p:cNvPicPr/>
          <p:nvPr/>
        </p:nvPicPr>
        <p:blipFill>
          <a:blip r:embed="rId4"/>
          <a:stretch/>
        </p:blipFill>
        <p:spPr>
          <a:xfrm>
            <a:off x="6334200" y="468828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16"/>
          <p:cNvSpPr/>
          <p:nvPr/>
        </p:nvSpPr>
        <p:spPr>
          <a:xfrm>
            <a:off x="7022520" y="4590360"/>
            <a:ext cx="43606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Согласованность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7022520" y="4937760"/>
            <a:ext cx="43606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Отсутствие противоречий между источниками и записями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8"/>
          <p:cNvSpPr/>
          <p:nvPr/>
        </p:nvSpPr>
        <p:spPr>
          <a:xfrm>
            <a:off x="640080" y="5623560"/>
            <a:ext cx="108802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400"/>
              </a:lnSpc>
              <a:tabLst>
                <a:tab pos="0" algn="l"/>
              </a:tabLst>
            </a:pPr>
            <a:r>
              <a:rPr lang="en-US" sz="1150" b="1" i="1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Если исторические решения были смещены, модель может воспроизвести это смещение; «нейтральный алгоритм» не гарантирует нейтральный результат.</a:t>
            </a:r>
            <a:endParaRPr lang="ru-RU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9AA0DE"/>
                </a:solidFill>
                <a:effectLst/>
                <a:uFillTx/>
                <a:latin typeface="Calibri"/>
                <a:ea typeface="Calibri"/>
              </a:rPr>
              <a:t>ДАННЫЕ И ИХ КАЧЕСТВО</a:t>
            </a:r>
            <a:endParaRPr lang="ru-RU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Кейс Amazon</a:t>
            </a:r>
            <a:endParaRPr lang="ru-RU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640080" y="1783080"/>
            <a:ext cx="3107880" cy="4296600"/>
          </a:xfrm>
          <a:prstGeom prst="roundRect">
            <a:avLst>
              <a:gd name="adj" fmla="val 3529"/>
            </a:avLst>
          </a:prstGeom>
          <a:solidFill>
            <a:srgbClr val="141833"/>
          </a:solidFill>
          <a:ln w="12700">
            <a:solidFill>
              <a:srgbClr val="403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640080" y="2651760"/>
            <a:ext cx="310788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2018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5"/>
          <p:cNvSpPr/>
          <p:nvPr/>
        </p:nvSpPr>
        <p:spPr>
          <a:xfrm>
            <a:off x="1463040" y="3703320"/>
            <a:ext cx="1463040" cy="360"/>
          </a:xfrm>
          <a:prstGeom prst="line">
            <a:avLst/>
          </a:prstGeom>
          <a:ln w="19050">
            <a:solidFill>
              <a:srgbClr val="4038B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6"/>
          <p:cNvSpPr/>
          <p:nvPr/>
        </p:nvSpPr>
        <p:spPr>
          <a:xfrm>
            <a:off x="1874520" y="3931920"/>
            <a:ext cx="639000" cy="6390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Image 0" descr="/home/claude/work/icons/shoppingbag.png"/>
          <p:cNvPicPr/>
          <p:nvPr/>
        </p:nvPicPr>
        <p:blipFill>
          <a:blip r:embed="rId1"/>
          <a:stretch/>
        </p:blipFill>
        <p:spPr>
          <a:xfrm>
            <a:off x="1964160" y="4021560"/>
            <a:ext cx="459720" cy="45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 7"/>
          <p:cNvSpPr/>
          <p:nvPr/>
        </p:nvSpPr>
        <p:spPr>
          <a:xfrm>
            <a:off x="640080" y="4846320"/>
            <a:ext cx="310788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Проект закрыт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4206240" y="1783080"/>
            <a:ext cx="7344360" cy="429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Система ИИ для отбора резюме обучалась на 10 годах найма в компании.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В индустрии исторически преобладали мужчины — модель «выучила» отдавать им предпочтение.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Проблема не сводится к «плохой модели»: важны выбор целевой переменной, покрытие данных, правила разметки и способ оценки результата.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F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8897040" y="-2011680"/>
            <a:ext cx="5942520" cy="5942520"/>
          </a:xfrm>
          <a:prstGeom prst="ellipse">
            <a:avLst/>
          </a:prstGeom>
          <a:solidFill>
            <a:srgbClr val="4038B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"/>
          <p:cNvSpPr/>
          <p:nvPr/>
        </p:nvSpPr>
        <p:spPr>
          <a:xfrm>
            <a:off x="822960" y="1965960"/>
            <a:ext cx="365652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2"/>
          <p:cNvSpPr/>
          <p:nvPr/>
        </p:nvSpPr>
        <p:spPr>
          <a:xfrm>
            <a:off x="868680" y="3977640"/>
            <a:ext cx="867600" cy="86760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/home/claude/work/icons/target.png"/>
          <p:cNvPicPr/>
          <p:nvPr/>
        </p:nvPicPr>
        <p:blipFill>
          <a:blip r:embed="rId1"/>
          <a:stretch/>
        </p:blipFill>
        <p:spPr>
          <a:xfrm>
            <a:off x="990360" y="4099320"/>
            <a:ext cx="624240" cy="62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3"/>
          <p:cNvSpPr/>
          <p:nvPr/>
        </p:nvSpPr>
        <p:spPr>
          <a:xfrm>
            <a:off x="1965960" y="3977640"/>
            <a:ext cx="8685720" cy="86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Задача Data Science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4"/>
          <p:cNvSpPr/>
          <p:nvPr/>
        </p:nvSpPr>
        <p:spPr>
          <a:xfrm>
            <a:off x="868680" y="4892040"/>
            <a:ext cx="9600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От постановки задачи до признаков, алгоритма и метрик качества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Что такое data science (наука о данных)?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3"/>
          <p:cNvSpPr/>
          <p:nvPr/>
        </p:nvSpPr>
        <p:spPr>
          <a:xfrm>
            <a:off x="640080" y="2103120"/>
            <a:ext cx="5119560" cy="2650680"/>
          </a:xfrm>
          <a:prstGeom prst="roundRect">
            <a:avLst>
              <a:gd name="adj" fmla="val 4138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4"/>
          <p:cNvSpPr/>
          <p:nvPr/>
        </p:nvSpPr>
        <p:spPr>
          <a:xfrm>
            <a:off x="960120" y="242316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Image 0" descr="/home/claude/work/icons/briefcase.png"/>
          <p:cNvPicPr/>
          <p:nvPr/>
        </p:nvPicPr>
        <p:blipFill>
          <a:blip r:embed="rId1"/>
          <a:stretch/>
        </p:blipFill>
        <p:spPr>
          <a:xfrm>
            <a:off x="1036800" y="249984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0" name="Text 5"/>
          <p:cNvSpPr/>
          <p:nvPr/>
        </p:nvSpPr>
        <p:spPr>
          <a:xfrm>
            <a:off x="960120" y="3154680"/>
            <a:ext cx="4479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Практическая деятельность по обработке, анализу и представлению данных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6"/>
          <p:cNvSpPr/>
          <p:nvPr/>
        </p:nvSpPr>
        <p:spPr>
          <a:xfrm>
            <a:off x="6263640" y="2103120"/>
            <a:ext cx="5119560" cy="2650680"/>
          </a:xfrm>
          <a:prstGeom prst="roundRect">
            <a:avLst>
              <a:gd name="adj" fmla="val 4138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7"/>
          <p:cNvSpPr/>
          <p:nvPr/>
        </p:nvSpPr>
        <p:spPr>
          <a:xfrm>
            <a:off x="6583680" y="242316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Image 1" descr="/home/claude/work/icons/compass.png"/>
          <p:cNvPicPr/>
          <p:nvPr/>
        </p:nvPicPr>
        <p:blipFill>
          <a:blip r:embed="rId2"/>
          <a:stretch/>
        </p:blipFill>
        <p:spPr>
          <a:xfrm>
            <a:off x="6660360" y="249984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Text 8"/>
          <p:cNvSpPr/>
          <p:nvPr/>
        </p:nvSpPr>
        <p:spPr>
          <a:xfrm>
            <a:off x="6583680" y="3154680"/>
            <a:ext cx="447948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Позволяет восстановить сложные зависимости по конкретному числу примеров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Этапы решения задачи в машинном обучении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3"/>
          <p:cNvSpPr/>
          <p:nvPr/>
        </p:nvSpPr>
        <p:spPr>
          <a:xfrm>
            <a:off x="640080" y="178308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</a:t>
            </a: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 1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4"/>
          <p:cNvSpPr/>
          <p:nvPr/>
        </p:nvSpPr>
        <p:spPr>
          <a:xfrm>
            <a:off x="640080" y="2258640"/>
            <a:ext cx="127080" cy="127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720" tIns="45000" rIns="6372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5"/>
          <p:cNvSpPr/>
          <p:nvPr/>
        </p:nvSpPr>
        <p:spPr>
          <a:xfrm>
            <a:off x="960120" y="2084760"/>
            <a:ext cx="9874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Известны характеристики квартир (количество комнат, год подстройки, этаж и т.п.) в Москве.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6"/>
          <p:cNvSpPr/>
          <p:nvPr/>
        </p:nvSpPr>
        <p:spPr>
          <a:xfrm>
            <a:off x="640080" y="2944440"/>
            <a:ext cx="127080" cy="1270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3720" tIns="45000" rIns="6372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7"/>
          <p:cNvSpPr/>
          <p:nvPr/>
        </p:nvSpPr>
        <p:spPr>
          <a:xfrm>
            <a:off x="960120" y="2770560"/>
            <a:ext cx="98744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Как по характеристикам определить рыночную стоимость квартиры?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3" name=""/>
          <p:cNvPicPr/>
          <p:nvPr/>
        </p:nvPicPr>
        <p:blipFill>
          <a:blip r:embed="rId1"/>
          <a:stretch/>
        </p:blipFill>
        <p:spPr>
          <a:xfrm>
            <a:off x="3861360" y="3420000"/>
            <a:ext cx="4957920" cy="286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Обозначения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"/>
          <p:cNvSpPr/>
          <p:nvPr/>
        </p:nvSpPr>
        <p:spPr>
          <a:xfrm>
            <a:off x="640080" y="1828800"/>
            <a:ext cx="5119560" cy="191916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"/>
          <p:cNvSpPr/>
          <p:nvPr/>
        </p:nvSpPr>
        <p:spPr>
          <a:xfrm>
            <a:off x="914400" y="205740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Объект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5"/>
          <p:cNvSpPr/>
          <p:nvPr/>
        </p:nvSpPr>
        <p:spPr>
          <a:xfrm>
            <a:off x="914400" y="2560320"/>
            <a:ext cx="4570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Для чего мы хотим делать предсказания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6"/>
          <p:cNvSpPr/>
          <p:nvPr/>
        </p:nvSpPr>
        <p:spPr>
          <a:xfrm>
            <a:off x="914400" y="310896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300" b="0" i="1" u="none" strike="noStrike">
                <a:solidFill>
                  <a:srgbClr val="4038B8"/>
                </a:solidFill>
                <a:effectLst/>
                <a:uFillTx/>
                <a:latin typeface="Calibri"/>
                <a:ea typeface="Calibri"/>
              </a:rPr>
              <a:t>Конкретная квартира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7"/>
          <p:cNvSpPr/>
          <p:nvPr/>
        </p:nvSpPr>
        <p:spPr>
          <a:xfrm>
            <a:off x="6263640" y="1828800"/>
            <a:ext cx="5119560" cy="191916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8"/>
          <p:cNvSpPr/>
          <p:nvPr/>
        </p:nvSpPr>
        <p:spPr>
          <a:xfrm>
            <a:off x="6537960" y="2057400"/>
            <a:ext cx="457092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Ответ, целевая переменная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9"/>
          <p:cNvSpPr/>
          <p:nvPr/>
        </p:nvSpPr>
        <p:spPr>
          <a:xfrm>
            <a:off x="6537960" y="2560320"/>
            <a:ext cx="4570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Что предсказываем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0"/>
          <p:cNvSpPr/>
          <p:nvPr/>
        </p:nvSpPr>
        <p:spPr>
          <a:xfrm>
            <a:off x="6537960" y="3108960"/>
            <a:ext cx="4570920" cy="41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— </a:t>
            </a:r>
            <a:r>
              <a:rPr lang="en-US" sz="1300" b="0" i="1" u="none" strike="noStrike">
                <a:solidFill>
                  <a:srgbClr val="4038B8"/>
                </a:solidFill>
                <a:effectLst/>
                <a:uFillTx/>
                <a:latin typeface="Calibri"/>
                <a:ea typeface="Calibri"/>
              </a:rPr>
              <a:t>Стоимость квартиры</a:t>
            </a:r>
            <a:endParaRPr lang="ru-RU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1"/>
          <p:cNvSpPr/>
          <p:nvPr/>
        </p:nvSpPr>
        <p:spPr>
          <a:xfrm>
            <a:off x="640080" y="4160520"/>
            <a:ext cx="108802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Объект</a:t>
            </a:r>
            <a:r>
              <a:rPr lang="en-US" sz="22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   →   </a:t>
            </a:r>
            <a:r>
              <a:rPr lang="en-US" sz="22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Ответ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2"/>
          <p:cNvSpPr/>
          <p:nvPr/>
        </p:nvSpPr>
        <p:spPr>
          <a:xfrm>
            <a:off x="640080" y="4937760"/>
            <a:ext cx="10907640" cy="1050480"/>
          </a:xfrm>
          <a:prstGeom prst="roundRect">
            <a:avLst>
              <a:gd name="adj" fmla="val 10435"/>
            </a:avLst>
          </a:prstGeom>
          <a:solidFill>
            <a:srgbClr val="1B1F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3"/>
          <p:cNvSpPr/>
          <p:nvPr/>
        </p:nvSpPr>
        <p:spPr>
          <a:xfrm>
            <a:off x="960120" y="4937760"/>
            <a:ext cx="10240200" cy="105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Обучающая выборка — </a:t>
            </a:r>
            <a:r>
              <a:rPr lang="en-US" sz="14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набор объектов, для которых известны правильные ответы (может быть трудоёмким, объём влияет на качество задачи)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Признаки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3"/>
          <p:cNvSpPr/>
          <p:nvPr/>
        </p:nvSpPr>
        <p:spPr>
          <a:xfrm>
            <a:off x="640080" y="1956960"/>
            <a:ext cx="117720" cy="117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9040" tIns="38880" rIns="5904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"/>
          <p:cNvSpPr/>
          <p:nvPr/>
        </p:nvSpPr>
        <p:spPr>
          <a:xfrm>
            <a:off x="960120" y="1783080"/>
            <a:ext cx="10331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Объекты – абстрактные сущности, но компьютеры работают только с числами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Shape 5"/>
          <p:cNvSpPr/>
          <p:nvPr/>
        </p:nvSpPr>
        <p:spPr>
          <a:xfrm>
            <a:off x="640080" y="2706480"/>
            <a:ext cx="117720" cy="117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9040" tIns="38880" rIns="5904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6"/>
          <p:cNvSpPr/>
          <p:nvPr/>
        </p:nvSpPr>
        <p:spPr>
          <a:xfrm>
            <a:off x="960120" y="2532960"/>
            <a:ext cx="10331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Признаки</a:t>
            </a: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– числовые характеристики объектов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7"/>
          <p:cNvSpPr/>
          <p:nvPr/>
        </p:nvSpPr>
        <p:spPr>
          <a:xfrm>
            <a:off x="640080" y="3456360"/>
            <a:ext cx="117720" cy="117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9040" tIns="38880" rIns="5904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8"/>
          <p:cNvSpPr/>
          <p:nvPr/>
        </p:nvSpPr>
        <p:spPr>
          <a:xfrm>
            <a:off x="960120" y="3282840"/>
            <a:ext cx="10331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Специалист по анализу данных – не эксперт в предметной области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9"/>
          <p:cNvSpPr/>
          <p:nvPr/>
        </p:nvSpPr>
        <p:spPr>
          <a:xfrm>
            <a:off x="640080" y="4206240"/>
            <a:ext cx="117720" cy="117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9040" tIns="38880" rIns="5904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0"/>
          <p:cNvSpPr/>
          <p:nvPr/>
        </p:nvSpPr>
        <p:spPr>
          <a:xfrm>
            <a:off x="960120" y="4032360"/>
            <a:ext cx="10331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Эксперты нужны при формировании признаков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11"/>
          <p:cNvSpPr/>
          <p:nvPr/>
        </p:nvSpPr>
        <p:spPr>
          <a:xfrm>
            <a:off x="640080" y="4956120"/>
            <a:ext cx="117720" cy="117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9040" tIns="38880" rIns="59040" bIns="388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2"/>
          <p:cNvSpPr/>
          <p:nvPr/>
        </p:nvSpPr>
        <p:spPr>
          <a:xfrm>
            <a:off x="960120" y="4782240"/>
            <a:ext cx="1033164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1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Придумать и собрать качественные признаки – большая задача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ru-RU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</a:t>
            </a: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 2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640080" y="196596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640080" y="196596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1463040" y="1965960"/>
            <a:ext cx="9600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Клиент – сеть ресторанов, которая хочет открыть ещё один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"/>
          <p:cNvSpPr/>
          <p:nvPr/>
        </p:nvSpPr>
        <p:spPr>
          <a:xfrm>
            <a:off x="640080" y="320040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640080" y="320040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1463040" y="3200400"/>
            <a:ext cx="9600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Есть несколько вариантов размещения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9"/>
          <p:cNvSpPr/>
          <p:nvPr/>
        </p:nvSpPr>
        <p:spPr>
          <a:xfrm>
            <a:off x="640080" y="44348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640080" y="4434840"/>
            <a:ext cx="54756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1463040" y="4434840"/>
            <a:ext cx="96001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Задача – выбрать тот, который принесёт наибольшую прибыль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Термины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3"/>
          <p:cNvSpPr/>
          <p:nvPr/>
        </p:nvSpPr>
        <p:spPr>
          <a:xfrm>
            <a:off x="640080" y="1920240"/>
            <a:ext cx="5119560" cy="191916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868680" y="2103120"/>
            <a:ext cx="913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x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5"/>
          <p:cNvSpPr/>
          <p:nvPr/>
        </p:nvSpPr>
        <p:spPr>
          <a:xfrm>
            <a:off x="1828800" y="2148840"/>
            <a:ext cx="3702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объект, то, для чего делаем предсказание (расположение ресторана)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6"/>
          <p:cNvSpPr/>
          <p:nvPr/>
        </p:nvSpPr>
        <p:spPr>
          <a:xfrm>
            <a:off x="6263640" y="1920240"/>
            <a:ext cx="5119560" cy="191916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"/>
          <p:cNvSpPr/>
          <p:nvPr/>
        </p:nvSpPr>
        <p:spPr>
          <a:xfrm>
            <a:off x="6492240" y="2103120"/>
            <a:ext cx="913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X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8"/>
          <p:cNvSpPr/>
          <p:nvPr/>
        </p:nvSpPr>
        <p:spPr>
          <a:xfrm>
            <a:off x="7452360" y="2148840"/>
            <a:ext cx="3702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пространство объектов (все возможные расположения ресторана)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640080" y="4114800"/>
            <a:ext cx="5119560" cy="191916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0"/>
          <p:cNvSpPr/>
          <p:nvPr/>
        </p:nvSpPr>
        <p:spPr>
          <a:xfrm>
            <a:off x="868680" y="4297680"/>
            <a:ext cx="913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1828800" y="4343400"/>
            <a:ext cx="3702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целевая переменная, то, что предсказываем (прибыль ресторана)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12"/>
          <p:cNvSpPr/>
          <p:nvPr/>
        </p:nvSpPr>
        <p:spPr>
          <a:xfrm>
            <a:off x="6263640" y="4114800"/>
            <a:ext cx="5119560" cy="1919160"/>
          </a:xfrm>
          <a:prstGeom prst="roundRect">
            <a:avLst>
              <a:gd name="adj" fmla="val 5714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6492240" y="4297680"/>
            <a:ext cx="9133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Y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7452360" y="4343400"/>
            <a:ext cx="3702240" cy="146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пространство решений, все значения ответа (все вещественные числа)</a:t>
            </a:r>
            <a:endParaRPr lang="ru-RU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Обучающая выборка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"/>
          <p:cNvSpPr/>
          <p:nvPr/>
        </p:nvSpPr>
        <p:spPr>
          <a:xfrm>
            <a:off x="640080" y="2194560"/>
            <a:ext cx="9965880" cy="2376360"/>
          </a:xfrm>
          <a:prstGeom prst="roundRect">
            <a:avLst>
              <a:gd name="adj" fmla="val 4615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4"/>
          <p:cNvSpPr/>
          <p:nvPr/>
        </p:nvSpPr>
        <p:spPr>
          <a:xfrm>
            <a:off x="1005840" y="2560320"/>
            <a:ext cx="593280" cy="59328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0" descr="/home/claude/work/icons/database.png"/>
          <p:cNvPicPr/>
          <p:nvPr/>
        </p:nvPicPr>
        <p:blipFill>
          <a:blip r:embed="rId1"/>
          <a:stretch/>
        </p:blipFill>
        <p:spPr>
          <a:xfrm>
            <a:off x="1089000" y="2643480"/>
            <a:ext cx="426960" cy="4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5"/>
          <p:cNvSpPr/>
          <p:nvPr/>
        </p:nvSpPr>
        <p:spPr>
          <a:xfrm>
            <a:off x="1828800" y="2468880"/>
            <a:ext cx="841140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2401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Собираем много объектов с известным значением целевой переменной (уже имеющиеся рестораны, их признаковое пространство и прибыль).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Признаковое описание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3"/>
          <p:cNvSpPr/>
          <p:nvPr/>
        </p:nvSpPr>
        <p:spPr>
          <a:xfrm>
            <a:off x="640080" y="1737360"/>
            <a:ext cx="1088028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Объект – абстрактная сущность, а компьютеры работают с числовыми данными.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Признак (feature) – числовая характеристика объекта.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4"/>
          <p:cNvSpPr/>
          <p:nvPr/>
        </p:nvSpPr>
        <p:spPr>
          <a:xfrm>
            <a:off x="640080" y="2606040"/>
            <a:ext cx="5485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ПРИЗНАКИ БЫВАЮТ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5"/>
          <p:cNvSpPr/>
          <p:nvPr/>
        </p:nvSpPr>
        <p:spPr>
          <a:xfrm>
            <a:off x="640080" y="3017520"/>
            <a:ext cx="2531880" cy="2650680"/>
          </a:xfrm>
          <a:prstGeom prst="roundRect">
            <a:avLst>
              <a:gd name="adj" fmla="val 433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6"/>
          <p:cNvSpPr/>
          <p:nvPr/>
        </p:nvSpPr>
        <p:spPr>
          <a:xfrm>
            <a:off x="1632240" y="32918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7" name="Image 0" descr="/home/claude/work/icons/hash.png"/>
          <p:cNvPicPr/>
          <p:nvPr/>
        </p:nvPicPr>
        <p:blipFill>
          <a:blip r:embed="rId1"/>
          <a:stretch/>
        </p:blipFill>
        <p:spPr>
          <a:xfrm>
            <a:off x="1708920" y="336852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Text 7"/>
          <p:cNvSpPr/>
          <p:nvPr/>
        </p:nvSpPr>
        <p:spPr>
          <a:xfrm>
            <a:off x="804600" y="4023360"/>
            <a:ext cx="2202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Числовые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8"/>
          <p:cNvSpPr/>
          <p:nvPr/>
        </p:nvSpPr>
        <p:spPr>
          <a:xfrm>
            <a:off x="822960" y="4526280"/>
            <a:ext cx="21661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Например, размер среднего чека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9"/>
          <p:cNvSpPr/>
          <p:nvPr/>
        </p:nvSpPr>
        <p:spPr>
          <a:xfrm>
            <a:off x="3392280" y="3017520"/>
            <a:ext cx="2531880" cy="2650680"/>
          </a:xfrm>
          <a:prstGeom prst="roundRect">
            <a:avLst>
              <a:gd name="adj" fmla="val 433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Shape 10"/>
          <p:cNvSpPr/>
          <p:nvPr/>
        </p:nvSpPr>
        <p:spPr>
          <a:xfrm>
            <a:off x="4384440" y="32918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2" name="Image 1" descr="/home/claude/work/icons/checkcircle.png"/>
          <p:cNvPicPr/>
          <p:nvPr/>
        </p:nvPicPr>
        <p:blipFill>
          <a:blip r:embed="rId2"/>
          <a:stretch/>
        </p:blipFill>
        <p:spPr>
          <a:xfrm>
            <a:off x="4461480" y="336852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3" name="Text 11"/>
          <p:cNvSpPr/>
          <p:nvPr/>
        </p:nvSpPr>
        <p:spPr>
          <a:xfrm>
            <a:off x="3557160" y="4023360"/>
            <a:ext cx="2202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Бинарные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2"/>
          <p:cNvSpPr/>
          <p:nvPr/>
        </p:nvSpPr>
        <p:spPr>
          <a:xfrm>
            <a:off x="3575160" y="4526280"/>
            <a:ext cx="21661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Например, есть ли меню на английском языке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13"/>
          <p:cNvSpPr/>
          <p:nvPr/>
        </p:nvSpPr>
        <p:spPr>
          <a:xfrm>
            <a:off x="6144840" y="3017520"/>
            <a:ext cx="2531880" cy="2650680"/>
          </a:xfrm>
          <a:prstGeom prst="roundRect">
            <a:avLst>
              <a:gd name="adj" fmla="val 433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14"/>
          <p:cNvSpPr/>
          <p:nvPr/>
        </p:nvSpPr>
        <p:spPr>
          <a:xfrm>
            <a:off x="7137000" y="32918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7" name="Image 2" descr="/home/claude/work/icons/layers.png"/>
          <p:cNvPicPr/>
          <p:nvPr/>
        </p:nvPicPr>
        <p:blipFill>
          <a:blip r:embed="rId3"/>
          <a:stretch/>
        </p:blipFill>
        <p:spPr>
          <a:xfrm>
            <a:off x="7213680" y="336852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Text 15"/>
          <p:cNvSpPr/>
          <p:nvPr/>
        </p:nvSpPr>
        <p:spPr>
          <a:xfrm>
            <a:off x="6309360" y="4023360"/>
            <a:ext cx="2202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Категориальные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6327720" y="4526280"/>
            <a:ext cx="21661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Тип кухни (итальянская, европейская, китайская и т.п.)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8897040" y="3017520"/>
            <a:ext cx="2531880" cy="2650680"/>
          </a:xfrm>
          <a:prstGeom prst="roundRect">
            <a:avLst>
              <a:gd name="adj" fmla="val 4332"/>
            </a:avLst>
          </a:prstGeom>
          <a:solidFill>
            <a:srgbClr val="EEF1F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1F4B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>
            <a:off x="9889200" y="3291840"/>
            <a:ext cx="547560" cy="54756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2" name="Image 3" descr="/home/claude/work/icons/filetext.png"/>
          <p:cNvPicPr/>
          <p:nvPr/>
        </p:nvPicPr>
        <p:blipFill>
          <a:blip r:embed="rId4"/>
          <a:stretch/>
        </p:blipFill>
        <p:spPr>
          <a:xfrm>
            <a:off x="9965880" y="3368520"/>
            <a:ext cx="393840" cy="393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 19"/>
          <p:cNvSpPr/>
          <p:nvPr/>
        </p:nvSpPr>
        <p:spPr>
          <a:xfrm>
            <a:off x="9061560" y="4023360"/>
            <a:ext cx="220248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Со сложной структурой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20"/>
          <p:cNvSpPr/>
          <p:nvPr/>
        </p:nvSpPr>
        <p:spPr>
          <a:xfrm>
            <a:off x="9079920" y="4526280"/>
            <a:ext cx="2166120" cy="100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ts val="1301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Отзывы, фотографии</a:t>
            </a:r>
            <a:endParaRPr lang="ru-RU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Примеры признаков для задачи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3"/>
          <p:cNvSpPr/>
          <p:nvPr/>
        </p:nvSpPr>
        <p:spPr>
          <a:xfrm>
            <a:off x="640080" y="1874520"/>
            <a:ext cx="456120" cy="456120"/>
          </a:xfrm>
          <a:prstGeom prst="roundRect">
            <a:avLst>
              <a:gd name="adj" fmla="val 18000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4"/>
          <p:cNvSpPr/>
          <p:nvPr/>
        </p:nvSpPr>
        <p:spPr>
          <a:xfrm>
            <a:off x="640080" y="187452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5"/>
          <p:cNvSpPr/>
          <p:nvPr/>
        </p:nvSpPr>
        <p:spPr>
          <a:xfrm>
            <a:off x="1325880" y="1874520"/>
            <a:ext cx="10194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Локация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6"/>
          <p:cNvSpPr/>
          <p:nvPr/>
        </p:nvSpPr>
        <p:spPr>
          <a:xfrm>
            <a:off x="640080" y="2587680"/>
            <a:ext cx="456120" cy="456120"/>
          </a:xfrm>
          <a:prstGeom prst="roundRect">
            <a:avLst>
              <a:gd name="adj" fmla="val 18000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640080" y="25876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1325880" y="2587680"/>
            <a:ext cx="10194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Расстояние до ближайшего конкурента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640080" y="3300840"/>
            <a:ext cx="456120" cy="456120"/>
          </a:xfrm>
          <a:prstGeom prst="roundRect">
            <a:avLst>
              <a:gd name="adj" fmla="val 18000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0"/>
          <p:cNvSpPr/>
          <p:nvPr/>
        </p:nvSpPr>
        <p:spPr>
          <a:xfrm>
            <a:off x="640080" y="330084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1325880" y="3300840"/>
            <a:ext cx="10194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Количество проезжающих за день машин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2"/>
          <p:cNvSpPr/>
          <p:nvPr/>
        </p:nvSpPr>
        <p:spPr>
          <a:xfrm>
            <a:off x="640080" y="4014360"/>
            <a:ext cx="456120" cy="456120"/>
          </a:xfrm>
          <a:prstGeom prst="roundRect">
            <a:avLst>
              <a:gd name="adj" fmla="val 18000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3"/>
          <p:cNvSpPr/>
          <p:nvPr/>
        </p:nvSpPr>
        <p:spPr>
          <a:xfrm>
            <a:off x="640080" y="401436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4"/>
          <p:cNvSpPr/>
          <p:nvPr/>
        </p:nvSpPr>
        <p:spPr>
          <a:xfrm>
            <a:off x="1325880" y="4014360"/>
            <a:ext cx="10194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Средняя стоимость жилья поблизости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15"/>
          <p:cNvSpPr/>
          <p:nvPr/>
        </p:nvSpPr>
        <p:spPr>
          <a:xfrm>
            <a:off x="640080" y="4727520"/>
            <a:ext cx="456120" cy="456120"/>
          </a:xfrm>
          <a:prstGeom prst="roundRect">
            <a:avLst>
              <a:gd name="adj" fmla="val 18000"/>
            </a:avLst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640080" y="472752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7"/>
          <p:cNvSpPr/>
          <p:nvPr/>
        </p:nvSpPr>
        <p:spPr>
          <a:xfrm>
            <a:off x="1325880" y="4727520"/>
            <a:ext cx="10194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Средний возраст жителей поблизости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18"/>
          <p:cNvSpPr/>
          <p:nvPr/>
        </p:nvSpPr>
        <p:spPr>
          <a:xfrm>
            <a:off x="640080" y="5440680"/>
            <a:ext cx="456120" cy="456120"/>
          </a:xfrm>
          <a:prstGeom prst="roundRect">
            <a:avLst>
              <a:gd name="adj" fmla="val 18000"/>
            </a:avLst>
          </a:prstGeom>
          <a:solidFill>
            <a:srgbClr val="C7CB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9"/>
          <p:cNvSpPr/>
          <p:nvPr/>
        </p:nvSpPr>
        <p:spPr>
          <a:xfrm>
            <a:off x="640080" y="5440680"/>
            <a:ext cx="456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0"/>
          <p:cNvSpPr/>
          <p:nvPr/>
        </p:nvSpPr>
        <p:spPr>
          <a:xfrm>
            <a:off x="1325880" y="5440680"/>
            <a:ext cx="101944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 т.д.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Алгоритм и метрики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"/>
          <p:cNvSpPr/>
          <p:nvPr/>
        </p:nvSpPr>
        <p:spPr>
          <a:xfrm>
            <a:off x="640080" y="201168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0" name="Image 0" descr="/home/claude/work/icons/gitbranch.png"/>
          <p:cNvPicPr/>
          <p:nvPr/>
        </p:nvPicPr>
        <p:blipFill>
          <a:blip r:embed="rId1"/>
          <a:stretch/>
        </p:blipFill>
        <p:spPr>
          <a:xfrm>
            <a:off x="710640" y="20822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 4"/>
          <p:cNvSpPr/>
          <p:nvPr/>
        </p:nvSpPr>
        <p:spPr>
          <a:xfrm>
            <a:off x="1398960" y="1984320"/>
            <a:ext cx="10121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a(x) — алгоритм, модель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5"/>
          <p:cNvSpPr/>
          <p:nvPr/>
        </p:nvSpPr>
        <p:spPr>
          <a:xfrm>
            <a:off x="1398960" y="2331720"/>
            <a:ext cx="1012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Функция, предсказывающая ответ для любого объекта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6"/>
          <p:cNvSpPr/>
          <p:nvPr/>
        </p:nvSpPr>
        <p:spPr>
          <a:xfrm>
            <a:off x="640080" y="3383280"/>
            <a:ext cx="501840" cy="50184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1" descr="/home/claude/work/icons/percent.png"/>
          <p:cNvPicPr/>
          <p:nvPr/>
        </p:nvPicPr>
        <p:blipFill>
          <a:blip r:embed="rId2"/>
          <a:stretch/>
        </p:blipFill>
        <p:spPr>
          <a:xfrm>
            <a:off x="710640" y="34538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7"/>
          <p:cNvSpPr/>
          <p:nvPr/>
        </p:nvSpPr>
        <p:spPr>
          <a:xfrm>
            <a:off x="1398960" y="3355920"/>
            <a:ext cx="1012140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Метрики</a:t>
            </a:r>
            <a:endParaRPr lang="ru-RU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8"/>
          <p:cNvSpPr/>
          <p:nvPr/>
        </p:nvSpPr>
        <p:spPr>
          <a:xfrm>
            <a:off x="1398960" y="3703320"/>
            <a:ext cx="101214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Используются для оценки качества модели (меры качества работы алгоритма на выборке)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Обучение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40080" y="1847160"/>
            <a:ext cx="108720" cy="108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914400" y="169164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Алгоритм a — это формула над признаками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640080" y="2350080"/>
            <a:ext cx="108720" cy="108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914400" y="219456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Формулы можно придумать разные: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960120" y="2743200"/>
            <a:ext cx="10240200" cy="456120"/>
          </a:xfrm>
          <a:prstGeom prst="roundRect">
            <a:avLst>
              <a:gd name="adj" fmla="val 24000"/>
            </a:avLst>
          </a:prstGeom>
          <a:solidFill>
            <a:srgbClr val="EE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1143000" y="2743200"/>
            <a:ext cx="9874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50" b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· площадь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Shape 9"/>
          <p:cNvSpPr/>
          <p:nvPr/>
        </p:nvSpPr>
        <p:spPr>
          <a:xfrm>
            <a:off x="960120" y="3310200"/>
            <a:ext cx="10240200" cy="456120"/>
          </a:xfrm>
          <a:prstGeom prst="roundRect">
            <a:avLst>
              <a:gd name="adj" fmla="val 24000"/>
            </a:avLst>
          </a:prstGeom>
          <a:solidFill>
            <a:srgbClr val="EE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1143000" y="3310200"/>
            <a:ext cx="9874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50" b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· площадь + </a:t>
            </a:r>
            <a:r>
              <a:rPr lang="en-US" sz="13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50" b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· (число комнат)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960120" y="3877200"/>
            <a:ext cx="10240200" cy="456120"/>
          </a:xfrm>
          <a:prstGeom prst="roundRect">
            <a:avLst>
              <a:gd name="adj" fmla="val 24000"/>
            </a:avLst>
          </a:prstGeom>
          <a:solidFill>
            <a:srgbClr val="EE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1143000" y="3877200"/>
            <a:ext cx="98744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50" b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· площадь + </a:t>
            </a:r>
            <a:r>
              <a:rPr lang="en-US" sz="13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50" b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· (число комнат) + </a:t>
            </a:r>
            <a:r>
              <a:rPr lang="en-US" sz="1350" b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350" b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3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· (расстояние до метро)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640080" y="4553640"/>
            <a:ext cx="108720" cy="108720"/>
          </a:xfrm>
          <a:prstGeom prst="ellipse">
            <a:avLst/>
          </a:prstGeom>
          <a:solidFill>
            <a:srgbClr val="5B4F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4360" tIns="32760" rIns="54360" bIns="3276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4"/>
          <p:cNvSpPr/>
          <p:nvPr/>
        </p:nvSpPr>
        <p:spPr>
          <a:xfrm>
            <a:off x="914400" y="4398120"/>
            <a:ext cx="100573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Вид формулы задаёт </a:t>
            </a:r>
            <a:r>
              <a:rPr lang="en-US" sz="145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класс алгоритмов</a:t>
            </a:r>
            <a:endParaRPr lang="ru-RU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640080" y="5083920"/>
            <a:ext cx="10514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Где взять параметры </a:t>
            </a:r>
            <a:r>
              <a:rPr lang="en-US" sz="1400" b="1" i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1" i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1</a:t>
            </a:r>
            <a:r>
              <a:rPr lang="en-US" sz="14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400" b="1" i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1" i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4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400" b="1" i="1" u="none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w</a:t>
            </a:r>
            <a:r>
              <a:rPr lang="en-US" sz="1400" b="1" i="1" u="none" strike="noStrike" baseline="-40000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3</a:t>
            </a:r>
            <a:r>
              <a:rPr lang="en-US" sz="1400" b="0" i="1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Shape 16"/>
          <p:cNvSpPr/>
          <p:nvPr/>
        </p:nvSpPr>
        <p:spPr>
          <a:xfrm>
            <a:off x="640080" y="5586840"/>
            <a:ext cx="10907640" cy="821880"/>
          </a:xfrm>
          <a:prstGeom prst="roundRect">
            <a:avLst>
              <a:gd name="adj" fmla="val 13333"/>
            </a:avLst>
          </a:prstGeom>
          <a:solidFill>
            <a:srgbClr val="1B1F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960120" y="5586840"/>
            <a:ext cx="10240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Обучение — </a:t>
            </a:r>
            <a:r>
              <a:rPr lang="en-US" sz="1500" b="0" u="none" strike="noStrike">
                <a:solidFill>
                  <a:srgbClr val="C7CBEF"/>
                </a:solidFill>
                <a:effectLst/>
                <a:uFillTx/>
                <a:latin typeface="Calibri"/>
                <a:ea typeface="Calibri"/>
              </a:rPr>
              <a:t>поиск оптимальных параметров алгоритма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"/>
          <p:cNvSpPr/>
          <p:nvPr/>
        </p:nvSpPr>
        <p:spPr>
          <a:xfrm>
            <a:off x="1080000" y="360000"/>
            <a:ext cx="5975640" cy="98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Обучение алгоритма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6" name="Рисунок 17"/>
          <p:cNvPicPr/>
          <p:nvPr/>
        </p:nvPicPr>
        <p:blipFill>
          <a:blip r:embed="rId1"/>
          <a:stretch/>
        </p:blipFill>
        <p:spPr>
          <a:xfrm>
            <a:off x="589680" y="1545480"/>
            <a:ext cx="9914400" cy="280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Рисунок 18"/>
          <p:cNvPicPr/>
          <p:nvPr/>
        </p:nvPicPr>
        <p:blipFill>
          <a:blip r:embed="rId2"/>
          <a:stretch/>
        </p:blipFill>
        <p:spPr>
          <a:xfrm>
            <a:off x="2037960" y="4444920"/>
            <a:ext cx="6545160" cy="22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 0"/>
          <p:cNvSpPr/>
          <p:nvPr/>
        </p:nvSpPr>
        <p:spPr>
          <a:xfrm>
            <a:off x="640080" y="457200"/>
            <a:ext cx="73141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5B4FE9"/>
                </a:solidFill>
                <a:effectLst/>
                <a:uFillTx/>
                <a:latin typeface="Calibri"/>
                <a:ea typeface="Calibri"/>
              </a:rPr>
              <a:t>ЗАДАЧА DATA SCIENCE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B1F4B"/>
                </a:solidFill>
                <a:effectLst/>
                <a:uFillTx/>
                <a:latin typeface="Calibri"/>
                <a:ea typeface="Calibri"/>
              </a:rPr>
              <a:t>Среднеквадратичная ошибка (Mean Squared Error, MSE):</a:t>
            </a:r>
            <a:endParaRPr lang="ru-RU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4"/>
          <p:cNvSpPr/>
          <p:nvPr/>
        </p:nvSpPr>
        <p:spPr>
          <a:xfrm>
            <a:off x="640080" y="2194560"/>
            <a:ext cx="10880280" cy="59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(прогноз − факт)</a:t>
            </a:r>
            <a:r>
              <a:rPr lang="en-US" sz="2600" b="1" u="none" strike="noStrike" baseline="30000">
                <a:solidFill>
                  <a:srgbClr val="5B4FE9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5"/>
          <p:cNvSpPr/>
          <p:nvPr/>
        </p:nvSpPr>
        <p:spPr>
          <a:xfrm>
            <a:off x="640080" y="3063240"/>
            <a:ext cx="10907640" cy="565920"/>
          </a:xfrm>
          <a:prstGeom prst="roundRect">
            <a:avLst>
              <a:gd name="adj" fmla="val 19355"/>
            </a:avLst>
          </a:prstGeom>
          <a:solidFill>
            <a:srgbClr val="EE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6"/>
          <p:cNvSpPr/>
          <p:nvPr/>
        </p:nvSpPr>
        <p:spPr>
          <a:xfrm>
            <a:off x="960120" y="3063240"/>
            <a:ext cx="103316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прогноз = 1 000 000,  факт = 1 000 000   ⇒   (1 000 000 − 1 000 000)</a:t>
            </a:r>
            <a:r>
              <a:rPr lang="en-US" sz="1350" b="0" u="none" strike="noStrike" baseline="30000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= 0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7"/>
          <p:cNvSpPr/>
          <p:nvPr/>
        </p:nvSpPr>
        <p:spPr>
          <a:xfrm>
            <a:off x="640080" y="3749040"/>
            <a:ext cx="10907640" cy="565920"/>
          </a:xfrm>
          <a:prstGeom prst="roundRect">
            <a:avLst>
              <a:gd name="adj" fmla="val 19355"/>
            </a:avLst>
          </a:prstGeom>
          <a:solidFill>
            <a:srgbClr val="EE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8"/>
          <p:cNvSpPr/>
          <p:nvPr/>
        </p:nvSpPr>
        <p:spPr>
          <a:xfrm>
            <a:off x="960120" y="3749040"/>
            <a:ext cx="103316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прогноз = 1 000 000,  факт = 1 000 005   ⇒   (1 000 000 − 1 000 005)</a:t>
            </a:r>
            <a:r>
              <a:rPr lang="en-US" sz="1350" b="0" u="none" strike="noStrike" baseline="30000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= 25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Shape 9"/>
          <p:cNvSpPr/>
          <p:nvPr/>
        </p:nvSpPr>
        <p:spPr>
          <a:xfrm>
            <a:off x="640080" y="4434840"/>
            <a:ext cx="10907640" cy="565920"/>
          </a:xfrm>
          <a:prstGeom prst="roundRect">
            <a:avLst>
              <a:gd name="adj" fmla="val 19355"/>
            </a:avLst>
          </a:prstGeom>
          <a:solidFill>
            <a:srgbClr val="EEF1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10"/>
          <p:cNvSpPr/>
          <p:nvPr/>
        </p:nvSpPr>
        <p:spPr>
          <a:xfrm>
            <a:off x="960120" y="4434840"/>
            <a:ext cx="10331640" cy="56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прогноз = 1 000 000,  факт = 2 000 000   ⇒   (1 000 000 − 2 000 000)</a:t>
            </a:r>
            <a:r>
              <a:rPr lang="en-US" sz="1350" b="0" u="none" strike="noStrike" baseline="30000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2</a:t>
            </a:r>
            <a:r>
              <a:rPr lang="en-US" sz="1350" b="0" u="none" strike="noStrike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 = 10</a:t>
            </a:r>
            <a:r>
              <a:rPr lang="en-US" sz="1350" b="0" u="none" strike="noStrike" baseline="30000">
                <a:solidFill>
                  <a:srgbClr val="20233F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ru-RU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11"/>
          <p:cNvSpPr/>
          <p:nvPr/>
        </p:nvSpPr>
        <p:spPr>
          <a:xfrm>
            <a:off x="640080" y="5257800"/>
            <a:ext cx="10907640" cy="821880"/>
          </a:xfrm>
          <a:prstGeom prst="roundRect">
            <a:avLst>
              <a:gd name="adj" fmla="val 13333"/>
            </a:avLst>
          </a:prstGeom>
          <a:solidFill>
            <a:srgbClr val="1B1F4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12"/>
          <p:cNvSpPr/>
          <p:nvPr/>
        </p:nvSpPr>
        <p:spPr>
          <a:xfrm>
            <a:off x="960120" y="5257800"/>
            <a:ext cx="10240200" cy="8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Функция потерь должна соответствовать бизнес-требованиям</a:t>
            </a:r>
            <a:endParaRPr lang="ru-RU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Text 29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PANDAS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30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/>
          <p:nvPr/>
        </p:nvSpPr>
        <p:spPr>
          <a:xfrm>
            <a:off x="322560" y="1800000"/>
            <a:ext cx="11196720" cy="359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>
              <a:lnSpc>
                <a:spcPct val="100000"/>
              </a:lnSpc>
            </a:pPr>
            <a:r>
              <a:rPr lang="ru-RU" sz="2600" b="0" u="none" strike="noStrike">
                <a:solidFill>
                  <a:srgbClr val="333333"/>
                </a:solidFill>
                <a:effectLst/>
                <a:uFillTx/>
                <a:latin typeface="Roboto"/>
              </a:rPr>
              <a:t>Библиотека </a:t>
            </a:r>
            <a:r>
              <a:rPr lang="ru-RU" sz="2600" b="0" u="none" strike="noStrike">
                <a:solidFill>
                  <a:srgbClr val="3465A4"/>
                </a:solidFill>
                <a:effectLst/>
                <a:uFillTx/>
                <a:latin typeface="Roboto"/>
              </a:rPr>
              <a:t>Pandas</a:t>
            </a:r>
            <a:r>
              <a:rPr lang="ru-RU" sz="2600" b="0" u="none" strike="noStrike">
                <a:solidFill>
                  <a:srgbClr val="333333"/>
                </a:solidFill>
                <a:effectLst/>
                <a:uFillTx/>
                <a:latin typeface="Roboto"/>
              </a:rPr>
              <a:t> применяется для анализа данных, это одна из самых популярных библиотек. Она предоставляет множество полезных инструментов для сбора, очистки и моделирования данных. С Pandas вы можете загружать, подготавливать, анализировать и манипулировать любыми индексированными данными.</a:t>
            </a:r>
            <a:endParaRPr lang="ru-RU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2600" b="1" u="none" strike="noStrike">
                <a:solidFill>
                  <a:srgbClr val="333333"/>
                </a:solidFill>
                <a:effectLst/>
                <a:uFillTx/>
                <a:latin typeface="Roboto"/>
              </a:rPr>
              <a:t>import pandas as pd</a:t>
            </a:r>
            <a:r>
              <a:rPr lang="ru-RU" sz="3200" b="1" u="none" strike="noStrike">
                <a:solidFill>
                  <a:srgbClr val="333333"/>
                </a:solidFill>
                <a:effectLst/>
                <a:uFillTx/>
                <a:latin typeface="Roboto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36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DataFrame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37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5" name="Image 10" descr="/home/claude/work/icons/percent.png"/>
          <p:cNvPicPr/>
          <p:nvPr/>
        </p:nvPicPr>
        <p:blipFill>
          <a:blip r:embed="rId1"/>
          <a:stretch/>
        </p:blipFill>
        <p:spPr>
          <a:xfrm>
            <a:off x="710640" y="34538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Объект 3"/>
          <p:cNvSpPr/>
          <p:nvPr/>
        </p:nvSpPr>
        <p:spPr>
          <a:xfrm>
            <a:off x="720000" y="1620000"/>
            <a:ext cx="9802080" cy="40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9999"/>
          </a:bodyPr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DataFrame – 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специальная структура данных в библиотеке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Pandas.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Создадим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DataFrame</a:t>
            </a: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с информацией о студентах: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AF00DB"/>
                </a:solidFill>
                <a:effectLst/>
                <a:uFillTx/>
                <a:latin typeface="Courier New"/>
              </a:rPr>
              <a:t>import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pandas </a:t>
            </a:r>
            <a:r>
              <a:rPr lang="en-US" sz="3200" b="0" u="none" strike="noStrike">
                <a:solidFill>
                  <a:srgbClr val="AF00DB"/>
                </a:solidFill>
                <a:effectLst/>
                <a:uFillTx/>
                <a:latin typeface="Courier New"/>
              </a:rPr>
              <a:t>as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pd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df = pd.DataFrame([[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</a:t>
            </a:r>
            <a:r>
              <a:rPr lang="ru-RU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Иванов И.А.'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2006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'КНТ1'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8.0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], [</a:t>
            </a:r>
            <a:r>
              <a:rPr lang="ru-RU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'Петров А.А.'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2007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'КНТ2'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7.0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], [</a:t>
            </a:r>
            <a:r>
              <a:rPr lang="ru-RU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'Кузнецов И.А.'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2007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'КНТ3'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ru-RU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9.0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 ]], 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columns=</a:t>
            </a:r>
            <a:r>
              <a:rPr lang="en-US" sz="3200" b="0" u="none" strike="noStrike">
                <a:solidFill>
                  <a:srgbClr val="267F99"/>
                </a:solidFill>
                <a:effectLst/>
                <a:uFillTx/>
                <a:latin typeface="Courier New"/>
              </a:rPr>
              <a:t>list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(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'ABCD'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))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print(df)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"/>
          <p:cNvPicPr/>
          <p:nvPr/>
        </p:nvPicPr>
        <p:blipFill>
          <a:blip r:embed="rId2"/>
          <a:stretch/>
        </p:blipFill>
        <p:spPr>
          <a:xfrm>
            <a:off x="4140000" y="5220000"/>
            <a:ext cx="2777040" cy="80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21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Добавление строк в DataFrame (пример)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22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Image 5" descr="/home/claude/work/icons/percent.png"/>
          <p:cNvPicPr/>
          <p:nvPr/>
        </p:nvPicPr>
        <p:blipFill>
          <a:blip r:embed="rId1"/>
          <a:stretch/>
        </p:blipFill>
        <p:spPr>
          <a:xfrm>
            <a:off x="710640" y="34538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"/>
          <p:cNvPicPr/>
          <p:nvPr/>
        </p:nvPicPr>
        <p:blipFill>
          <a:blip r:embed="rId2"/>
          <a:stretch/>
        </p:blipFill>
        <p:spPr>
          <a:xfrm>
            <a:off x="720000" y="1440000"/>
            <a:ext cx="6870600" cy="2557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"/>
          <p:cNvPicPr/>
          <p:nvPr/>
        </p:nvPicPr>
        <p:blipFill>
          <a:blip r:embed="rId3"/>
          <a:stretch/>
        </p:blipFill>
        <p:spPr>
          <a:xfrm>
            <a:off x="425520" y="4680000"/>
            <a:ext cx="5693760" cy="20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"/>
          <p:cNvSpPr/>
          <p:nvPr/>
        </p:nvSpPr>
        <p:spPr>
          <a:xfrm>
            <a:off x="360000" y="3960000"/>
            <a:ext cx="111596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Обратим внимание на опечатку в строке с индексом 3 (год 207).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ru-RU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Опечатки можно исправить функцией </a:t>
            </a: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replace()</a:t>
            </a:r>
            <a:r>
              <a:rPr lang="ru-RU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23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Удаление строк, столбцов, запись в файл (пример)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24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6" descr="/home/claude/work/icons/percent.png"/>
          <p:cNvPicPr/>
          <p:nvPr/>
        </p:nvPicPr>
        <p:blipFill>
          <a:blip r:embed="rId1"/>
          <a:stretch/>
        </p:blipFill>
        <p:spPr>
          <a:xfrm>
            <a:off x="710640" y="34538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Объект 1"/>
          <p:cNvSpPr/>
          <p:nvPr/>
        </p:nvSpPr>
        <p:spPr>
          <a:xfrm>
            <a:off x="609840" y="1600560"/>
            <a:ext cx="109717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df2 = df1.drop(labels=[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'C'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], axis=</a:t>
            </a:r>
            <a:r>
              <a:rPr lang="en-US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1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)#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удалить столбец 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'C’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df1.drop(df1.index[</a:t>
            </a:r>
            <a:r>
              <a:rPr lang="en-US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], inplace=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True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)#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удалить строку с индексом 0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df1.to_csv(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'/content/gdrive/My Drive/Colab Notebooks/updated_dataset.csv'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 sep=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','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 header=</a:t>
            </a:r>
            <a:r>
              <a:rPr lang="en-US" sz="3200" b="0" u="none" strike="noStrike">
                <a:solidFill>
                  <a:srgbClr val="0000FF"/>
                </a:solidFill>
                <a:effectLst/>
                <a:uFillTx/>
                <a:latin typeface="Courier New"/>
              </a:rPr>
              <a:t>True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)#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сохранить данные в файл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dataX = pd.read_csv(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"/content/gdrive/My Drive/Colab Notebooks/time_series_covid19_confirmed_global.csv"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 header=</a:t>
            </a:r>
            <a:r>
              <a:rPr lang="en-US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 sep =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',’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)#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прочитать данные из файла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25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Фильтрация данных (пример)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26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0" name="Image 7" descr="/home/claude/work/icons/percent.png"/>
          <p:cNvPicPr/>
          <p:nvPr/>
        </p:nvPicPr>
        <p:blipFill>
          <a:blip r:embed="rId1"/>
          <a:stretch/>
        </p:blipFill>
        <p:spPr>
          <a:xfrm>
            <a:off x="710640" y="34538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Заголовок 6"/>
          <p:cNvSpPr/>
          <p:nvPr/>
        </p:nvSpPr>
        <p:spPr>
          <a:xfrm>
            <a:off x="630360" y="1034280"/>
            <a:ext cx="10971720" cy="114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2" name="Объект 5"/>
          <p:cNvSpPr/>
          <p:nvPr/>
        </p:nvSpPr>
        <p:spPr>
          <a:xfrm>
            <a:off x="630360" y="2176920"/>
            <a:ext cx="10971720" cy="31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70000" lnSpcReduction="19999"/>
          </a:bodyPr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df1.loc[:,[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'A'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,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'D'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]]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#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выбрать столбцы с индексами 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‘A’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и </a:t>
            </a:r>
            <a:r>
              <a:rPr lang="en-US" sz="3200" b="0" u="none" strike="noStrike">
                <a:solidFill>
                  <a:srgbClr val="A31515"/>
                </a:solidFill>
                <a:effectLst/>
                <a:uFillTx/>
                <a:latin typeface="Courier New"/>
              </a:rPr>
              <a:t>‘D’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795E26"/>
                </a:solidFill>
                <a:effectLst/>
                <a:uFillTx/>
                <a:latin typeface="Courier New"/>
              </a:rPr>
              <a:t>print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(df1[df1.D.astype(</a:t>
            </a:r>
            <a:r>
              <a:rPr lang="en-US" sz="3200" b="0" u="none" strike="noStrike">
                <a:solidFill>
                  <a:srgbClr val="267F99"/>
                </a:solidFill>
                <a:effectLst/>
                <a:uFillTx/>
                <a:latin typeface="Courier New"/>
              </a:rPr>
              <a:t>float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) &gt;= </a:t>
            </a:r>
            <a:r>
              <a:rPr lang="en-US" sz="3200" b="0" u="none" strike="noStrike">
                <a:solidFill>
                  <a:srgbClr val="09885A"/>
                </a:solidFill>
                <a:effectLst/>
                <a:uFillTx/>
                <a:latin typeface="Courier New"/>
              </a:rPr>
              <a:t>7.0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])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#</a:t>
            </a: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вывести те строки в которых средний балл студента не меньше 7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ru-RU" sz="3200" b="0" u="none" strike="noStrike">
                <a:solidFill>
                  <a:srgbClr val="000000"/>
                </a:solidFill>
                <a:effectLst/>
                <a:uFillTx/>
                <a:latin typeface="Courier New"/>
              </a:rPr>
              <a:t> 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"/>
          <p:cNvPicPr/>
          <p:nvPr/>
        </p:nvPicPr>
        <p:blipFill>
          <a:blip r:embed="rId2"/>
          <a:stretch/>
        </p:blipFill>
        <p:spPr>
          <a:xfrm>
            <a:off x="7920000" y="2700000"/>
            <a:ext cx="1280160" cy="136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"/>
          <p:cNvPicPr/>
          <p:nvPr/>
        </p:nvPicPr>
        <p:blipFill>
          <a:blip r:embed="rId3"/>
          <a:stretch/>
        </p:blipFill>
        <p:spPr>
          <a:xfrm>
            <a:off x="7193160" y="5040000"/>
            <a:ext cx="2189520" cy="1256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Text 27"/>
          <p:cNvSpPr/>
          <p:nvPr/>
        </p:nvSpPr>
        <p:spPr>
          <a:xfrm>
            <a:off x="640080" y="777240"/>
            <a:ext cx="1088028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B1F4B"/>
                </a:solidFill>
                <a:effectLst/>
                <a:uFillTx/>
                <a:latin typeface="Cambria"/>
                <a:ea typeface="Cambria"/>
              </a:rPr>
              <a:t>Полезные функции</a:t>
            </a:r>
            <a:endParaRPr lang="ru-RU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28"/>
          <p:cNvSpPr/>
          <p:nvPr/>
        </p:nvSpPr>
        <p:spPr>
          <a:xfrm>
            <a:off x="10911600" y="6355080"/>
            <a:ext cx="6390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7" name="Image 8" descr="/home/claude/work/icons/percent.png"/>
          <p:cNvPicPr/>
          <p:nvPr/>
        </p:nvPicPr>
        <p:blipFill>
          <a:blip r:embed="rId1"/>
          <a:stretch/>
        </p:blipFill>
        <p:spPr>
          <a:xfrm>
            <a:off x="710640" y="3453840"/>
            <a:ext cx="361080" cy="36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8" name="Объект 6"/>
          <p:cNvSpPr/>
          <p:nvPr/>
        </p:nvSpPr>
        <p:spPr>
          <a:xfrm>
            <a:off x="609840" y="1600560"/>
            <a:ext cx="10971720" cy="452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spcBef>
                <a:spcPts val="641"/>
              </a:spcBef>
              <a:tabLst>
                <a:tab pos="0" algn="l"/>
              </a:tabLst>
            </a:pPr>
            <a:r>
              <a:rPr lang="en-US" sz="2200" b="0" u="none" strike="noStrike">
                <a:solidFill>
                  <a:srgbClr val="3465A4"/>
                </a:solidFill>
                <a:effectLst/>
                <a:uFillTx/>
                <a:latin typeface="Courier New"/>
              </a:rPr>
              <a:t>fillna()-заполнение пропущенных значений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isnull().sum() - вывод количества пропущенных значений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unique() - вывод уникальных значений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replace() - замена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mean() - среднее значение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df.columns — вывод названия всех столбцов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 describe() - статистика по всем признакам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info() - более подробное описание признаков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60000" y="6470280"/>
            <a:ext cx="10844280" cy="369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ru-RU" sz="2200" b="0" u="none" strike="noStrike">
                <a:solidFill>
                  <a:srgbClr val="3465A4"/>
                </a:solidFill>
                <a:effectLst/>
                <a:uFillTx/>
                <a:latin typeface="Calibri"/>
              </a:rPr>
              <a:t>https://colab.research.google.com/drive/1sMdap7XR11R39BIlQ0xrOOAxlKfTRgZt?usp=sharing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LibreOffice/26.2.4.2$Windows_X86_64 LibreOffice_project/0229ac93fcf0d7cbc6376066c6f35021cef002dc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2026-09-04T11:43:58Z</dcterms:created>
  <dc:creator>PptxGenJS</dc:creator>
  <dc:description/>
  <dc:language>ru-RU</dc:language>
  <cp:lastModifiedBy/>
  <dcterms:modified xsi:type="dcterms:W3CDTF">2026-09-11T09:26:31Z</dcterms:modified>
  <cp:revision>9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33</vt:i4>
  </property>
  <property fmtid="{D5CDD505-2E9C-101B-9397-08002B2CF9AE}" pid="3" name="PresentationFormat">
    <vt:lpwstr>On-screen Show (16:9)</vt:lpwstr>
  </property>
  <property fmtid="{D5CDD505-2E9C-101B-9397-08002B2CF9AE}" pid="4" name="Slides">
    <vt:i4>33</vt:i4>
  </property>
</Properties>
</file>