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media/image14.wmf" ContentType="image/x-wmf"/>
  <Override PartName="/ppt/media/image17.wmf" ContentType="image/x-wmf"/>
  <Override PartName="/ppt/media/image2.wmf" ContentType="image/x-wmf"/>
  <Override PartName="/ppt/media/image16.wmf" ContentType="image/x-wmf"/>
  <Override PartName="/ppt/media/image13.wmf" ContentType="image/x-wmf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E2A60E-951C-4E48-A479-186A132631B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C3CC6E-ABCA-4C9E-A0B7-F55B115FC40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B6F22-E256-4FF8-9A6B-E9E7B909702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1A2566-00B1-4154-995B-5AF8AD4FAFD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D0963-09E3-407D-BAFB-7C97414706B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8504B1-3C81-4512-AD4B-2E6F0DB1E80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665E5E-688D-433F-9878-808046A593E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DFF98-5499-4C4E-A29F-F5A0036F7A7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BB7763-0CFF-4AF2-A103-604404B8C95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8A98D-F295-4A53-B639-EA5743465AF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FCFF6A-9362-40F1-A090-8EBFFB10A84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://www.machinelearning.ru/wiki/index.php?title=&#1056;&#1077;&#1075;&#1091;&#1083;&#1103;&#1088;&#1080;&#1079;&#1072;&#1094;&#1080;&#1103;&amp;action=edit" TargetMode="External"/><Relationship Id="rId2" Type="http://schemas.openxmlformats.org/officeDocument/2006/relationships/hyperlink" Target="http://www.machinelearning.ru/wiki/index.php?title=&#1052;&#1077;&#1090;&#1086;&#1076;_&#1075;&#1083;&#1072;&#1074;&#1085;&#1099;&#1093;_&#1082;&#1086;&#1084;&#1087;&#1086;&#1085;&#1077;&#1085;&#1090;" TargetMode="External"/><Relationship Id="rId3" Type="http://schemas.openxmlformats.org/officeDocument/2006/relationships/hyperlink" Target="http://www.machinelearning.ru/" TargetMode="External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13.wmf"/><Relationship Id="rId3" Type="http://schemas.openxmlformats.org/officeDocument/2006/relationships/oleObject" Target="../embeddings/oleObject3.bin"/><Relationship Id="rId4" Type="http://schemas.openxmlformats.org/officeDocument/2006/relationships/image" Target="../media/image14.wmf"/><Relationship Id="rId5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oleObject" Target="../embeddings/oleObject4.bin"/><Relationship Id="rId2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4" Type="http://schemas.openxmlformats.org/officeDocument/2006/relationships/image" Target="../media/image17.wmf"/><Relationship Id="rId5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drive.google.com/file/d/12KxoaupKYJAmbCvWumKKkPotbpMr5qaq/view?usp=sharing" TargetMode="External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48464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ctr" defTabSz="914400">
              <a:lnSpc>
                <a:spcPct val="100000"/>
              </a:lnSpc>
              <a:buNone/>
            </a:pPr>
            <a:br>
              <a:rPr sz="4400"/>
            </a:b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Многомерная линейная регрессия</a:t>
            </a:r>
            <a:br>
              <a:rPr sz="4400"/>
            </a:b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Работа с признаками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Заголовок 1"/>
          <p:cNvSpPr/>
          <p:nvPr/>
        </p:nvSpPr>
        <p:spPr>
          <a:xfrm>
            <a:off x="827640" y="4725000"/>
            <a:ext cx="777204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Савченко Людмила Васильевна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Доцент кафедры ИсиТ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lsavchenko@hse.ru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-234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Регрессия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143640" y="1628640"/>
            <a:ext cx="8856720" cy="22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Постановка задачи: есть множество объектов  с известными значениями признака Y. Найти значение признака Y для нового объекта.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Примеры: предсказать выручку магазина, предсказать цену акций, предсказать стоимость квартиры и т.д.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Многомерная линейная регрессия. 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79640" y="1600200"/>
            <a:ext cx="8506800" cy="21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91000"/>
                </a:solidFill>
                <a:effectLst/>
                <a:uFillTx/>
                <a:latin typeface="Lora"/>
              </a:rPr>
              <a:t>Многомерная линейная регрессия</a:t>
            </a:r>
            <a:r>
              <a:rPr lang="ru-RU" sz="3200" b="0" u="none" strike="noStrike">
                <a:solidFill>
                  <a:srgbClr val="191000"/>
                </a:solidFill>
                <a:effectLst/>
                <a:uFillTx/>
                <a:latin typeface="Lora"/>
              </a:rPr>
              <a:t> — модель зависимости переменной </a:t>
            </a:r>
            <a:r>
              <a:rPr lang="en-US" sz="3200" b="0" i="1" u="none" strike="noStrike">
                <a:solidFill>
                  <a:srgbClr val="191000"/>
                </a:solidFill>
                <a:effectLst/>
                <a:uFillTx/>
                <a:latin typeface="Lora"/>
              </a:rPr>
              <a:t>h</a:t>
            </a:r>
            <a:r>
              <a:rPr lang="ru-RU" sz="3200" b="0" u="none" strike="noStrike">
                <a:solidFill>
                  <a:srgbClr val="191000"/>
                </a:solidFill>
                <a:effectLst/>
                <a:uFillTx/>
                <a:latin typeface="Lora"/>
              </a:rPr>
              <a:t> от нескольких других переменных:</a:t>
            </a:r>
            <a:r>
              <a:rPr lang="en-US" sz="3200" b="0" i="1" u="none" strike="noStrike">
                <a:solidFill>
                  <a:srgbClr val="191000"/>
                </a:solidFill>
                <a:effectLst/>
                <a:uFillTx/>
                <a:latin typeface="Lora"/>
              </a:rPr>
              <a:t> 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6" name="Объект 3"/>
          <p:cNvGraphicFramePr/>
          <p:nvPr/>
        </p:nvGraphicFramePr>
        <p:xfrm>
          <a:off x="3708000" y="3202920"/>
          <a:ext cx="3449520" cy="505080"/>
        </p:xfrm>
        <a:graphic>
          <a:graphicData uri="http://schemas.openxmlformats.org/presentationml/2006/ole">
            <p:oleObj progId="Equation.DSMT4" r:id="rId1" spid="">
              <p:embed/>
              <p:pic>
                <p:nvPicPr>
                  <p:cNvPr id="67" name="Объект 3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708000" y="3202920"/>
                    <a:ext cx="3449520" cy="505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8" name="TextBox 4"/>
          <p:cNvSpPr/>
          <p:nvPr/>
        </p:nvSpPr>
        <p:spPr>
          <a:xfrm>
            <a:off x="395640" y="3848760"/>
            <a:ext cx="807480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Цель – подобрать параметры таким образом, чтобы функция потерь была минимальна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Рисунок 10"/>
          <p:cNvPicPr/>
          <p:nvPr/>
        </p:nvPicPr>
        <p:blipFill>
          <a:blip r:embed="rId3"/>
          <a:stretch/>
        </p:blipFill>
        <p:spPr>
          <a:xfrm>
            <a:off x="2237760" y="5737320"/>
            <a:ext cx="4962240" cy="7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Рисунок 12"/>
          <p:cNvPicPr/>
          <p:nvPr/>
        </p:nvPicPr>
        <p:blipFill>
          <a:blip r:embed="rId4"/>
          <a:stretch/>
        </p:blipFill>
        <p:spPr>
          <a:xfrm>
            <a:off x="3420000" y="4657320"/>
            <a:ext cx="2418840" cy="74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Библиотека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Sklearn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&gt;&gt;&gt; from sklearn import linear_model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&gt;&gt;&gt; reg = linear_model.Lasso(alpha=0.1)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&gt;&gt;&gt; reg = linear_model.Ridge(alpha=0.5)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Рисунок 6"/>
          <p:cNvPicPr/>
          <p:nvPr/>
        </p:nvPicPr>
        <p:blipFill>
          <a:blip r:embed="rId1"/>
          <a:stretch/>
        </p:blipFill>
        <p:spPr>
          <a:xfrm>
            <a:off x="479880" y="4373280"/>
            <a:ext cx="2839680" cy="223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Рисунок 8"/>
          <p:cNvPicPr/>
          <p:nvPr/>
        </p:nvPicPr>
        <p:blipFill>
          <a:blip r:embed="rId2"/>
          <a:stretch/>
        </p:blipFill>
        <p:spPr>
          <a:xfrm>
            <a:off x="3420000" y="3501000"/>
            <a:ext cx="5619240" cy="14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Регуляризация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391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202124"/>
                </a:solidFill>
                <a:effectLst/>
                <a:uFillTx/>
                <a:latin typeface="Calibri"/>
              </a:rPr>
              <a:t>Регуляризация</a:t>
            </a:r>
            <a:r>
              <a:rPr lang="ru-RU" sz="2400" b="0" u="none" strike="noStrike">
                <a:solidFill>
                  <a:srgbClr val="202124"/>
                </a:solidFill>
                <a:effectLst/>
                <a:uFillTx/>
                <a:latin typeface="Calibri"/>
              </a:rPr>
              <a:t> — метод добавления некоторых дополнительных ограничений к условию с целью решить некорректно поставленную задачу или предотвратить переобучение.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Регуляризация позволяет уменьшить ошибки исходной модели.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Регуляризация помогает модели учиться, применяя ранее изученные примеры к новым данным. Также можно уменьшить емкость модели, сводя различные параметры к нулю. 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Регуляризация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43640" y="1268640"/>
            <a:ext cx="8856720" cy="446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marL="343080" indent="-343080" algn="just" defTabSz="914400">
              <a:lnSpc>
                <a:spcPct val="100000"/>
              </a:lnSpc>
              <a:spcBef>
                <a:spcPts val="839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Разброс значений </a:t>
            </a: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ᶿ</a:t>
            </a:r>
            <a:r>
              <a:rPr lang="ru-RU" sz="3200" b="0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j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Появляются большие положительные и большие отрицательные коэффициенты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ᶿj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По абсолютной величине коэффициента становится невозможно судить о степени важности признака. Коэффициенты утрачивают интерпретируемость.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Неустойчивость решения. Малые изменения данных, например, шум или добавление нового объекта, могут сильно изменить вектор коэффициентов.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Отсюда следует опасность переобучения, так как снижается обобщающая способность алгоритма.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Для борьбы с мультиколлинеарностью применяются существуют методы: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ru-RU" sz="3200" b="0" i="1" u="sng" strike="noStrik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Регуляризация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Накладываются дополнительные ограничения на норму вектора коэффициентов.)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ru-RU" sz="3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Преобразование признаков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Исходные n признаков с помощью некоторых преобразований переводятся в меньшее число m новых признаков. В частности, линейные преобразования приводят к </a:t>
            </a:r>
            <a:r>
              <a:rPr lang="ru-RU" sz="32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2"/>
              </a:rPr>
              <a:t>методу главных компонент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ru-RU" sz="3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Отбор признаков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Производится явный перебор всевозможных подмножеств признаков. Для линейной регрессии удаётся строить эффективные методы, совмещающие перебор подмножеств с оптимизацией коэффициентов.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0" y="6120000"/>
            <a:ext cx="5781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http://www.machinelearning.ru/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https://edu.hse.ru/mod/page/view.php?id=628203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Линейная регрессия. Регуляризация.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Рисунок 4"/>
          <p:cNvPicPr/>
          <p:nvPr/>
        </p:nvPicPr>
        <p:blipFill>
          <a:blip r:embed="rId1"/>
          <a:stretch/>
        </p:blipFill>
        <p:spPr>
          <a:xfrm>
            <a:off x="683640" y="1510920"/>
            <a:ext cx="6620400" cy="16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5"/>
          <p:cNvSpPr/>
          <p:nvPr/>
        </p:nvSpPr>
        <p:spPr>
          <a:xfrm>
            <a:off x="755640" y="1118880"/>
            <a:ext cx="5472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Функция потерь: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Рисунок 2"/>
          <p:cNvPicPr/>
          <p:nvPr/>
        </p:nvPicPr>
        <p:blipFill>
          <a:blip r:embed="rId2"/>
          <a:stretch/>
        </p:blipFill>
        <p:spPr>
          <a:xfrm>
            <a:off x="827640" y="3501000"/>
            <a:ext cx="4314600" cy="175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3"/>
          <p:cNvSpPr/>
          <p:nvPr/>
        </p:nvSpPr>
        <p:spPr>
          <a:xfrm>
            <a:off x="5652000" y="3573000"/>
            <a:ext cx="22320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L2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регуляризация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L1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регуляризация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251640" y="5309640"/>
            <a:ext cx="82292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333333"/>
                </a:solidFill>
                <a:effectLst/>
                <a:uFillTx/>
                <a:latin typeface="Roboto"/>
              </a:rPr>
              <a:t>L1-регуляризация способствует разреженности функции, когда лишь немногие признаки не равны нулю. L2-регуляризация способствует появлению малых весовых коэффициентов модели, но не способствует их точному равенству нулю.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Смещение и дисперсия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Рисунок 4"/>
          <p:cNvPicPr/>
          <p:nvPr/>
        </p:nvPicPr>
        <p:blipFill>
          <a:blip r:embed="rId1"/>
          <a:stretch/>
        </p:blipFill>
        <p:spPr>
          <a:xfrm>
            <a:off x="180000" y="1747440"/>
            <a:ext cx="4606200" cy="239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2"/>
          <a:stretch/>
        </p:blipFill>
        <p:spPr>
          <a:xfrm>
            <a:off x="4860000" y="2268000"/>
            <a:ext cx="4140000" cy="147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 txBox="1"/>
          <p:nvPr/>
        </p:nvSpPr>
        <p:spPr>
          <a:xfrm>
            <a:off x="180000" y="4683240"/>
            <a:ext cx="8719200" cy="2366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Новый признак приносит в модель  уникальную информацию, которая помогает точнее описывать целевую переменную. Модель становится более гибкой и ближе к истинной зависимости, поэтому смещение уменьшится.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Добавление любого нового признака увеличивает количество оцениваемых параметров модели. Чем больше параметров нужно настроить по той же выборке данных, тем выше чувствительность модели к случайным шумам в обучающем наборе, что ведет к росту дисперсии (или, в редких, оставляет её неизменной).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Переобучение модели. Пример 1.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Рисунок 4"/>
          <p:cNvPicPr/>
          <p:nvPr/>
        </p:nvPicPr>
        <p:blipFill>
          <a:blip r:embed="rId1">
            <a:alphaModFix amt="65000"/>
          </a:blip>
          <a:stretch/>
        </p:blipFill>
        <p:spPr>
          <a:xfrm>
            <a:off x="200160" y="1700640"/>
            <a:ext cx="8486280" cy="441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Переобучение модели. Пример 2.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Рисунок 4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457200" y="1772640"/>
            <a:ext cx="8515080" cy="443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Библиотека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Sklearn 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linear_model.Lasso(alpha=0.1)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linear_model.Ridge(alpha=0.5)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21"/>
              </a:spcBef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alpha{float, ndarray of shape (n_targets,)}, default=1.0</a:t>
            </a:r>
            <a:endParaRPr lang="ru-RU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21"/>
              </a:spcBef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Constant that multiplies the L2 term, controlling regularization strength. alpha must be a non-negative float i.e. in [0, inf).</a:t>
            </a:r>
            <a:endParaRPr lang="ru-RU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21"/>
              </a:spcBef>
              <a:buNone/>
              <a:tabLst>
                <a:tab pos="0" algn="l"/>
              </a:tabLst>
            </a:pPr>
            <a:endParaRPr lang="ru-RU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21"/>
              </a:spcBef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alpha = 0, the objective is equivalent to ordinary least squares, solved by the LinearRegression object. For numerical reasons, using alpha = 0 with the Ridge object is not advised. Instead, you should use the LinearRegression object.</a:t>
            </a:r>
            <a:endParaRPr lang="ru-RU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2286000" y="3246120"/>
            <a:ext cx="457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2286000" y="3246120"/>
            <a:ext cx="457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МНК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9" name="Объект 1"/>
          <p:cNvGraphicFramePr/>
          <p:nvPr/>
        </p:nvGraphicFramePr>
        <p:xfrm>
          <a:off x="395640" y="1556640"/>
          <a:ext cx="4718520" cy="9144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0" name="Объект 1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95640" y="1556640"/>
                    <a:ext cx="4718520" cy="914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1" name="TextBox 1"/>
          <p:cNvSpPr/>
          <p:nvPr/>
        </p:nvSpPr>
        <p:spPr>
          <a:xfrm>
            <a:off x="5580000" y="1845000"/>
            <a:ext cx="3168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Без регуляризации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Объект 6"/>
          <p:cNvGraphicFramePr/>
          <p:nvPr/>
        </p:nvGraphicFramePr>
        <p:xfrm>
          <a:off x="107640" y="3747960"/>
          <a:ext cx="6114600" cy="9140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03" name="Объект 6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07640" y="3747960"/>
                    <a:ext cx="6114600" cy="914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4" name="TextBox 8"/>
          <p:cNvSpPr/>
          <p:nvPr/>
        </p:nvSpPr>
        <p:spPr>
          <a:xfrm>
            <a:off x="6444360" y="4077000"/>
            <a:ext cx="3168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регуляризацией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107640" y="5116680"/>
            <a:ext cx="3168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единичная матрица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Шкалирование данных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Нормализация (normalization) и стандартизация (standardization) являются методами изменения диапазонов значений. Шкалирование приводит значения к одному диапазону, это полезно когда, разные признаки могут измеряться в разных диапазонах, или значения одного признака варьируются слишком сильно. Например, один признак имеет диапазон от 0 до 1, а второй — от 1 до 1000. Для задачи регрессии второй атрибут оказывал бы большое влияние на обучение. Нормализация и стандартизация отличаются своими подходами: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Нормализация подразумевает изменение диапазонов в данных без изменения формы распределения, а стандартизация изменяет форму распределения данных (приводится к нормальному распределению).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 разных диапазонов признаков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Рисунок 4"/>
          <p:cNvPicPr/>
          <p:nvPr/>
        </p:nvPicPr>
        <p:blipFill>
          <a:blip r:embed="rId1"/>
          <a:stretch/>
        </p:blipFill>
        <p:spPr>
          <a:xfrm>
            <a:off x="313920" y="2325960"/>
            <a:ext cx="8515800" cy="233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Шкалирование данных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1" name="Объект 8"/>
          <p:cNvGraphicFramePr/>
          <p:nvPr/>
        </p:nvGraphicFramePr>
        <p:xfrm>
          <a:off x="457200" y="1456560"/>
          <a:ext cx="5520960" cy="1412640"/>
        </p:xfrm>
        <a:graphic>
          <a:graphicData uri="http://schemas.openxmlformats.org/presentationml/2006/ole">
            <p:oleObj progId="Equation.DSMT4" r:id="rId1" spid="">
              <p:embed/>
              <p:pic>
                <p:nvPicPr>
                  <p:cNvPr id="112" name="Объект 8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57200" y="1456560"/>
                    <a:ext cx="5520960" cy="1412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3" name="TextBox 9"/>
          <p:cNvSpPr/>
          <p:nvPr/>
        </p:nvSpPr>
        <p:spPr>
          <a:xfrm>
            <a:off x="6084000" y="1456560"/>
            <a:ext cx="2736000" cy="20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Минимаксная нормализация, приведение признаков к диапазону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[a, b].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Наиболее часто используют приведение к диапазону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[-1, 1]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[0,1]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4" name="Объект 10"/>
          <p:cNvGraphicFramePr/>
          <p:nvPr/>
        </p:nvGraphicFramePr>
        <p:xfrm>
          <a:off x="963720" y="3987720"/>
          <a:ext cx="2447640" cy="1371240"/>
        </p:xfrm>
        <a:graphic>
          <a:graphicData uri="http://schemas.openxmlformats.org/presentationml/2006/ole">
            <p:oleObj progId="Equation.DSMT4" r:id="rId3" spid="">
              <p:embed/>
              <p:pic>
                <p:nvPicPr>
                  <p:cNvPr id="115" name="Объект 10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963720" y="3987720"/>
                    <a:ext cx="2447640" cy="1371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6" name="TextBox 12"/>
          <p:cNvSpPr/>
          <p:nvPr/>
        </p:nvSpPr>
        <p:spPr>
          <a:xfrm>
            <a:off x="4284000" y="4304520"/>
            <a:ext cx="2736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стандартизация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-315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Рисунок 4"/>
          <p:cNvPicPr/>
          <p:nvPr/>
        </p:nvPicPr>
        <p:blipFill>
          <a:blip r:embed="rId1"/>
          <a:stretch/>
        </p:blipFill>
        <p:spPr>
          <a:xfrm>
            <a:off x="395640" y="836640"/>
            <a:ext cx="7026840" cy="217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Рисунок 6"/>
          <p:cNvPicPr/>
          <p:nvPr/>
        </p:nvPicPr>
        <p:blipFill>
          <a:blip r:embed="rId2"/>
          <a:stretch/>
        </p:blipFill>
        <p:spPr>
          <a:xfrm>
            <a:off x="281160" y="4077000"/>
            <a:ext cx="6257520" cy="241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3"/>
          <p:cNvSpPr/>
          <p:nvPr/>
        </p:nvSpPr>
        <p:spPr>
          <a:xfrm>
            <a:off x="281160" y="3153600"/>
            <a:ext cx="8581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161616"/>
                </a:solidFill>
                <a:effectLst/>
                <a:uFillTx/>
                <a:latin typeface="Segoe UI"/>
              </a:rPr>
              <a:t>L1- и L2-регуляризация — это методы для уменьшения степени переобучения модели</a:t>
            </a:r>
            <a:r>
              <a:rPr lang="en-US" sz="1800" b="0" u="none" strike="noStrike">
                <a:solidFill>
                  <a:srgbClr val="161616"/>
                </a:solidFill>
                <a:effectLst/>
                <a:uFillTx/>
                <a:latin typeface="Segoe UI"/>
              </a:rPr>
              <a:t>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Примеры датасетов с категориальными признаками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Рисунок 4"/>
          <p:cNvPicPr/>
          <p:nvPr/>
        </p:nvPicPr>
        <p:blipFill>
          <a:blip r:embed="rId1"/>
          <a:stretch/>
        </p:blipFill>
        <p:spPr>
          <a:xfrm>
            <a:off x="539640" y="1845000"/>
            <a:ext cx="8229240" cy="452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Работа с пропущенными значениями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Большинство моделей МО не могут обрабатывать пропущенные значения.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Самым простым решением является удаление каждого наблюдения, содержащего одно или несколько пропущенных значений. Эта задача быстро и легко выполняется с помощью библиотек Numpy или pandas.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Удаление является крайним средством, т.к. алгоритм теряет доступ к полезной информации, содержащейся в непропущенных значениях наблюдений.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Замена пропущенных значений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514440" indent="-514440" algn="just" defTabSz="914400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Font typeface="Arial"/>
              <a:buAutoNum type="arabicPeriod"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-apple-system"/>
              </a:rPr>
              <a:t>Заменить пропущенные значения средним/медианой. В данном случае необходимо вычислить среднее/медиану имеющихся значений для каждого столбца и вставить то, что получилось в пропущенные ячейки.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just" defTabSz="914400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Font typeface="Arial"/>
              <a:buAutoNum type="arabicPeriod"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-apple-system"/>
              </a:rPr>
              <a:t>Замена самым часто встречающимся значением или константой. 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Объект 4"/>
          <p:cNvPicPr/>
          <p:nvPr/>
        </p:nvPicPr>
        <p:blipFill>
          <a:blip r:embed="rId1"/>
          <a:stretch/>
        </p:blipFill>
        <p:spPr>
          <a:xfrm>
            <a:off x="611640" y="3645000"/>
            <a:ext cx="5476680" cy="24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Рисунок 8"/>
          <p:cNvPicPr/>
          <p:nvPr/>
        </p:nvPicPr>
        <p:blipFill>
          <a:blip r:embed="rId2"/>
          <a:stretch/>
        </p:blipFill>
        <p:spPr>
          <a:xfrm>
            <a:off x="899640" y="2278080"/>
            <a:ext cx="222840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10"/>
          <p:cNvSpPr/>
          <p:nvPr/>
        </p:nvSpPr>
        <p:spPr>
          <a:xfrm>
            <a:off x="323640" y="1478520"/>
            <a:ext cx="457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1)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Удаление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из датасета значений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251640" y="3089160"/>
            <a:ext cx="7560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Проверка значений на 0 и замена нулевых значений средним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Категориальные признаки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190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Категориальные данные относятся к переменным, которые состоят из значений меток, например, переменная «цвет» может иметь значения «красный», «синий» и «зелёный». Некоторые алгоритмы машинного обучения могут работать напрямую с категориальными данными в зависимости от реализации, например, с деревом решений, но для большинства требуется, чтобы любые входные или выходные переменные были числовыми или числовыми по значению. Это означает, что любые категориальные данные должны быть сопоставлены с целыми числами. С помощью алгоритма one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encoding 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мы конвертируем каждое категориальное значение в новый категориальный столбец и присваиваем этим столбцам двоичное значение 1 или 0.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Рисунок 4"/>
          <p:cNvPicPr/>
          <p:nvPr/>
        </p:nvPicPr>
        <p:blipFill>
          <a:blip r:embed="rId1"/>
          <a:stretch/>
        </p:blipFill>
        <p:spPr>
          <a:xfrm>
            <a:off x="179640" y="3450240"/>
            <a:ext cx="5184360" cy="11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6"/>
          <p:cNvSpPr/>
          <p:nvPr/>
        </p:nvSpPr>
        <p:spPr>
          <a:xfrm>
            <a:off x="2195640" y="4677120"/>
            <a:ext cx="15836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Рисунок 8"/>
          <p:cNvPicPr/>
          <p:nvPr/>
        </p:nvPicPr>
        <p:blipFill>
          <a:blip r:embed="rId2"/>
          <a:stretch/>
        </p:blipFill>
        <p:spPr>
          <a:xfrm>
            <a:off x="5148000" y="4677120"/>
            <a:ext cx="3864600" cy="207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Модель линейной регрессии для задачи медицинского страхования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https://drive.google.com/file/d/12KxoaupKYJAmbCvWumKKkPotbpMr5qaq/view?usp=sharing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9913</TotalTime>
  <Application>LibreOffice/26.2.4.2$Windows_X86_64 LibreOffice_project/0229ac93fcf0d7cbc6376066c6f35021cef002dc</Application>
  <AppVersion>15.0000</AppVersion>
  <Words>976</Words>
  <Paragraphs>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2020-11-30T08:31:50Z</dcterms:created>
  <dc:creator>Lyudmila</dc:creator>
  <dc:description/>
  <dc:language>ru-RU</dc:language>
  <cp:lastModifiedBy/>
  <dcterms:modified xsi:type="dcterms:W3CDTF">2026-09-25T16:09:10Z</dcterms:modified>
  <cp:revision>63</cp:revision>
  <dc:subject/>
  <dc:title>Списки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23</vt:i4>
  </property>
</Properties>
</file>