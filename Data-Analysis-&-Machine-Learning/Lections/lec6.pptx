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F0690BC-8630-4592-B5DD-EC859386A07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FDF4638-6B5C-4AC3-A645-CAE608891E0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B9545FA-6A56-4547-BABC-E4FF2E89B18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CE9D20D-1D7E-45B8-B39B-BA48CDA8D9F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9044BB9-093D-4F22-A29D-F2F52071FA8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ADD75DE-0335-4272-9434-2BE2B0EB388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D335765-F984-4BA0-B998-9DF0F06BF58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D9C4C07-BCA1-4479-96E9-4F2336FAF84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F05EF77-C414-40D2-BFD3-B123831D133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4E293F0-C2F8-4E51-B63D-D7571BFD828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D4576E4-F950-4273-AFDF-3F5D7C00998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hyperlink" Target="https://drive.google.com/file/d/1ZviYBBsl8g0d9XISVhlZPFBfFJCrjK_I/view?usp=sharing" TargetMode="External"/><Relationship Id="rId3" Type="http://schemas.openxmlformats.org/officeDocument/2006/relationships/slideLayout" Target="../slideLayouts/slideLayout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Oval 1"/>
          <p:cNvSpPr/>
          <p:nvPr/>
        </p:nvSpPr>
        <p:spPr>
          <a:xfrm>
            <a:off x="6812280" y="-320040"/>
            <a:ext cx="2742840" cy="2742840"/>
          </a:xfrm>
          <a:prstGeom prst="ellipse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Oval 2"/>
          <p:cNvSpPr/>
          <p:nvPr/>
        </p:nvSpPr>
        <p:spPr>
          <a:xfrm>
            <a:off x="7315200" y="4480560"/>
            <a:ext cx="2377080" cy="2377080"/>
          </a:xfrm>
          <a:prstGeom prst="ellipse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Rectangle 3"/>
          <p:cNvSpPr/>
          <p:nvPr/>
        </p:nvSpPr>
        <p:spPr>
          <a:xfrm>
            <a:off x="594360" y="1024200"/>
            <a:ext cx="127800" cy="4388760"/>
          </a:xfrm>
          <a:prstGeom prst="rect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960120" y="1234440"/>
            <a:ext cx="699480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Многоклассовая</a:t>
            </a:r>
            <a:endParaRPr lang="ru-R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классификация</a:t>
            </a:r>
            <a:endParaRPr lang="ru-R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987480" y="3127320"/>
            <a:ext cx="6126120" cy="29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700" b="0" u="none" strike="noStrike">
                <a:solidFill>
                  <a:srgbClr val="C7DCE8"/>
                </a:solidFill>
                <a:effectLst/>
                <a:uFillTx/>
                <a:latin typeface="Arial"/>
              </a:rPr>
              <a:t>Методы, функции потерь, метрики и примеры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Rectangle 6"/>
          <p:cNvSpPr/>
          <p:nvPr/>
        </p:nvSpPr>
        <p:spPr>
          <a:xfrm>
            <a:off x="987480" y="4069080"/>
            <a:ext cx="914040" cy="5004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987480" y="4572000"/>
            <a:ext cx="5943240" cy="72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Савченко Людмила Васильевна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Доцент кафедры ИсиТ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lsavchenko@hse.ru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1"/>
          <p:cNvSpPr/>
          <p:nvPr/>
        </p:nvSpPr>
        <p:spPr>
          <a:xfrm>
            <a:off x="0" y="0"/>
            <a:ext cx="9143640" cy="82080"/>
          </a:xfrm>
          <a:prstGeom prst="rect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Box 2"/>
          <p:cNvSpPr/>
          <p:nvPr/>
        </p:nvSpPr>
        <p:spPr>
          <a:xfrm>
            <a:off x="438840" y="191880"/>
            <a:ext cx="8137800" cy="4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tIns="13680" rIns="13680" bIns="1368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5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Цели лекции и темы</a:t>
            </a:r>
            <a:endParaRPr lang="ru-RU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Rectangle 3"/>
          <p:cNvSpPr/>
          <p:nvPr/>
        </p:nvSpPr>
        <p:spPr>
          <a:xfrm>
            <a:off x="448200" y="804600"/>
            <a:ext cx="658080" cy="4068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Rectangle 4"/>
          <p:cNvSpPr/>
          <p:nvPr/>
        </p:nvSpPr>
        <p:spPr>
          <a:xfrm>
            <a:off x="438840" y="6519600"/>
            <a:ext cx="8265960" cy="10440"/>
          </a:xfrm>
          <a:prstGeom prst="rect">
            <a:avLst/>
          </a:prstGeom>
          <a:solidFill>
            <a:srgbClr val="DDE4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Box 5"/>
          <p:cNvSpPr/>
          <p:nvPr/>
        </p:nvSpPr>
        <p:spPr>
          <a:xfrm>
            <a:off x="457200" y="6565320"/>
            <a:ext cx="5943240" cy="12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820" b="1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ВВЕДЕНИЕ</a:t>
            </a:r>
            <a:endParaRPr lang="ru-RU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6"/>
          <p:cNvSpPr/>
          <p:nvPr/>
        </p:nvSpPr>
        <p:spPr>
          <a:xfrm>
            <a:off x="8229600" y="6546960"/>
            <a:ext cx="411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850" b="0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2</a:t>
            </a:r>
            <a:endParaRPr lang="ru-RU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ounded Rectangle 7"/>
          <p:cNvSpPr/>
          <p:nvPr/>
        </p:nvSpPr>
        <p:spPr>
          <a:xfrm>
            <a:off x="502920" y="1143000"/>
            <a:ext cx="2605680" cy="1462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Rectangle 8"/>
          <p:cNvSpPr/>
          <p:nvPr/>
        </p:nvSpPr>
        <p:spPr>
          <a:xfrm>
            <a:off x="521280" y="1261800"/>
            <a:ext cx="50040" cy="1225080"/>
          </a:xfrm>
          <a:prstGeom prst="rect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9"/>
          <p:cNvSpPr/>
          <p:nvPr/>
        </p:nvSpPr>
        <p:spPr>
          <a:xfrm>
            <a:off x="658440" y="1243440"/>
            <a:ext cx="2349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1. Формализация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10"/>
          <p:cNvSpPr/>
          <p:nvPr/>
        </p:nvSpPr>
        <p:spPr>
          <a:xfrm>
            <a:off x="658440" y="1591200"/>
            <a:ext cx="2349720" cy="94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5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Понять, чем многоклассовая задача отличается от бинарной и multilabel.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ounded Rectangle 11"/>
          <p:cNvSpPr/>
          <p:nvPr/>
        </p:nvSpPr>
        <p:spPr>
          <a:xfrm>
            <a:off x="3246120" y="1143000"/>
            <a:ext cx="2605680" cy="1462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Rectangle 12"/>
          <p:cNvSpPr/>
          <p:nvPr/>
        </p:nvSpPr>
        <p:spPr>
          <a:xfrm>
            <a:off x="3264480" y="1261800"/>
            <a:ext cx="50040" cy="1225080"/>
          </a:xfrm>
          <a:prstGeom prst="rect">
            <a:avLst/>
          </a:prstGeom>
          <a:solidFill>
            <a:srgbClr val="4678B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13"/>
          <p:cNvSpPr/>
          <p:nvPr/>
        </p:nvSpPr>
        <p:spPr>
          <a:xfrm>
            <a:off x="3401640" y="1243440"/>
            <a:ext cx="2349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2. Модели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14"/>
          <p:cNvSpPr/>
          <p:nvPr/>
        </p:nvSpPr>
        <p:spPr>
          <a:xfrm>
            <a:off x="3401640" y="1591200"/>
            <a:ext cx="2349720" cy="6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5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деревья, леса, SVM, линейные модели и наивный Байес.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Rounded Rectangle 15"/>
          <p:cNvSpPr/>
          <p:nvPr/>
        </p:nvSpPr>
        <p:spPr>
          <a:xfrm>
            <a:off x="5989320" y="1143000"/>
            <a:ext cx="2605680" cy="1462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Rectangle 16"/>
          <p:cNvSpPr/>
          <p:nvPr/>
        </p:nvSpPr>
        <p:spPr>
          <a:xfrm>
            <a:off x="6007680" y="1261800"/>
            <a:ext cx="50040" cy="122508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17"/>
          <p:cNvSpPr/>
          <p:nvPr/>
        </p:nvSpPr>
        <p:spPr>
          <a:xfrm>
            <a:off x="6144840" y="1243440"/>
            <a:ext cx="2349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3. Оценка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18"/>
          <p:cNvSpPr/>
          <p:nvPr/>
        </p:nvSpPr>
        <p:spPr>
          <a:xfrm>
            <a:off x="6144840" y="1591200"/>
            <a:ext cx="2349720" cy="6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5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метрики с учётом дисбаланса, цены ошибок и вероятностей.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Rounded Rectangle 19"/>
          <p:cNvSpPr/>
          <p:nvPr/>
        </p:nvSpPr>
        <p:spPr>
          <a:xfrm>
            <a:off x="502920" y="2853000"/>
            <a:ext cx="3977280" cy="1572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Rectangle 20"/>
          <p:cNvSpPr/>
          <p:nvPr/>
        </p:nvSpPr>
        <p:spPr>
          <a:xfrm>
            <a:off x="521280" y="2971800"/>
            <a:ext cx="50040" cy="1334520"/>
          </a:xfrm>
          <a:prstGeom prst="rect">
            <a:avLst/>
          </a:prstGeom>
          <a:solidFill>
            <a:srgbClr val="3989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Box 21"/>
          <p:cNvSpPr/>
          <p:nvPr/>
        </p:nvSpPr>
        <p:spPr>
          <a:xfrm>
            <a:off x="658440" y="2953440"/>
            <a:ext cx="37213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4. Корректный эксперимент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22"/>
          <p:cNvSpPr/>
          <p:nvPr/>
        </p:nvSpPr>
        <p:spPr>
          <a:xfrm>
            <a:off x="658440" y="3300840"/>
            <a:ext cx="372132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5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Разделение выборки, кросс-валидация, подбор гиперпараметров.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Rounded Rectangle 23"/>
          <p:cNvSpPr/>
          <p:nvPr/>
        </p:nvSpPr>
        <p:spPr>
          <a:xfrm>
            <a:off x="4663440" y="2853000"/>
            <a:ext cx="3931560" cy="1572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Rectangle 24"/>
          <p:cNvSpPr/>
          <p:nvPr/>
        </p:nvSpPr>
        <p:spPr>
          <a:xfrm>
            <a:off x="4681800" y="2971800"/>
            <a:ext cx="50040" cy="1334520"/>
          </a:xfrm>
          <a:prstGeom prst="rect">
            <a:avLst/>
          </a:prstGeom>
          <a:solidFill>
            <a:srgbClr val="B44C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TextBox 25"/>
          <p:cNvSpPr/>
          <p:nvPr/>
        </p:nvSpPr>
        <p:spPr>
          <a:xfrm>
            <a:off x="4818960" y="2953440"/>
            <a:ext cx="3675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5. Практическая работа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26"/>
          <p:cNvSpPr/>
          <p:nvPr/>
        </p:nvSpPr>
        <p:spPr>
          <a:xfrm>
            <a:off x="4818960" y="3300840"/>
            <a:ext cx="3675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5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Построить воспроизводимый baseline, анализировать ошибки и оформлять результаты.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27"/>
          <p:cNvSpPr/>
          <p:nvPr/>
        </p:nvSpPr>
        <p:spPr>
          <a:xfrm>
            <a:off x="640080" y="4892040"/>
            <a:ext cx="7863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Главный принцип: оцениваем не только алгоритм, но и весь эксперимент — данные, протокол валидации, метрику и решение, которое будет принято по прогнозу.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1"/>
          <p:cNvSpPr/>
          <p:nvPr/>
        </p:nvSpPr>
        <p:spPr>
          <a:xfrm>
            <a:off x="0" y="0"/>
            <a:ext cx="9143640" cy="82080"/>
          </a:xfrm>
          <a:prstGeom prst="rect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TextBox 2"/>
          <p:cNvSpPr/>
          <p:nvPr/>
        </p:nvSpPr>
        <p:spPr>
          <a:xfrm>
            <a:off x="438840" y="191880"/>
            <a:ext cx="81378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tIns="13680" rIns="13680" bIns="1368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5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Постановка задачи классификации</a:t>
            </a:r>
            <a:endParaRPr lang="ru-RU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Rectangle 3"/>
          <p:cNvSpPr/>
          <p:nvPr/>
        </p:nvSpPr>
        <p:spPr>
          <a:xfrm>
            <a:off x="448200" y="804600"/>
            <a:ext cx="658080" cy="4068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Rectangle 4"/>
          <p:cNvSpPr/>
          <p:nvPr/>
        </p:nvSpPr>
        <p:spPr>
          <a:xfrm>
            <a:off x="438840" y="6519600"/>
            <a:ext cx="8265960" cy="10440"/>
          </a:xfrm>
          <a:prstGeom prst="rect">
            <a:avLst/>
          </a:prstGeom>
          <a:solidFill>
            <a:srgbClr val="DDE4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Box 5"/>
          <p:cNvSpPr/>
          <p:nvPr/>
        </p:nvSpPr>
        <p:spPr>
          <a:xfrm>
            <a:off x="457200" y="6565320"/>
            <a:ext cx="59432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820" b="1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ОСНОВЫ</a:t>
            </a:r>
            <a:endParaRPr lang="ru-RU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6"/>
          <p:cNvSpPr/>
          <p:nvPr/>
        </p:nvSpPr>
        <p:spPr>
          <a:xfrm>
            <a:off x="8229600" y="6546960"/>
            <a:ext cx="411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850" b="0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3</a:t>
            </a:r>
            <a:endParaRPr lang="ru-RU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7"/>
          <p:cNvSpPr/>
          <p:nvPr/>
        </p:nvSpPr>
        <p:spPr>
          <a:xfrm>
            <a:off x="360000" y="1170360"/>
            <a:ext cx="8640000" cy="31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8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Дано множество объектов X и конечное множество классов Y = {1, …, K}.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Rounded Rectangle 8"/>
          <p:cNvSpPr/>
          <p:nvPr/>
        </p:nvSpPr>
        <p:spPr>
          <a:xfrm>
            <a:off x="777240" y="2039040"/>
            <a:ext cx="2057040" cy="594000"/>
          </a:xfrm>
          <a:prstGeom prst="roundRect">
            <a:avLst>
              <a:gd name="adj" fmla="val 16667"/>
            </a:avLst>
          </a:prstGeom>
          <a:solidFill>
            <a:srgbClr val="E6EFFA"/>
          </a:solidFill>
          <a:ln w="12700">
            <a:solidFill>
              <a:srgbClr val="E6EF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TextBox 9"/>
          <p:cNvSpPr/>
          <p:nvPr/>
        </p:nvSpPr>
        <p:spPr>
          <a:xfrm>
            <a:off x="813960" y="2057400"/>
            <a:ext cx="1983960" cy="55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1" u="none" strike="noStrike">
                <a:solidFill>
                  <a:srgbClr val="4678B2"/>
                </a:solidFill>
                <a:effectLst/>
                <a:uFillTx/>
                <a:latin typeface="Arial"/>
              </a:rPr>
              <a:t>Объект x ∈ X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4" name="Connector 10"/>
          <p:cNvCxnSpPr/>
          <p:nvPr/>
        </p:nvCxnSpPr>
        <p:spPr>
          <a:xfrm>
            <a:off x="2971800" y="2331720"/>
            <a:ext cx="869040" cy="360"/>
          </a:xfrm>
          <a:prstGeom prst="straightConnector1">
            <a:avLst/>
          </a:prstGeom>
          <a:ln w="30480">
            <a:solidFill>
              <a:srgbClr val="148989"/>
            </a:solidFill>
            <a:round/>
          </a:ln>
        </p:spPr>
      </p:cxnSp>
      <p:sp>
        <p:nvSpPr>
          <p:cNvPr id="105" name="Rounded Rectangle 11"/>
          <p:cNvSpPr/>
          <p:nvPr/>
        </p:nvSpPr>
        <p:spPr>
          <a:xfrm>
            <a:off x="3886200" y="2039040"/>
            <a:ext cx="2057040" cy="594000"/>
          </a:xfrm>
          <a:prstGeom prst="roundRect">
            <a:avLst>
              <a:gd name="adj" fmla="val 16667"/>
            </a:avLst>
          </a:prstGeom>
          <a:solidFill>
            <a:srgbClr val="DEF3F1"/>
          </a:solidFill>
          <a:ln w="12700">
            <a:solidFill>
              <a:srgbClr val="DEF3F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Box 12"/>
          <p:cNvSpPr/>
          <p:nvPr/>
        </p:nvSpPr>
        <p:spPr>
          <a:xfrm>
            <a:off x="3922920" y="2057400"/>
            <a:ext cx="1983960" cy="55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1" u="none" strike="noStrike">
                <a:solidFill>
                  <a:srgbClr val="148989"/>
                </a:solidFill>
                <a:effectLst/>
                <a:uFillTx/>
                <a:latin typeface="Arial"/>
              </a:rPr>
              <a:t>Модель f(x)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7" name="Connector 13"/>
          <p:cNvCxnSpPr/>
          <p:nvPr/>
        </p:nvCxnSpPr>
        <p:spPr>
          <a:xfrm>
            <a:off x="6080760" y="2331720"/>
            <a:ext cx="869040" cy="360"/>
          </a:xfrm>
          <a:prstGeom prst="straightConnector1">
            <a:avLst/>
          </a:prstGeom>
          <a:ln w="30480">
            <a:solidFill>
              <a:srgbClr val="148989"/>
            </a:solidFill>
            <a:round/>
          </a:ln>
        </p:spPr>
      </p:cxnSp>
      <p:sp>
        <p:nvSpPr>
          <p:cNvPr id="108" name="Rounded Rectangle 14"/>
          <p:cNvSpPr/>
          <p:nvPr/>
        </p:nvSpPr>
        <p:spPr>
          <a:xfrm>
            <a:off x="6995160" y="2039040"/>
            <a:ext cx="1416960" cy="594000"/>
          </a:xfrm>
          <a:prstGeom prst="roundRect">
            <a:avLst>
              <a:gd name="adj" fmla="val 16667"/>
            </a:avLst>
          </a:prstGeom>
          <a:solidFill>
            <a:srgbClr val="FCEFE1"/>
          </a:solidFill>
          <a:ln w="12700">
            <a:solidFill>
              <a:srgbClr val="FCEF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Box 15"/>
          <p:cNvSpPr/>
          <p:nvPr/>
        </p:nvSpPr>
        <p:spPr>
          <a:xfrm>
            <a:off x="7031880" y="2057400"/>
            <a:ext cx="1343880" cy="55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1" u="none" strike="noStrike">
                <a:solidFill>
                  <a:srgbClr val="E68B42"/>
                </a:solidFill>
                <a:effectLst/>
                <a:uFillTx/>
                <a:latin typeface="Arial"/>
              </a:rPr>
              <a:t>Класс ŷ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Rounded Rectangle 16"/>
          <p:cNvSpPr/>
          <p:nvPr/>
        </p:nvSpPr>
        <p:spPr>
          <a:xfrm>
            <a:off x="594360" y="3035880"/>
            <a:ext cx="3858480" cy="150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Rectangle 17"/>
          <p:cNvSpPr/>
          <p:nvPr/>
        </p:nvSpPr>
        <p:spPr>
          <a:xfrm>
            <a:off x="612720" y="3154680"/>
            <a:ext cx="50040" cy="1270800"/>
          </a:xfrm>
          <a:prstGeom prst="rect">
            <a:avLst/>
          </a:prstGeom>
          <a:solidFill>
            <a:srgbClr val="4678B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18"/>
          <p:cNvSpPr/>
          <p:nvPr/>
        </p:nvSpPr>
        <p:spPr>
          <a:xfrm>
            <a:off x="749880" y="3136320"/>
            <a:ext cx="3602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Обучающая выборка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19"/>
          <p:cNvSpPr/>
          <p:nvPr/>
        </p:nvSpPr>
        <p:spPr>
          <a:xfrm>
            <a:off x="749880" y="3483720"/>
            <a:ext cx="3602520" cy="98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5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D = {(xᵢ, yᵢ)}ᵢ₌₁ᵐ. Метки известны только для конечного набора объектов.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Rounded Rectangle 20"/>
          <p:cNvSpPr/>
          <p:nvPr/>
        </p:nvSpPr>
        <p:spPr>
          <a:xfrm>
            <a:off x="4681800" y="3035880"/>
            <a:ext cx="3858480" cy="150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Rectangle 21"/>
          <p:cNvSpPr/>
          <p:nvPr/>
        </p:nvSpPr>
        <p:spPr>
          <a:xfrm>
            <a:off x="4700160" y="3154680"/>
            <a:ext cx="50040" cy="1270800"/>
          </a:xfrm>
          <a:prstGeom prst="rect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TextBox 22"/>
          <p:cNvSpPr/>
          <p:nvPr/>
        </p:nvSpPr>
        <p:spPr>
          <a:xfrm>
            <a:off x="4837320" y="3136320"/>
            <a:ext cx="3602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Цель обобщения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23"/>
          <p:cNvSpPr/>
          <p:nvPr/>
        </p:nvSpPr>
        <p:spPr>
          <a:xfrm>
            <a:off x="4837320" y="3483720"/>
            <a:ext cx="3602520" cy="98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5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Найти правило, которое хорошо предсказывает метки для новых объектов, а не только запоминает train.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24"/>
          <p:cNvSpPr/>
          <p:nvPr/>
        </p:nvSpPr>
        <p:spPr>
          <a:xfrm>
            <a:off x="685800" y="4983480"/>
            <a:ext cx="77720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500" b="1" u="none" strike="noStrike">
                <a:solidFill>
                  <a:srgbClr val="B44C4C"/>
                </a:solidFill>
                <a:effectLst/>
                <a:uFillTx/>
                <a:latin typeface="Arial"/>
              </a:rPr>
              <a:t>Важно: эмпирическая ошибка на обучении не является надёжной оценкой качества на новых данных.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 1"/>
          <p:cNvSpPr/>
          <p:nvPr/>
        </p:nvSpPr>
        <p:spPr>
          <a:xfrm>
            <a:off x="0" y="0"/>
            <a:ext cx="9143640" cy="82080"/>
          </a:xfrm>
          <a:prstGeom prst="rect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TextBox 2"/>
          <p:cNvSpPr/>
          <p:nvPr/>
        </p:nvSpPr>
        <p:spPr>
          <a:xfrm>
            <a:off x="438840" y="191880"/>
            <a:ext cx="8137800" cy="4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tIns="13680" rIns="13680" bIns="1368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5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Виды задач классификации</a:t>
            </a:r>
            <a:endParaRPr lang="ru-RU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Rectangle 3"/>
          <p:cNvSpPr/>
          <p:nvPr/>
        </p:nvSpPr>
        <p:spPr>
          <a:xfrm>
            <a:off x="448200" y="804600"/>
            <a:ext cx="658080" cy="4068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Rectangle 4"/>
          <p:cNvSpPr/>
          <p:nvPr/>
        </p:nvSpPr>
        <p:spPr>
          <a:xfrm>
            <a:off x="438840" y="6519600"/>
            <a:ext cx="8265960" cy="10440"/>
          </a:xfrm>
          <a:prstGeom prst="rect">
            <a:avLst/>
          </a:prstGeom>
          <a:solidFill>
            <a:srgbClr val="DDE4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TextBox 5"/>
          <p:cNvSpPr/>
          <p:nvPr/>
        </p:nvSpPr>
        <p:spPr>
          <a:xfrm>
            <a:off x="457200" y="6565320"/>
            <a:ext cx="59432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820" b="1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ОСНОВЫ</a:t>
            </a:r>
            <a:endParaRPr lang="ru-RU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6"/>
          <p:cNvSpPr/>
          <p:nvPr/>
        </p:nvSpPr>
        <p:spPr>
          <a:xfrm>
            <a:off x="8229600" y="6546960"/>
            <a:ext cx="411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850" b="0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4</a:t>
            </a:r>
            <a:endParaRPr lang="ru-RU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Rounded Rectangle 7"/>
          <p:cNvSpPr/>
          <p:nvPr/>
        </p:nvSpPr>
        <p:spPr>
          <a:xfrm>
            <a:off x="502920" y="1170360"/>
            <a:ext cx="2605680" cy="1828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Rectangle 8"/>
          <p:cNvSpPr/>
          <p:nvPr/>
        </p:nvSpPr>
        <p:spPr>
          <a:xfrm>
            <a:off x="521280" y="1289160"/>
            <a:ext cx="50040" cy="1590840"/>
          </a:xfrm>
          <a:prstGeom prst="rect">
            <a:avLst/>
          </a:prstGeom>
          <a:solidFill>
            <a:srgbClr val="4678B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TextBox 9"/>
          <p:cNvSpPr/>
          <p:nvPr/>
        </p:nvSpPr>
        <p:spPr>
          <a:xfrm>
            <a:off x="658440" y="1271160"/>
            <a:ext cx="2349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Бинарная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10"/>
          <p:cNvSpPr/>
          <p:nvPr/>
        </p:nvSpPr>
        <p:spPr>
          <a:xfrm>
            <a:off x="658440" y="1618560"/>
            <a:ext cx="2349720" cy="13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5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Один объект → один из 2 классов.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5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Пример: спам / не спам.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Rounded Rectangle 11"/>
          <p:cNvSpPr/>
          <p:nvPr/>
        </p:nvSpPr>
        <p:spPr>
          <a:xfrm>
            <a:off x="3246120" y="1170360"/>
            <a:ext cx="2605680" cy="1828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Rectangle 12"/>
          <p:cNvSpPr/>
          <p:nvPr/>
        </p:nvSpPr>
        <p:spPr>
          <a:xfrm>
            <a:off x="3264480" y="1289160"/>
            <a:ext cx="50040" cy="1590840"/>
          </a:xfrm>
          <a:prstGeom prst="rect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TextBox 13"/>
          <p:cNvSpPr/>
          <p:nvPr/>
        </p:nvSpPr>
        <p:spPr>
          <a:xfrm>
            <a:off x="3401640" y="1271160"/>
            <a:ext cx="2349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Многоклассовая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14"/>
          <p:cNvSpPr/>
          <p:nvPr/>
        </p:nvSpPr>
        <p:spPr>
          <a:xfrm>
            <a:off x="3401640" y="1618560"/>
            <a:ext cx="2349720" cy="13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5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Один объект → ровно 1 из K классов.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5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Пример: кошка / собака / лиса.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Rounded Rectangle 15"/>
          <p:cNvSpPr/>
          <p:nvPr/>
        </p:nvSpPr>
        <p:spPr>
          <a:xfrm>
            <a:off x="5989320" y="1170360"/>
            <a:ext cx="2605680" cy="1828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Rectangle 16"/>
          <p:cNvSpPr/>
          <p:nvPr/>
        </p:nvSpPr>
        <p:spPr>
          <a:xfrm>
            <a:off x="6007680" y="1289160"/>
            <a:ext cx="50040" cy="159084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TextBox 17"/>
          <p:cNvSpPr/>
          <p:nvPr/>
        </p:nvSpPr>
        <p:spPr>
          <a:xfrm>
            <a:off x="6144840" y="1271160"/>
            <a:ext cx="2349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Многометочная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18"/>
          <p:cNvSpPr/>
          <p:nvPr/>
        </p:nvSpPr>
        <p:spPr>
          <a:xfrm>
            <a:off x="6144840" y="1618560"/>
            <a:ext cx="2349720" cy="13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7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Объект может получить несколько меток одновременно.</a:t>
            </a:r>
            <a:endParaRPr lang="ru-RU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7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Пример: фото = человек + велосипед + дерево.</a:t>
            </a:r>
            <a:endParaRPr lang="ru-RU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Rounded Rectangle 19"/>
          <p:cNvSpPr/>
          <p:nvPr/>
        </p:nvSpPr>
        <p:spPr>
          <a:xfrm>
            <a:off x="502920" y="3337560"/>
            <a:ext cx="3977280" cy="1645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Rectangle 20"/>
          <p:cNvSpPr/>
          <p:nvPr/>
        </p:nvSpPr>
        <p:spPr>
          <a:xfrm>
            <a:off x="521280" y="3456360"/>
            <a:ext cx="50040" cy="1407960"/>
          </a:xfrm>
          <a:prstGeom prst="rect">
            <a:avLst/>
          </a:prstGeom>
          <a:solidFill>
            <a:srgbClr val="3989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TextBox 21"/>
          <p:cNvSpPr/>
          <p:nvPr/>
        </p:nvSpPr>
        <p:spPr>
          <a:xfrm>
            <a:off x="658440" y="3438000"/>
            <a:ext cx="37213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Порядковая (ordinal)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22"/>
          <p:cNvSpPr/>
          <p:nvPr/>
        </p:nvSpPr>
        <p:spPr>
          <a:xfrm>
            <a:off x="658440" y="3785760"/>
            <a:ext cx="3721320" cy="112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5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Классы имеют порядок: низкий &lt; средний &lt; высокий. Ошибка «низкий → высокий» может быть хуже, чем «низкий → средний».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Rounded Rectangle 23"/>
          <p:cNvSpPr/>
          <p:nvPr/>
        </p:nvSpPr>
        <p:spPr>
          <a:xfrm>
            <a:off x="4663440" y="3337560"/>
            <a:ext cx="3931560" cy="1645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Rectangle 24"/>
          <p:cNvSpPr/>
          <p:nvPr/>
        </p:nvSpPr>
        <p:spPr>
          <a:xfrm>
            <a:off x="4681800" y="3456360"/>
            <a:ext cx="50040" cy="1407960"/>
          </a:xfrm>
          <a:prstGeom prst="rect">
            <a:avLst/>
          </a:prstGeom>
          <a:solidFill>
            <a:srgbClr val="B44C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TextBox 25"/>
          <p:cNvSpPr/>
          <p:nvPr/>
        </p:nvSpPr>
        <p:spPr>
          <a:xfrm>
            <a:off x="4818960" y="3438000"/>
            <a:ext cx="3675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Многовыходная (multioutput)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26"/>
          <p:cNvSpPr/>
          <p:nvPr/>
        </p:nvSpPr>
        <p:spPr>
          <a:xfrm>
            <a:off x="4818960" y="3785760"/>
            <a:ext cx="3675600" cy="112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5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Модель предсказывает несколько целевых переменных; это не всегда то же самое, что multilabel.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27"/>
          <p:cNvSpPr/>
          <p:nvPr/>
        </p:nvSpPr>
        <p:spPr>
          <a:xfrm>
            <a:off x="640080" y="5413320"/>
            <a:ext cx="781776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4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Перед выбором модели проверьте семантику разметки: допускаются ли одновременно несколько истинных меток?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Rectangle 1"/>
          <p:cNvSpPr/>
          <p:nvPr/>
        </p:nvSpPr>
        <p:spPr>
          <a:xfrm>
            <a:off x="0" y="0"/>
            <a:ext cx="9143640" cy="82080"/>
          </a:xfrm>
          <a:prstGeom prst="rect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TextBox 2"/>
          <p:cNvSpPr/>
          <p:nvPr/>
        </p:nvSpPr>
        <p:spPr>
          <a:xfrm>
            <a:off x="438840" y="191880"/>
            <a:ext cx="81378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tIns="13680" rIns="13680" bIns="1368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1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Одна метка и несколько меток — разные постановки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Rectangle 3"/>
          <p:cNvSpPr/>
          <p:nvPr/>
        </p:nvSpPr>
        <p:spPr>
          <a:xfrm>
            <a:off x="448200" y="804600"/>
            <a:ext cx="658080" cy="4068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Rectangle 4"/>
          <p:cNvSpPr/>
          <p:nvPr/>
        </p:nvSpPr>
        <p:spPr>
          <a:xfrm>
            <a:off x="438840" y="6519600"/>
            <a:ext cx="8265960" cy="10440"/>
          </a:xfrm>
          <a:prstGeom prst="rect">
            <a:avLst/>
          </a:prstGeom>
          <a:solidFill>
            <a:srgbClr val="DDE4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TextBox 5"/>
          <p:cNvSpPr/>
          <p:nvPr/>
        </p:nvSpPr>
        <p:spPr>
          <a:xfrm>
            <a:off x="457200" y="6565320"/>
            <a:ext cx="59432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820" b="1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ОСНОВЫ</a:t>
            </a:r>
            <a:endParaRPr lang="ru-RU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6"/>
          <p:cNvSpPr/>
          <p:nvPr/>
        </p:nvSpPr>
        <p:spPr>
          <a:xfrm>
            <a:off x="8229600" y="6546960"/>
            <a:ext cx="411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850" b="0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5</a:t>
            </a:r>
            <a:endParaRPr lang="ru-RU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2" name="Picture 8" descr="s04_sh01_Рисунок_4.png"/>
          <p:cNvPicPr/>
          <p:nvPr/>
        </p:nvPicPr>
        <p:blipFill>
          <a:blip r:embed="rId1"/>
          <a:stretch/>
        </p:blipFill>
        <p:spPr>
          <a:xfrm>
            <a:off x="695160" y="1234440"/>
            <a:ext cx="7753680" cy="330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" name="Rounded Rectangle 9"/>
          <p:cNvSpPr/>
          <p:nvPr/>
        </p:nvSpPr>
        <p:spPr>
          <a:xfrm>
            <a:off x="685800" y="4709160"/>
            <a:ext cx="3702960" cy="1023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Rectangle 10"/>
          <p:cNvSpPr/>
          <p:nvPr/>
        </p:nvSpPr>
        <p:spPr>
          <a:xfrm>
            <a:off x="704160" y="4827960"/>
            <a:ext cx="50040" cy="785880"/>
          </a:xfrm>
          <a:prstGeom prst="rect">
            <a:avLst/>
          </a:prstGeom>
          <a:solidFill>
            <a:srgbClr val="4678B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" name="TextBox 11"/>
          <p:cNvSpPr/>
          <p:nvPr/>
        </p:nvSpPr>
        <p:spPr>
          <a:xfrm>
            <a:off x="841320" y="4809600"/>
            <a:ext cx="3447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4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Single-label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12"/>
          <p:cNvSpPr/>
          <p:nvPr/>
        </p:nvSpPr>
        <p:spPr>
          <a:xfrm>
            <a:off x="841320" y="5157360"/>
            <a:ext cx="3447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4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Сумма вероятностей классов обычно равна 1; выбираем один класс.</a:t>
            </a:r>
            <a:endParaRPr lang="ru-RU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Rounded Rectangle 13"/>
          <p:cNvSpPr/>
          <p:nvPr/>
        </p:nvSpPr>
        <p:spPr>
          <a:xfrm>
            <a:off x="4572000" y="4709160"/>
            <a:ext cx="3702960" cy="1023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" name="Rectangle 14"/>
          <p:cNvSpPr/>
          <p:nvPr/>
        </p:nvSpPr>
        <p:spPr>
          <a:xfrm>
            <a:off x="4590360" y="4827960"/>
            <a:ext cx="50040" cy="78588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TextBox 15"/>
          <p:cNvSpPr/>
          <p:nvPr/>
        </p:nvSpPr>
        <p:spPr>
          <a:xfrm>
            <a:off x="4727520" y="4809600"/>
            <a:ext cx="3447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4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Multi-label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16"/>
          <p:cNvSpPr/>
          <p:nvPr/>
        </p:nvSpPr>
        <p:spPr>
          <a:xfrm>
            <a:off x="4727520" y="5157360"/>
            <a:ext cx="3447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4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Для каждой метки оценивается отдельное решение; метки могут сосуществовать.</a:t>
            </a:r>
            <a:endParaRPr lang="ru-RU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Rectangle 1"/>
          <p:cNvSpPr/>
          <p:nvPr/>
        </p:nvSpPr>
        <p:spPr>
          <a:xfrm>
            <a:off x="0" y="0"/>
            <a:ext cx="9143640" cy="82080"/>
          </a:xfrm>
          <a:prstGeom prst="rect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TextBox 2"/>
          <p:cNvSpPr/>
          <p:nvPr/>
        </p:nvSpPr>
        <p:spPr>
          <a:xfrm>
            <a:off x="438840" y="191880"/>
            <a:ext cx="81378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tIns="13680" rIns="13680" bIns="1368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5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Примеры прикладных задач</a:t>
            </a:r>
            <a:endParaRPr lang="ru-RU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Rectangle 3"/>
          <p:cNvSpPr/>
          <p:nvPr/>
        </p:nvSpPr>
        <p:spPr>
          <a:xfrm>
            <a:off x="448200" y="804600"/>
            <a:ext cx="658080" cy="4068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Rectangle 4"/>
          <p:cNvSpPr/>
          <p:nvPr/>
        </p:nvSpPr>
        <p:spPr>
          <a:xfrm>
            <a:off x="438840" y="6519600"/>
            <a:ext cx="8265960" cy="10440"/>
          </a:xfrm>
          <a:prstGeom prst="rect">
            <a:avLst/>
          </a:prstGeom>
          <a:solidFill>
            <a:srgbClr val="DDE4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TextBox 5"/>
          <p:cNvSpPr/>
          <p:nvPr/>
        </p:nvSpPr>
        <p:spPr>
          <a:xfrm>
            <a:off x="457200" y="6565320"/>
            <a:ext cx="59432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820" b="1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ОСНОВЫ</a:t>
            </a:r>
            <a:endParaRPr lang="ru-RU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6"/>
          <p:cNvSpPr/>
          <p:nvPr/>
        </p:nvSpPr>
        <p:spPr>
          <a:xfrm>
            <a:off x="8229600" y="6546960"/>
            <a:ext cx="411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850" b="0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6</a:t>
            </a:r>
            <a:endParaRPr lang="ru-RU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Rounded Rectangle 7"/>
          <p:cNvSpPr/>
          <p:nvPr/>
        </p:nvSpPr>
        <p:spPr>
          <a:xfrm>
            <a:off x="502920" y="1170360"/>
            <a:ext cx="260568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" name="Rectangle 8"/>
          <p:cNvSpPr/>
          <p:nvPr/>
        </p:nvSpPr>
        <p:spPr>
          <a:xfrm>
            <a:off x="521280" y="1289160"/>
            <a:ext cx="50040" cy="1179360"/>
          </a:xfrm>
          <a:prstGeom prst="rect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TextBox 9"/>
          <p:cNvSpPr/>
          <p:nvPr/>
        </p:nvSpPr>
        <p:spPr>
          <a:xfrm>
            <a:off x="658440" y="1271160"/>
            <a:ext cx="2349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Компьютерное зрение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10"/>
          <p:cNvSpPr/>
          <p:nvPr/>
        </p:nvSpPr>
        <p:spPr>
          <a:xfrm>
            <a:off x="658440" y="1618560"/>
            <a:ext cx="2349720" cy="65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5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Распознавание цифр 0–9; тип погоды; категория товара.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Rounded Rectangle 11"/>
          <p:cNvSpPr/>
          <p:nvPr/>
        </p:nvSpPr>
        <p:spPr>
          <a:xfrm>
            <a:off x="3246120" y="1170360"/>
            <a:ext cx="260568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Rectangle 12"/>
          <p:cNvSpPr/>
          <p:nvPr/>
        </p:nvSpPr>
        <p:spPr>
          <a:xfrm>
            <a:off x="3264480" y="1289160"/>
            <a:ext cx="50040" cy="1179360"/>
          </a:xfrm>
          <a:prstGeom prst="rect">
            <a:avLst/>
          </a:prstGeom>
          <a:solidFill>
            <a:srgbClr val="4678B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3" name="TextBox 13"/>
          <p:cNvSpPr/>
          <p:nvPr/>
        </p:nvSpPr>
        <p:spPr>
          <a:xfrm>
            <a:off x="3401640" y="1271160"/>
            <a:ext cx="2349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Текстовая аналитика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14"/>
          <p:cNvSpPr/>
          <p:nvPr/>
        </p:nvSpPr>
        <p:spPr>
          <a:xfrm>
            <a:off x="3401640" y="1618560"/>
            <a:ext cx="234972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5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Тема документа; язык; тип обращения в службу поддержки.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Rounded Rectangle 15"/>
          <p:cNvSpPr/>
          <p:nvPr/>
        </p:nvSpPr>
        <p:spPr>
          <a:xfrm>
            <a:off x="5989320" y="1170360"/>
            <a:ext cx="260568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Rectangle 16"/>
          <p:cNvSpPr/>
          <p:nvPr/>
        </p:nvSpPr>
        <p:spPr>
          <a:xfrm>
            <a:off x="6007680" y="1289160"/>
            <a:ext cx="50040" cy="1179360"/>
          </a:xfrm>
          <a:prstGeom prst="rect">
            <a:avLst/>
          </a:prstGeom>
          <a:solidFill>
            <a:srgbClr val="B44C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TextBox 17"/>
          <p:cNvSpPr/>
          <p:nvPr/>
        </p:nvSpPr>
        <p:spPr>
          <a:xfrm>
            <a:off x="6144840" y="1271160"/>
            <a:ext cx="2349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Медицина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18"/>
          <p:cNvSpPr/>
          <p:nvPr/>
        </p:nvSpPr>
        <p:spPr>
          <a:xfrm>
            <a:off x="6144840" y="1618560"/>
            <a:ext cx="2349720" cy="5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1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Класс изображения/сигнала или категория риска (с учётом стоимости ошибок).</a:t>
            </a:r>
            <a:endParaRPr lang="ru-RU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Rounded Rectangle 19"/>
          <p:cNvSpPr/>
          <p:nvPr/>
        </p:nvSpPr>
        <p:spPr>
          <a:xfrm>
            <a:off x="502920" y="2862000"/>
            <a:ext cx="397728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Rectangle 20"/>
          <p:cNvSpPr/>
          <p:nvPr/>
        </p:nvSpPr>
        <p:spPr>
          <a:xfrm>
            <a:off x="521280" y="2980800"/>
            <a:ext cx="50040" cy="117936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TextBox 21"/>
          <p:cNvSpPr/>
          <p:nvPr/>
        </p:nvSpPr>
        <p:spPr>
          <a:xfrm>
            <a:off x="658440" y="2962800"/>
            <a:ext cx="37213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Промышленность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22"/>
          <p:cNvSpPr/>
          <p:nvPr/>
        </p:nvSpPr>
        <p:spPr>
          <a:xfrm>
            <a:off x="658440" y="3310200"/>
            <a:ext cx="372132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5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Класс дефекта; состояние оборудования; тип неисправности.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Rounded Rectangle 23"/>
          <p:cNvSpPr/>
          <p:nvPr/>
        </p:nvSpPr>
        <p:spPr>
          <a:xfrm>
            <a:off x="4663440" y="2862000"/>
            <a:ext cx="393156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Rectangle 24"/>
          <p:cNvSpPr/>
          <p:nvPr/>
        </p:nvSpPr>
        <p:spPr>
          <a:xfrm>
            <a:off x="4681800" y="2980800"/>
            <a:ext cx="50040" cy="1179360"/>
          </a:xfrm>
          <a:prstGeom prst="rect">
            <a:avLst/>
          </a:prstGeom>
          <a:solidFill>
            <a:srgbClr val="3989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5" name="TextBox 25"/>
          <p:cNvSpPr/>
          <p:nvPr/>
        </p:nvSpPr>
        <p:spPr>
          <a:xfrm>
            <a:off x="4818960" y="2962800"/>
            <a:ext cx="3675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Поведенческие данные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26"/>
          <p:cNvSpPr/>
          <p:nvPr/>
        </p:nvSpPr>
        <p:spPr>
          <a:xfrm>
            <a:off x="4818960" y="3310200"/>
            <a:ext cx="367560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5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Класс действия, сегмент или эмоциональная категория.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27"/>
          <p:cNvSpPr/>
          <p:nvPr/>
        </p:nvSpPr>
        <p:spPr>
          <a:xfrm>
            <a:off x="658440" y="4681800"/>
            <a:ext cx="78634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73080" rIns="73080" bIns="7308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Модель зависит не только от данных: важны цена ошибок, ограничения времени, объяснимость, частота обновления и последствия неверного решения.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Rectangle 1"/>
          <p:cNvSpPr/>
          <p:nvPr/>
        </p:nvSpPr>
        <p:spPr>
          <a:xfrm>
            <a:off x="0" y="0"/>
            <a:ext cx="9143640" cy="82080"/>
          </a:xfrm>
          <a:prstGeom prst="rect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" name="TextBox 2"/>
          <p:cNvSpPr/>
          <p:nvPr/>
        </p:nvSpPr>
        <p:spPr>
          <a:xfrm>
            <a:off x="438840" y="191880"/>
            <a:ext cx="81378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tIns="13680" rIns="13680" bIns="1368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5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Как свести K классов к классификации?</a:t>
            </a:r>
            <a:endParaRPr lang="ru-RU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Rectangle 3"/>
          <p:cNvSpPr/>
          <p:nvPr/>
        </p:nvSpPr>
        <p:spPr>
          <a:xfrm>
            <a:off x="448200" y="804600"/>
            <a:ext cx="658080" cy="4068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Rectangle 4"/>
          <p:cNvSpPr/>
          <p:nvPr/>
        </p:nvSpPr>
        <p:spPr>
          <a:xfrm>
            <a:off x="438840" y="6519600"/>
            <a:ext cx="8265960" cy="10440"/>
          </a:xfrm>
          <a:prstGeom prst="rect">
            <a:avLst/>
          </a:prstGeom>
          <a:solidFill>
            <a:srgbClr val="DDE4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TextBox 5"/>
          <p:cNvSpPr/>
          <p:nvPr/>
        </p:nvSpPr>
        <p:spPr>
          <a:xfrm>
            <a:off x="457200" y="6565320"/>
            <a:ext cx="59432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820" b="1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МЕТОДЫ</a:t>
            </a:r>
            <a:endParaRPr lang="ru-RU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6"/>
          <p:cNvSpPr/>
          <p:nvPr/>
        </p:nvSpPr>
        <p:spPr>
          <a:xfrm>
            <a:off x="8229600" y="6546960"/>
            <a:ext cx="411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850" b="0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7</a:t>
            </a:r>
            <a:endParaRPr lang="ru-RU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Rounded Rectangle 7"/>
          <p:cNvSpPr/>
          <p:nvPr/>
        </p:nvSpPr>
        <p:spPr>
          <a:xfrm>
            <a:off x="548640" y="1170360"/>
            <a:ext cx="2559960" cy="1965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5" name="Rectangle 8"/>
          <p:cNvSpPr/>
          <p:nvPr/>
        </p:nvSpPr>
        <p:spPr>
          <a:xfrm>
            <a:off x="567000" y="1289160"/>
            <a:ext cx="50040" cy="1728000"/>
          </a:xfrm>
          <a:prstGeom prst="rect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6" name="TextBox 9"/>
          <p:cNvSpPr/>
          <p:nvPr/>
        </p:nvSpPr>
        <p:spPr>
          <a:xfrm>
            <a:off x="704160" y="1163160"/>
            <a:ext cx="2304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Нативная multiclass-модель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10"/>
          <p:cNvSpPr/>
          <p:nvPr/>
        </p:nvSpPr>
        <p:spPr>
          <a:xfrm>
            <a:off x="704160" y="1330560"/>
            <a:ext cx="2587680" cy="157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Одна модель сразу обучается на K классах. Примеры: дерево решений</a:t>
            </a:r>
            <a:r>
              <a:rPr lang="en-US" sz="113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 (</a:t>
            </a:r>
            <a:r>
              <a:rPr lang="en-US" sz="80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DecisionTreeClassifier(max_depth=5, random_state=42)</a:t>
            </a:r>
            <a:r>
              <a:rPr lang="en-US" sz="113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),</a:t>
            </a:r>
            <a:r>
              <a:rPr lang="en-US" sz="100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 Random Forest</a:t>
            </a:r>
            <a:r>
              <a:rPr lang="en-US" sz="113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 (</a:t>
            </a:r>
            <a:r>
              <a:rPr lang="en-US" sz="80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RandomForestClassifier(n_estimators=100, max_depth=None, random_state=42</a:t>
            </a:r>
            <a:r>
              <a:rPr lang="en-US" sz="113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)  ), </a:t>
            </a:r>
            <a:r>
              <a:rPr lang="en-US" sz="100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multinomial logistic regression</a:t>
            </a:r>
            <a:r>
              <a:rPr lang="en-US" sz="113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 (</a:t>
            </a:r>
            <a:r>
              <a:rPr lang="en-US" sz="80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LogisticRegression(multi_class='multinomial', solver='lbfgs')</a:t>
            </a:r>
            <a:r>
              <a:rPr lang="en-US" sz="113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  ).</a:t>
            </a:r>
            <a:endParaRPr lang="ru-RU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Rounded Rectangle 11"/>
          <p:cNvSpPr/>
          <p:nvPr/>
        </p:nvSpPr>
        <p:spPr>
          <a:xfrm>
            <a:off x="3291840" y="1170360"/>
            <a:ext cx="2559960" cy="1965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Rectangle 12"/>
          <p:cNvSpPr/>
          <p:nvPr/>
        </p:nvSpPr>
        <p:spPr>
          <a:xfrm>
            <a:off x="3310200" y="1289160"/>
            <a:ext cx="50040" cy="1728000"/>
          </a:xfrm>
          <a:prstGeom prst="rect">
            <a:avLst/>
          </a:prstGeom>
          <a:solidFill>
            <a:srgbClr val="4678B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0" name="TextBox 13"/>
          <p:cNvSpPr/>
          <p:nvPr/>
        </p:nvSpPr>
        <p:spPr>
          <a:xfrm>
            <a:off x="3447360" y="1271160"/>
            <a:ext cx="230400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One-vs-Rest (OvR) – один против всех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14"/>
          <p:cNvSpPr/>
          <p:nvPr/>
        </p:nvSpPr>
        <p:spPr>
          <a:xfrm>
            <a:off x="3447360" y="1618560"/>
            <a:ext cx="2304000" cy="14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5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K бинарных моделей: класс k против всех остальных.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5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Выбираем наибольший score.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Rounded Rectangle 15"/>
          <p:cNvSpPr/>
          <p:nvPr/>
        </p:nvSpPr>
        <p:spPr>
          <a:xfrm>
            <a:off x="6035040" y="1170360"/>
            <a:ext cx="2559960" cy="1965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" name="Rectangle 16"/>
          <p:cNvSpPr/>
          <p:nvPr/>
        </p:nvSpPr>
        <p:spPr>
          <a:xfrm>
            <a:off x="6053400" y="1289160"/>
            <a:ext cx="50040" cy="172800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" name="TextBox 17"/>
          <p:cNvSpPr/>
          <p:nvPr/>
        </p:nvSpPr>
        <p:spPr>
          <a:xfrm>
            <a:off x="6190560" y="1271160"/>
            <a:ext cx="230400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One-vs-One (OvO) – один против одного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18"/>
          <p:cNvSpPr/>
          <p:nvPr/>
        </p:nvSpPr>
        <p:spPr>
          <a:xfrm>
            <a:off x="6190560" y="1618560"/>
            <a:ext cx="2304000" cy="14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5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K(K−1)/2 бинарных моделей по парам классов.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5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Итог — голосование / агрегирование.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19"/>
          <p:cNvSpPr/>
          <p:nvPr/>
        </p:nvSpPr>
        <p:spPr>
          <a:xfrm>
            <a:off x="731520" y="3611880"/>
            <a:ext cx="76348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Выбор стратегии зависит от базового алгоритма, числа классов, объёма данных и того, нужны ли вероятности или интерпретируемость.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20"/>
          <p:cNvSpPr/>
          <p:nvPr/>
        </p:nvSpPr>
        <p:spPr>
          <a:xfrm>
            <a:off x="731520" y="4526280"/>
            <a:ext cx="763488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ctr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40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Например, SVC в scikit-learn обучает OvO; LinearSVC использует OvR. Деревья и случайные леса поддерживают многоклассовую постановку непосредственно.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Rectangle 1"/>
          <p:cNvSpPr/>
          <p:nvPr/>
        </p:nvSpPr>
        <p:spPr>
          <a:xfrm>
            <a:off x="0" y="0"/>
            <a:ext cx="9143640" cy="82080"/>
          </a:xfrm>
          <a:prstGeom prst="rect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9" name="TextBox 2"/>
          <p:cNvSpPr/>
          <p:nvPr/>
        </p:nvSpPr>
        <p:spPr>
          <a:xfrm>
            <a:off x="438840" y="191880"/>
            <a:ext cx="81378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tIns="13680" rIns="13680" bIns="1368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1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OvR и OvO: сколько моделей потребуется?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Rectangle 3"/>
          <p:cNvSpPr/>
          <p:nvPr/>
        </p:nvSpPr>
        <p:spPr>
          <a:xfrm>
            <a:off x="448200" y="804600"/>
            <a:ext cx="658080" cy="4068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Rectangle 4"/>
          <p:cNvSpPr/>
          <p:nvPr/>
        </p:nvSpPr>
        <p:spPr>
          <a:xfrm>
            <a:off x="438840" y="6519600"/>
            <a:ext cx="8265960" cy="10440"/>
          </a:xfrm>
          <a:prstGeom prst="rect">
            <a:avLst/>
          </a:prstGeom>
          <a:solidFill>
            <a:srgbClr val="DDE4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2" name="TextBox 5"/>
          <p:cNvSpPr/>
          <p:nvPr/>
        </p:nvSpPr>
        <p:spPr>
          <a:xfrm>
            <a:off x="457200" y="6565320"/>
            <a:ext cx="59432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820" b="1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МЕТОДЫ</a:t>
            </a:r>
            <a:endParaRPr lang="ru-RU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6"/>
          <p:cNvSpPr/>
          <p:nvPr/>
        </p:nvSpPr>
        <p:spPr>
          <a:xfrm>
            <a:off x="8229600" y="6546960"/>
            <a:ext cx="411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850" b="0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8</a:t>
            </a:r>
            <a:endParaRPr lang="ru-RU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Box 8"/>
          <p:cNvSpPr/>
          <p:nvPr/>
        </p:nvSpPr>
        <p:spPr>
          <a:xfrm>
            <a:off x="640080" y="118872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700" b="1" u="none" strike="noStrike">
                <a:solidFill>
                  <a:srgbClr val="4678B2"/>
                </a:solidFill>
                <a:effectLst/>
                <a:uFillTx/>
                <a:latin typeface="Arial"/>
              </a:rPr>
              <a:t>One-vs-Rest (OvR)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Rounded Rectangle 9"/>
          <p:cNvSpPr/>
          <p:nvPr/>
        </p:nvSpPr>
        <p:spPr>
          <a:xfrm>
            <a:off x="822960" y="1691640"/>
            <a:ext cx="3245760" cy="438480"/>
          </a:xfrm>
          <a:prstGeom prst="roundRect">
            <a:avLst>
              <a:gd name="adj" fmla="val 16667"/>
            </a:avLst>
          </a:prstGeom>
          <a:solidFill>
            <a:srgbClr val="E6EFFA"/>
          </a:solidFill>
          <a:ln w="12700">
            <a:solidFill>
              <a:srgbClr val="E6EF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6" name="TextBox 10"/>
          <p:cNvSpPr/>
          <p:nvPr/>
        </p:nvSpPr>
        <p:spPr>
          <a:xfrm>
            <a:off x="859680" y="1710000"/>
            <a:ext cx="31726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3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A vs {B,C,D}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Rounded Rectangle 11"/>
          <p:cNvSpPr/>
          <p:nvPr/>
        </p:nvSpPr>
        <p:spPr>
          <a:xfrm>
            <a:off x="822960" y="2350080"/>
            <a:ext cx="3245760" cy="438480"/>
          </a:xfrm>
          <a:prstGeom prst="roundRect">
            <a:avLst>
              <a:gd name="adj" fmla="val 16667"/>
            </a:avLst>
          </a:prstGeom>
          <a:solidFill>
            <a:srgbClr val="E6EFFA"/>
          </a:solidFill>
          <a:ln w="12700">
            <a:solidFill>
              <a:srgbClr val="E6EF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8" name="TextBox 12"/>
          <p:cNvSpPr/>
          <p:nvPr/>
        </p:nvSpPr>
        <p:spPr>
          <a:xfrm>
            <a:off x="859680" y="2368440"/>
            <a:ext cx="31726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3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B vs {A,C,D}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Rounded Rectangle 13"/>
          <p:cNvSpPr/>
          <p:nvPr/>
        </p:nvSpPr>
        <p:spPr>
          <a:xfrm>
            <a:off x="822960" y="3008520"/>
            <a:ext cx="3245760" cy="438480"/>
          </a:xfrm>
          <a:prstGeom prst="roundRect">
            <a:avLst>
              <a:gd name="adj" fmla="val 16667"/>
            </a:avLst>
          </a:prstGeom>
          <a:solidFill>
            <a:srgbClr val="E6EFFA"/>
          </a:solidFill>
          <a:ln w="12700">
            <a:solidFill>
              <a:srgbClr val="E6EF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0" name="TextBox 14"/>
          <p:cNvSpPr/>
          <p:nvPr/>
        </p:nvSpPr>
        <p:spPr>
          <a:xfrm>
            <a:off x="859680" y="3026520"/>
            <a:ext cx="31726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3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C vs {A,B,D}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Rounded Rectangle 15"/>
          <p:cNvSpPr/>
          <p:nvPr/>
        </p:nvSpPr>
        <p:spPr>
          <a:xfrm>
            <a:off x="822960" y="3666600"/>
            <a:ext cx="3245760" cy="438480"/>
          </a:xfrm>
          <a:prstGeom prst="roundRect">
            <a:avLst>
              <a:gd name="adj" fmla="val 16667"/>
            </a:avLst>
          </a:prstGeom>
          <a:solidFill>
            <a:srgbClr val="E6EFFA"/>
          </a:solidFill>
          <a:ln w="12700">
            <a:solidFill>
              <a:srgbClr val="E6EF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2" name="TextBox 16"/>
          <p:cNvSpPr/>
          <p:nvPr/>
        </p:nvSpPr>
        <p:spPr>
          <a:xfrm>
            <a:off x="859680" y="3684960"/>
            <a:ext cx="31726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3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D vs {A,B,C}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Box 17"/>
          <p:cNvSpPr/>
          <p:nvPr/>
        </p:nvSpPr>
        <p:spPr>
          <a:xfrm>
            <a:off x="914400" y="4526280"/>
            <a:ext cx="30628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1" u="none" strike="noStrike">
                <a:solidFill>
                  <a:srgbClr val="4678B2"/>
                </a:solidFill>
                <a:effectLst/>
                <a:uFillTx/>
                <a:latin typeface="Arial"/>
              </a:rPr>
              <a:t>K = 4 → 4 модели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Rectangle 18"/>
          <p:cNvSpPr/>
          <p:nvPr/>
        </p:nvSpPr>
        <p:spPr>
          <a:xfrm>
            <a:off x="4453200" y="1234440"/>
            <a:ext cx="13320" cy="4068720"/>
          </a:xfrm>
          <a:prstGeom prst="rect">
            <a:avLst/>
          </a:prstGeom>
          <a:solidFill>
            <a:srgbClr val="DDE4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5" name="TextBox 19"/>
          <p:cNvSpPr/>
          <p:nvPr/>
        </p:nvSpPr>
        <p:spPr>
          <a:xfrm>
            <a:off x="4709160" y="1188720"/>
            <a:ext cx="3702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700" b="1" u="none" strike="noStrike">
                <a:solidFill>
                  <a:srgbClr val="E68B42"/>
                </a:solidFill>
                <a:effectLst/>
                <a:uFillTx/>
                <a:latin typeface="Arial"/>
              </a:rPr>
              <a:t>One-vs-One (OvO)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Rounded Rectangle 20"/>
          <p:cNvSpPr/>
          <p:nvPr/>
        </p:nvSpPr>
        <p:spPr>
          <a:xfrm>
            <a:off x="4937760" y="1810440"/>
            <a:ext cx="3291480" cy="511560"/>
          </a:xfrm>
          <a:prstGeom prst="roundRect">
            <a:avLst>
              <a:gd name="adj" fmla="val 16667"/>
            </a:avLst>
          </a:prstGeom>
          <a:solidFill>
            <a:srgbClr val="FCEFE1"/>
          </a:solidFill>
          <a:ln w="12700">
            <a:solidFill>
              <a:srgbClr val="FCEF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7" name="TextBox 21"/>
          <p:cNvSpPr/>
          <p:nvPr/>
        </p:nvSpPr>
        <p:spPr>
          <a:xfrm>
            <a:off x="4974480" y="1828800"/>
            <a:ext cx="32184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4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A–B   •   A–C   •   A–D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Rounded Rectangle 22"/>
          <p:cNvSpPr/>
          <p:nvPr/>
        </p:nvSpPr>
        <p:spPr>
          <a:xfrm>
            <a:off x="4937760" y="2770560"/>
            <a:ext cx="3291480" cy="511560"/>
          </a:xfrm>
          <a:prstGeom prst="roundRect">
            <a:avLst>
              <a:gd name="adj" fmla="val 16667"/>
            </a:avLst>
          </a:prstGeom>
          <a:solidFill>
            <a:srgbClr val="FCEFE1"/>
          </a:solidFill>
          <a:ln w="12700">
            <a:solidFill>
              <a:srgbClr val="FCEF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9" name="TextBox 23"/>
          <p:cNvSpPr/>
          <p:nvPr/>
        </p:nvSpPr>
        <p:spPr>
          <a:xfrm>
            <a:off x="4974480" y="2788920"/>
            <a:ext cx="32184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4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B–C   •   B–D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Rounded Rectangle 24"/>
          <p:cNvSpPr/>
          <p:nvPr/>
        </p:nvSpPr>
        <p:spPr>
          <a:xfrm>
            <a:off x="4937760" y="3730680"/>
            <a:ext cx="3291480" cy="511560"/>
          </a:xfrm>
          <a:prstGeom prst="roundRect">
            <a:avLst>
              <a:gd name="adj" fmla="val 16667"/>
            </a:avLst>
          </a:prstGeom>
          <a:solidFill>
            <a:srgbClr val="FCEFE1"/>
          </a:solidFill>
          <a:ln w="12700">
            <a:solidFill>
              <a:srgbClr val="FCEF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1" name="TextBox 25"/>
          <p:cNvSpPr/>
          <p:nvPr/>
        </p:nvSpPr>
        <p:spPr>
          <a:xfrm>
            <a:off x="4974480" y="3749040"/>
            <a:ext cx="32184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4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C–D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Box 26"/>
          <p:cNvSpPr/>
          <p:nvPr/>
        </p:nvSpPr>
        <p:spPr>
          <a:xfrm>
            <a:off x="4937760" y="4572000"/>
            <a:ext cx="32914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1" u="none" strike="noStrike">
                <a:solidFill>
                  <a:srgbClr val="E68B42"/>
                </a:solidFill>
                <a:effectLst/>
                <a:uFillTx/>
                <a:latin typeface="Arial"/>
              </a:rPr>
              <a:t>K = 4 → 6 моделей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27"/>
          <p:cNvSpPr/>
          <p:nvPr/>
        </p:nvSpPr>
        <p:spPr>
          <a:xfrm>
            <a:off x="777240" y="5440680"/>
            <a:ext cx="7589160" cy="25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4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Формулы: OvR = K; OvO = K(K−1)/2. При K = 10 это 10 против 45 бинарных моделей.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Rectangle 1"/>
          <p:cNvSpPr/>
          <p:nvPr/>
        </p:nvSpPr>
        <p:spPr>
          <a:xfrm>
            <a:off x="0" y="0"/>
            <a:ext cx="9143640" cy="82080"/>
          </a:xfrm>
          <a:prstGeom prst="rect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5" name="TextBox 2"/>
          <p:cNvSpPr/>
          <p:nvPr/>
        </p:nvSpPr>
        <p:spPr>
          <a:xfrm>
            <a:off x="438840" y="191880"/>
            <a:ext cx="81378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tIns="13680" rIns="13680" bIns="1368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5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От признаков к вероятностям классов</a:t>
            </a:r>
            <a:endParaRPr lang="ru-RU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Rectangle 3"/>
          <p:cNvSpPr/>
          <p:nvPr/>
        </p:nvSpPr>
        <p:spPr>
          <a:xfrm>
            <a:off x="448200" y="804600"/>
            <a:ext cx="658080" cy="4068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7" name="Rectangle 4"/>
          <p:cNvSpPr/>
          <p:nvPr/>
        </p:nvSpPr>
        <p:spPr>
          <a:xfrm>
            <a:off x="438840" y="6519600"/>
            <a:ext cx="8265960" cy="10440"/>
          </a:xfrm>
          <a:prstGeom prst="rect">
            <a:avLst/>
          </a:prstGeom>
          <a:solidFill>
            <a:srgbClr val="DDE4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8" name="TextBox 5"/>
          <p:cNvSpPr/>
          <p:nvPr/>
        </p:nvSpPr>
        <p:spPr>
          <a:xfrm>
            <a:off x="457200" y="6565320"/>
            <a:ext cx="59432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820" b="1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МОДЕЛИ</a:t>
            </a:r>
            <a:endParaRPr lang="ru-RU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Box 6"/>
          <p:cNvSpPr/>
          <p:nvPr/>
        </p:nvSpPr>
        <p:spPr>
          <a:xfrm>
            <a:off x="8229600" y="6546960"/>
            <a:ext cx="411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850" b="0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9</a:t>
            </a:r>
            <a:endParaRPr lang="ru-RU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7"/>
          <p:cNvSpPr/>
          <p:nvPr/>
        </p:nvSpPr>
        <p:spPr>
          <a:xfrm>
            <a:off x="594360" y="1143000"/>
            <a:ext cx="79092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Модель может сначала выдать оценку zₖ для каждого класса, а затем преобразовать scores в вероятности.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Rounded Rectangle 8"/>
          <p:cNvSpPr/>
          <p:nvPr/>
        </p:nvSpPr>
        <p:spPr>
          <a:xfrm>
            <a:off x="777240" y="1965960"/>
            <a:ext cx="1919880" cy="658080"/>
          </a:xfrm>
          <a:prstGeom prst="roundRect">
            <a:avLst>
              <a:gd name="adj" fmla="val 16667"/>
            </a:avLst>
          </a:prstGeom>
          <a:solidFill>
            <a:srgbClr val="E6EFFA"/>
          </a:solidFill>
          <a:ln w="12700">
            <a:solidFill>
              <a:srgbClr val="E6EF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2" name="TextBox 9"/>
          <p:cNvSpPr/>
          <p:nvPr/>
        </p:nvSpPr>
        <p:spPr>
          <a:xfrm>
            <a:off x="813960" y="1984320"/>
            <a:ext cx="184680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1" u="none" strike="noStrike">
                <a:solidFill>
                  <a:srgbClr val="4678B2"/>
                </a:solidFill>
                <a:effectLst/>
                <a:uFillTx/>
                <a:latin typeface="Arial"/>
              </a:rPr>
              <a:t>Признаки x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3" name="Connector 10"/>
          <p:cNvCxnSpPr/>
          <p:nvPr/>
        </p:nvCxnSpPr>
        <p:spPr>
          <a:xfrm>
            <a:off x="2788920" y="2286000"/>
            <a:ext cx="869040" cy="360"/>
          </a:xfrm>
          <a:prstGeom prst="straightConnector1">
            <a:avLst/>
          </a:prstGeom>
          <a:ln w="22860">
            <a:solidFill>
              <a:srgbClr val="148989"/>
            </a:solidFill>
            <a:round/>
          </a:ln>
        </p:spPr>
      </p:cxnSp>
      <p:sp>
        <p:nvSpPr>
          <p:cNvPr id="244" name="Rounded Rectangle 11"/>
          <p:cNvSpPr/>
          <p:nvPr/>
        </p:nvSpPr>
        <p:spPr>
          <a:xfrm>
            <a:off x="3703320" y="1965960"/>
            <a:ext cx="1828440" cy="658080"/>
          </a:xfrm>
          <a:prstGeom prst="roundRect">
            <a:avLst>
              <a:gd name="adj" fmla="val 16667"/>
            </a:avLst>
          </a:prstGeom>
          <a:solidFill>
            <a:srgbClr val="DEF3F1"/>
          </a:solidFill>
          <a:ln w="12700">
            <a:solidFill>
              <a:srgbClr val="DEF3F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5" name="TextBox 12"/>
          <p:cNvSpPr/>
          <p:nvPr/>
        </p:nvSpPr>
        <p:spPr>
          <a:xfrm>
            <a:off x="3740040" y="1984320"/>
            <a:ext cx="17553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500" b="1" u="none" strike="noStrike">
                <a:solidFill>
                  <a:srgbClr val="148989"/>
                </a:solidFill>
                <a:effectLst/>
                <a:uFillTx/>
                <a:latin typeface="Arial"/>
              </a:rPr>
              <a:t>Scores z₁…zK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6" name="Connector 13"/>
          <p:cNvCxnSpPr/>
          <p:nvPr/>
        </p:nvCxnSpPr>
        <p:spPr>
          <a:xfrm>
            <a:off x="5623560" y="2286000"/>
            <a:ext cx="777600" cy="360"/>
          </a:xfrm>
          <a:prstGeom prst="straightConnector1">
            <a:avLst/>
          </a:prstGeom>
          <a:ln w="22860">
            <a:solidFill>
              <a:srgbClr val="148989"/>
            </a:solidFill>
            <a:round/>
          </a:ln>
        </p:spPr>
      </p:cxnSp>
      <p:sp>
        <p:nvSpPr>
          <p:cNvPr id="247" name="Rounded Rectangle 14"/>
          <p:cNvSpPr/>
          <p:nvPr/>
        </p:nvSpPr>
        <p:spPr>
          <a:xfrm>
            <a:off x="6446520" y="1965960"/>
            <a:ext cx="1828440" cy="658080"/>
          </a:xfrm>
          <a:prstGeom prst="roundRect">
            <a:avLst>
              <a:gd name="adj" fmla="val 16667"/>
            </a:avLst>
          </a:prstGeom>
          <a:solidFill>
            <a:srgbClr val="FCEFE1"/>
          </a:solidFill>
          <a:ln w="12700">
            <a:solidFill>
              <a:srgbClr val="FCEF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8" name="TextBox 15"/>
          <p:cNvSpPr/>
          <p:nvPr/>
        </p:nvSpPr>
        <p:spPr>
          <a:xfrm>
            <a:off x="6483240" y="1984320"/>
            <a:ext cx="17553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400" b="1" u="none" strike="noStrike">
                <a:solidFill>
                  <a:srgbClr val="E68B42"/>
                </a:solidFill>
                <a:effectLst/>
                <a:uFillTx/>
                <a:latin typeface="Arial"/>
              </a:rPr>
              <a:t>Вероятности pₖ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Rounded Rectangle 16"/>
          <p:cNvSpPr/>
          <p:nvPr/>
        </p:nvSpPr>
        <p:spPr>
          <a:xfrm>
            <a:off x="685800" y="2999160"/>
            <a:ext cx="7726320" cy="1051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8800" tIns="118800" rIns="118800" bIns="118800" anchor="ctr">
            <a:no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Softmax-преобразование: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900" b="1" u="none" strike="noStrike">
                <a:solidFill>
                  <a:srgbClr val="148989"/>
                </a:solidFill>
                <a:effectLst/>
                <a:uFillTx/>
                <a:latin typeface="Arial"/>
              </a:rPr>
              <a:t>pₖ = exp(zₖ) / Σⱼ exp(zⱼ);  pₖ ≥ 0,  Σₖ pₖ = 1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35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Предсказанный класс обычно argmaxₖ pₖ, но в прикладной задаче решение может учитывать стоимость ошибок.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Rounded Rectangle 17"/>
          <p:cNvSpPr/>
          <p:nvPr/>
        </p:nvSpPr>
        <p:spPr>
          <a:xfrm>
            <a:off x="685800" y="4370760"/>
            <a:ext cx="3730320" cy="1142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1" name="Rectangle 18"/>
          <p:cNvSpPr/>
          <p:nvPr/>
        </p:nvSpPr>
        <p:spPr>
          <a:xfrm>
            <a:off x="704160" y="4489560"/>
            <a:ext cx="50040" cy="905040"/>
          </a:xfrm>
          <a:prstGeom prst="rect">
            <a:avLst/>
          </a:prstGeom>
          <a:solidFill>
            <a:srgbClr val="4678B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2" name="TextBox 19"/>
          <p:cNvSpPr/>
          <p:nvPr/>
        </p:nvSpPr>
        <p:spPr>
          <a:xfrm>
            <a:off x="841320" y="4471560"/>
            <a:ext cx="3474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Пример score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Box 20"/>
          <p:cNvSpPr/>
          <p:nvPr/>
        </p:nvSpPr>
        <p:spPr>
          <a:xfrm>
            <a:off x="841320" y="4818960"/>
            <a:ext cx="34743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4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Для 3 классов scores = (2.0; 1.0; −0.5). После softmax получаем распределение, а не набор независимых вероятностей.</a:t>
            </a:r>
            <a:endParaRPr lang="ru-RU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Rounded Rectangle 21"/>
          <p:cNvSpPr/>
          <p:nvPr/>
        </p:nvSpPr>
        <p:spPr>
          <a:xfrm>
            <a:off x="4617720" y="4370760"/>
            <a:ext cx="3730320" cy="1142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5" name="Rectangle 22"/>
          <p:cNvSpPr/>
          <p:nvPr/>
        </p:nvSpPr>
        <p:spPr>
          <a:xfrm>
            <a:off x="4636080" y="4489560"/>
            <a:ext cx="50040" cy="90504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6" name="TextBox 23"/>
          <p:cNvSpPr/>
          <p:nvPr/>
        </p:nvSpPr>
        <p:spPr>
          <a:xfrm>
            <a:off x="4773240" y="4471560"/>
            <a:ext cx="3474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Важная оговорка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Box 24"/>
          <p:cNvSpPr/>
          <p:nvPr/>
        </p:nvSpPr>
        <p:spPr>
          <a:xfrm>
            <a:off x="4773240" y="4818960"/>
            <a:ext cx="3474360" cy="51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4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Score ≠ вероятность. Даже predict_proba не гарантирует хорошую калибровку - её нужно проверять отдельно.</a:t>
            </a:r>
            <a:endParaRPr lang="ru-RU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Rectangle 1"/>
          <p:cNvSpPr/>
          <p:nvPr/>
        </p:nvSpPr>
        <p:spPr>
          <a:xfrm>
            <a:off x="0" y="0"/>
            <a:ext cx="9143640" cy="82080"/>
          </a:xfrm>
          <a:prstGeom prst="rect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9" name="TextBox 2"/>
          <p:cNvSpPr/>
          <p:nvPr/>
        </p:nvSpPr>
        <p:spPr>
          <a:xfrm>
            <a:off x="438840" y="191880"/>
            <a:ext cx="81378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tIns="13680" rIns="13680" bIns="1368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1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Функция потерь: почему важна не только метка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Rectangle 3"/>
          <p:cNvSpPr/>
          <p:nvPr/>
        </p:nvSpPr>
        <p:spPr>
          <a:xfrm>
            <a:off x="448200" y="804600"/>
            <a:ext cx="658080" cy="4068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1" name="Rectangle 4"/>
          <p:cNvSpPr/>
          <p:nvPr/>
        </p:nvSpPr>
        <p:spPr>
          <a:xfrm>
            <a:off x="438840" y="6519600"/>
            <a:ext cx="8265960" cy="10440"/>
          </a:xfrm>
          <a:prstGeom prst="rect">
            <a:avLst/>
          </a:prstGeom>
          <a:solidFill>
            <a:srgbClr val="DDE4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2" name="TextBox 5"/>
          <p:cNvSpPr/>
          <p:nvPr/>
        </p:nvSpPr>
        <p:spPr>
          <a:xfrm>
            <a:off x="457200" y="6565320"/>
            <a:ext cx="59432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820" b="1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МОДЕЛИ</a:t>
            </a:r>
            <a:endParaRPr lang="ru-RU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Box 6"/>
          <p:cNvSpPr/>
          <p:nvPr/>
        </p:nvSpPr>
        <p:spPr>
          <a:xfrm>
            <a:off x="8229600" y="6546960"/>
            <a:ext cx="411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850" b="0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10</a:t>
            </a:r>
            <a:endParaRPr lang="ru-RU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Box 7"/>
          <p:cNvSpPr/>
          <p:nvPr/>
        </p:nvSpPr>
        <p:spPr>
          <a:xfrm>
            <a:off x="640080" y="1143000"/>
            <a:ext cx="790920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Для вероятностного классификатора часто оптимизируют кросс-энтропию (log loss).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Rounded Rectangle 8"/>
          <p:cNvSpPr/>
          <p:nvPr/>
        </p:nvSpPr>
        <p:spPr>
          <a:xfrm>
            <a:off x="685800" y="1783080"/>
            <a:ext cx="7772040" cy="1051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46160" rIns="146160" bIns="146160" anchor="ctr">
            <a:noAutofit/>
          </a:bodyPr>
          <a:p>
            <a:pPr algn="ctr" defTabSz="457200">
              <a:lnSpc>
                <a:spcPct val="100000"/>
              </a:lnSpc>
              <a:spcAft>
                <a:spcPts val="499"/>
              </a:spcAft>
            </a:pPr>
            <a:r>
              <a:rPr lang="en-US" sz="2300" b="1" u="none" strike="noStrike">
                <a:solidFill>
                  <a:srgbClr val="148989"/>
                </a:solidFill>
                <a:effectLst/>
                <a:uFillTx/>
                <a:latin typeface="Arial"/>
              </a:rPr>
              <a:t>L = −(1/m) Σᵢ log p(yᵢ | xᵢ)</a:t>
            </a:r>
            <a:endParaRPr lang="ru-RU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499"/>
              </a:spcAft>
            </a:pPr>
            <a:r>
              <a:rPr lang="en-US" sz="140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Штраф зависит от вероятности истинного класса: уверенная ошибка обходится дороже.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Rounded Rectangle 9"/>
          <p:cNvSpPr/>
          <p:nvPr/>
        </p:nvSpPr>
        <p:spPr>
          <a:xfrm>
            <a:off x="685800" y="3200400"/>
            <a:ext cx="3638880" cy="144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7" name="Rectangle 10"/>
          <p:cNvSpPr/>
          <p:nvPr/>
        </p:nvSpPr>
        <p:spPr>
          <a:xfrm>
            <a:off x="704160" y="3319200"/>
            <a:ext cx="50040" cy="1206720"/>
          </a:xfrm>
          <a:prstGeom prst="rect">
            <a:avLst/>
          </a:prstGeom>
          <a:solidFill>
            <a:srgbClr val="3989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8" name="TextBox 11"/>
          <p:cNvSpPr/>
          <p:nvPr/>
        </p:nvSpPr>
        <p:spPr>
          <a:xfrm>
            <a:off x="841320" y="3300840"/>
            <a:ext cx="33829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Истинный класс A: p(A)=0,90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12"/>
          <p:cNvSpPr/>
          <p:nvPr/>
        </p:nvSpPr>
        <p:spPr>
          <a:xfrm>
            <a:off x="841320" y="3648600"/>
            <a:ext cx="338292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0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Потеря = −ln(0,90) ≈ 0,105. Модель не только выбрала A, но и высоко оценила его вероятность. Цель любого алгоритма машинного обучения - минимизировать потерю (сделать её как можно ближе к нулю). 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Rounded Rectangle 13"/>
          <p:cNvSpPr/>
          <p:nvPr/>
        </p:nvSpPr>
        <p:spPr>
          <a:xfrm>
            <a:off x="4617720" y="3200400"/>
            <a:ext cx="3638880" cy="144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1" name="Rectangle 14"/>
          <p:cNvSpPr/>
          <p:nvPr/>
        </p:nvSpPr>
        <p:spPr>
          <a:xfrm>
            <a:off x="4636080" y="3319200"/>
            <a:ext cx="50040" cy="1206720"/>
          </a:xfrm>
          <a:prstGeom prst="rect">
            <a:avLst/>
          </a:prstGeom>
          <a:solidFill>
            <a:srgbClr val="B44C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2" name="TextBox 15"/>
          <p:cNvSpPr/>
          <p:nvPr/>
        </p:nvSpPr>
        <p:spPr>
          <a:xfrm>
            <a:off x="4773240" y="3300840"/>
            <a:ext cx="33829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Истинный класс A: p(A)=0,20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Box 16"/>
          <p:cNvSpPr/>
          <p:nvPr/>
        </p:nvSpPr>
        <p:spPr>
          <a:xfrm>
            <a:off x="4773240" y="3648600"/>
            <a:ext cx="3382920" cy="6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5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Потеря = −ln(0,20) ≈ 1,609. Даже если класс A оказался на 1м месте, модель слабо уверена в правильном ответе.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Box 17"/>
          <p:cNvSpPr/>
          <p:nvPr/>
        </p:nvSpPr>
        <p:spPr>
          <a:xfrm>
            <a:off x="731520" y="5074920"/>
            <a:ext cx="7589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ctr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4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Accuracy сравнивает только итоговые метки; log loss учитывает всю вероятность, назначенную истинному классу.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Rectangle 1"/>
          <p:cNvSpPr/>
          <p:nvPr/>
        </p:nvSpPr>
        <p:spPr>
          <a:xfrm>
            <a:off x="0" y="0"/>
            <a:ext cx="9143640" cy="82080"/>
          </a:xfrm>
          <a:prstGeom prst="rect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6" name="TextBox 2"/>
          <p:cNvSpPr/>
          <p:nvPr/>
        </p:nvSpPr>
        <p:spPr>
          <a:xfrm>
            <a:off x="438840" y="191880"/>
            <a:ext cx="813780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tIns="13680" rIns="13680" bIns="1368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9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baseline: с чем сравнивать сложную модель?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Rectangle 3"/>
          <p:cNvSpPr/>
          <p:nvPr/>
        </p:nvSpPr>
        <p:spPr>
          <a:xfrm>
            <a:off x="448200" y="804600"/>
            <a:ext cx="658080" cy="4068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8" name="Rectangle 4"/>
          <p:cNvSpPr/>
          <p:nvPr/>
        </p:nvSpPr>
        <p:spPr>
          <a:xfrm>
            <a:off x="438840" y="6519600"/>
            <a:ext cx="8265960" cy="10440"/>
          </a:xfrm>
          <a:prstGeom prst="rect">
            <a:avLst/>
          </a:prstGeom>
          <a:solidFill>
            <a:srgbClr val="DDE4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9" name="TextBox 5"/>
          <p:cNvSpPr/>
          <p:nvPr/>
        </p:nvSpPr>
        <p:spPr>
          <a:xfrm>
            <a:off x="457200" y="6565320"/>
            <a:ext cx="59432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820" b="1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МЕТОДЫ</a:t>
            </a:r>
            <a:endParaRPr lang="ru-RU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6"/>
          <p:cNvSpPr/>
          <p:nvPr/>
        </p:nvSpPr>
        <p:spPr>
          <a:xfrm>
            <a:off x="8229600" y="6546960"/>
            <a:ext cx="411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850" b="0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11</a:t>
            </a:r>
            <a:endParaRPr lang="ru-RU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Rounded Rectangle 7"/>
          <p:cNvSpPr/>
          <p:nvPr/>
        </p:nvSpPr>
        <p:spPr>
          <a:xfrm>
            <a:off x="594360" y="1188720"/>
            <a:ext cx="2514240" cy="1554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2" name="Rectangle 8"/>
          <p:cNvSpPr/>
          <p:nvPr/>
        </p:nvSpPr>
        <p:spPr>
          <a:xfrm>
            <a:off x="612720" y="1307520"/>
            <a:ext cx="50040" cy="1316520"/>
          </a:xfrm>
          <a:prstGeom prst="rect">
            <a:avLst/>
          </a:prstGeom>
          <a:solidFill>
            <a:srgbClr val="4678B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3" name="TextBox 9"/>
          <p:cNvSpPr/>
          <p:nvPr/>
        </p:nvSpPr>
        <p:spPr>
          <a:xfrm>
            <a:off x="749880" y="1289160"/>
            <a:ext cx="22582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Majority class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Box 10"/>
          <p:cNvSpPr/>
          <p:nvPr/>
        </p:nvSpPr>
        <p:spPr>
          <a:xfrm>
            <a:off x="749880" y="1636920"/>
            <a:ext cx="2258280" cy="10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8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Всегда предсказывать самый частый класс. Полезно как нижняя контрольная точка.</a:t>
            </a:r>
            <a:endParaRPr lang="ru-RU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Rounded Rectangle 11"/>
          <p:cNvSpPr/>
          <p:nvPr/>
        </p:nvSpPr>
        <p:spPr>
          <a:xfrm>
            <a:off x="3291840" y="1188720"/>
            <a:ext cx="2514240" cy="1554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6" name="Rectangle 12"/>
          <p:cNvSpPr/>
          <p:nvPr/>
        </p:nvSpPr>
        <p:spPr>
          <a:xfrm>
            <a:off x="3310200" y="1307520"/>
            <a:ext cx="50040" cy="1316520"/>
          </a:xfrm>
          <a:prstGeom prst="rect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7" name="TextBox 13"/>
          <p:cNvSpPr/>
          <p:nvPr/>
        </p:nvSpPr>
        <p:spPr>
          <a:xfrm>
            <a:off x="3447360" y="1289160"/>
            <a:ext cx="22582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Prior baseline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Box 14"/>
          <p:cNvSpPr/>
          <p:nvPr/>
        </p:nvSpPr>
        <p:spPr>
          <a:xfrm>
            <a:off x="3447360" y="1636920"/>
            <a:ext cx="2258280" cy="68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7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Оценивать распределение классов без использования признаков; полезно для вероятностных метрик.</a:t>
            </a:r>
            <a:endParaRPr lang="ru-RU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Rounded Rectangle 15"/>
          <p:cNvSpPr/>
          <p:nvPr/>
        </p:nvSpPr>
        <p:spPr>
          <a:xfrm>
            <a:off x="5989320" y="1188720"/>
            <a:ext cx="2514240" cy="1554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0" name="Rectangle 16"/>
          <p:cNvSpPr/>
          <p:nvPr/>
        </p:nvSpPr>
        <p:spPr>
          <a:xfrm>
            <a:off x="6007680" y="1307520"/>
            <a:ext cx="50040" cy="131652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1" name="TextBox 17"/>
          <p:cNvSpPr/>
          <p:nvPr/>
        </p:nvSpPr>
        <p:spPr>
          <a:xfrm>
            <a:off x="6144840" y="1289160"/>
            <a:ext cx="22582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Простая модель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Box 18"/>
          <p:cNvSpPr/>
          <p:nvPr/>
        </p:nvSpPr>
        <p:spPr>
          <a:xfrm>
            <a:off x="6144840" y="1636920"/>
            <a:ext cx="2258280" cy="62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8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Multinomial logistic regression или простой decision tree - понятный ориентир.</a:t>
            </a:r>
            <a:endParaRPr lang="ru-RU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Box 19"/>
          <p:cNvSpPr/>
          <p:nvPr/>
        </p:nvSpPr>
        <p:spPr>
          <a:xfrm>
            <a:off x="685800" y="3154680"/>
            <a:ext cx="777204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пример: из 1000 объектов 900 принадлежат классу A, 80 - B, 20 - C.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Box 20"/>
          <p:cNvSpPr/>
          <p:nvPr/>
        </p:nvSpPr>
        <p:spPr>
          <a:xfrm>
            <a:off x="822960" y="3703320"/>
            <a:ext cx="3196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A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Rounded Rectangle 21"/>
          <p:cNvSpPr/>
          <p:nvPr/>
        </p:nvSpPr>
        <p:spPr>
          <a:xfrm>
            <a:off x="1234440" y="3717000"/>
            <a:ext cx="5760360" cy="228240"/>
          </a:xfrm>
          <a:prstGeom prst="roundRect">
            <a:avLst>
              <a:gd name="adj" fmla="val 16667"/>
            </a:avLst>
          </a:prstGeom>
          <a:solidFill>
            <a:srgbClr val="EC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6" name="Rounded Rectangle 22"/>
          <p:cNvSpPr/>
          <p:nvPr/>
        </p:nvSpPr>
        <p:spPr>
          <a:xfrm>
            <a:off x="1234440" y="3717000"/>
            <a:ext cx="5760360" cy="228240"/>
          </a:xfrm>
          <a:prstGeom prst="roundRect">
            <a:avLst>
              <a:gd name="adj" fmla="val 16667"/>
            </a:avLst>
          </a:prstGeom>
          <a:solidFill>
            <a:srgbClr val="4678B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7" name="TextBox 23"/>
          <p:cNvSpPr/>
          <p:nvPr/>
        </p:nvSpPr>
        <p:spPr>
          <a:xfrm>
            <a:off x="7223760" y="37033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900 (90%)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Box 24"/>
          <p:cNvSpPr/>
          <p:nvPr/>
        </p:nvSpPr>
        <p:spPr>
          <a:xfrm>
            <a:off x="822960" y="4206240"/>
            <a:ext cx="3196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B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Rounded Rectangle 25"/>
          <p:cNvSpPr/>
          <p:nvPr/>
        </p:nvSpPr>
        <p:spPr>
          <a:xfrm>
            <a:off x="1234440" y="4219920"/>
            <a:ext cx="5760360" cy="228240"/>
          </a:xfrm>
          <a:prstGeom prst="roundRect">
            <a:avLst>
              <a:gd name="adj" fmla="val 16667"/>
            </a:avLst>
          </a:prstGeom>
          <a:solidFill>
            <a:srgbClr val="EC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0" name="Rounded Rectangle 26"/>
          <p:cNvSpPr/>
          <p:nvPr/>
        </p:nvSpPr>
        <p:spPr>
          <a:xfrm>
            <a:off x="1234440" y="4219920"/>
            <a:ext cx="511560" cy="228240"/>
          </a:xfrm>
          <a:prstGeom prst="roundRect">
            <a:avLst>
              <a:gd name="adj" fmla="val 16667"/>
            </a:avLst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1" name="TextBox 27"/>
          <p:cNvSpPr/>
          <p:nvPr/>
        </p:nvSpPr>
        <p:spPr>
          <a:xfrm>
            <a:off x="7223760" y="420624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80 (8%)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Box 28"/>
          <p:cNvSpPr/>
          <p:nvPr/>
        </p:nvSpPr>
        <p:spPr>
          <a:xfrm>
            <a:off x="822960" y="4709160"/>
            <a:ext cx="3196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C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Rounded Rectangle 29"/>
          <p:cNvSpPr/>
          <p:nvPr/>
        </p:nvSpPr>
        <p:spPr>
          <a:xfrm>
            <a:off x="1234440" y="4722840"/>
            <a:ext cx="5760360" cy="228240"/>
          </a:xfrm>
          <a:prstGeom prst="roundRect">
            <a:avLst>
              <a:gd name="adj" fmla="val 16667"/>
            </a:avLst>
          </a:prstGeom>
          <a:solidFill>
            <a:srgbClr val="EC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4" name="Rounded Rectangle 30"/>
          <p:cNvSpPr/>
          <p:nvPr/>
        </p:nvSpPr>
        <p:spPr>
          <a:xfrm>
            <a:off x="1234440" y="4722840"/>
            <a:ext cx="127800" cy="228240"/>
          </a:xfrm>
          <a:prstGeom prst="roundRect">
            <a:avLst>
              <a:gd name="adj" fmla="val 16667"/>
            </a:avLst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5" name="TextBox 31"/>
          <p:cNvSpPr/>
          <p:nvPr/>
        </p:nvSpPr>
        <p:spPr>
          <a:xfrm>
            <a:off x="7223760" y="470916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20 (2%)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Box 32"/>
          <p:cNvSpPr/>
          <p:nvPr/>
        </p:nvSpPr>
        <p:spPr>
          <a:xfrm>
            <a:off x="777240" y="5431680"/>
            <a:ext cx="75891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ctr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450" b="1" u="none" strike="noStrike">
                <a:solidFill>
                  <a:srgbClr val="B44C4C"/>
                </a:solidFill>
                <a:effectLst/>
                <a:uFillTx/>
                <a:latin typeface="Arial"/>
              </a:rPr>
              <a:t>Majority baseline даст Accuracy = 90%, но не распознает ни одного объекта классов B и C.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Rectangle 1"/>
          <p:cNvSpPr/>
          <p:nvPr/>
        </p:nvSpPr>
        <p:spPr>
          <a:xfrm>
            <a:off x="0" y="0"/>
            <a:ext cx="9143640" cy="82080"/>
          </a:xfrm>
          <a:prstGeom prst="rect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8" name="TextBox 2"/>
          <p:cNvSpPr/>
          <p:nvPr/>
        </p:nvSpPr>
        <p:spPr>
          <a:xfrm>
            <a:off x="438840" y="191880"/>
            <a:ext cx="81378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tIns="13680" rIns="13680" bIns="1368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1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Дерево решений: последовательные разбиения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Rectangle 3"/>
          <p:cNvSpPr/>
          <p:nvPr/>
        </p:nvSpPr>
        <p:spPr>
          <a:xfrm>
            <a:off x="448200" y="804600"/>
            <a:ext cx="658080" cy="4068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0" name="Rectangle 4"/>
          <p:cNvSpPr/>
          <p:nvPr/>
        </p:nvSpPr>
        <p:spPr>
          <a:xfrm>
            <a:off x="438840" y="6519600"/>
            <a:ext cx="8265960" cy="10440"/>
          </a:xfrm>
          <a:prstGeom prst="rect">
            <a:avLst/>
          </a:prstGeom>
          <a:solidFill>
            <a:srgbClr val="DDE4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1" name="TextBox 5"/>
          <p:cNvSpPr/>
          <p:nvPr/>
        </p:nvSpPr>
        <p:spPr>
          <a:xfrm>
            <a:off x="457200" y="6565320"/>
            <a:ext cx="59432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820" b="1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МОДЕЛИ</a:t>
            </a:r>
            <a:endParaRPr lang="ru-RU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Box 6"/>
          <p:cNvSpPr/>
          <p:nvPr/>
        </p:nvSpPr>
        <p:spPr>
          <a:xfrm>
            <a:off x="8229600" y="6546960"/>
            <a:ext cx="411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850" b="0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12</a:t>
            </a:r>
            <a:endParaRPr lang="ru-RU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Box 8"/>
          <p:cNvSpPr/>
          <p:nvPr/>
        </p:nvSpPr>
        <p:spPr>
          <a:xfrm>
            <a:off x="640080" y="1115640"/>
            <a:ext cx="77720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0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Модель делит пространство признаков на области и назначает листу распределение классов. Пример: предсказать прогноз погоды.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Rounded Rectangle 9"/>
          <p:cNvSpPr/>
          <p:nvPr/>
        </p:nvSpPr>
        <p:spPr>
          <a:xfrm>
            <a:off x="3200400" y="1737360"/>
            <a:ext cx="2742840" cy="502560"/>
          </a:xfrm>
          <a:prstGeom prst="roundRect">
            <a:avLst>
              <a:gd name="adj" fmla="val 16667"/>
            </a:avLst>
          </a:prstGeom>
          <a:solidFill>
            <a:srgbClr val="E6EFFA"/>
          </a:solidFill>
          <a:ln w="12700">
            <a:solidFill>
              <a:srgbClr val="E6EF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5" name="TextBox 10"/>
          <p:cNvSpPr/>
          <p:nvPr/>
        </p:nvSpPr>
        <p:spPr>
          <a:xfrm>
            <a:off x="3237120" y="1755720"/>
            <a:ext cx="266976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4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Влажность &gt; 75%?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6" name="Connector 11"/>
          <p:cNvCxnSpPr/>
          <p:nvPr/>
        </p:nvCxnSpPr>
        <p:spPr>
          <a:xfrm flipH="1">
            <a:off x="2194560" y="2258280"/>
            <a:ext cx="1463400" cy="531000"/>
          </a:xfrm>
          <a:prstGeom prst="straightConnector1">
            <a:avLst/>
          </a:prstGeom>
          <a:ln w="22860">
            <a:solidFill>
              <a:srgbClr val="148989"/>
            </a:solidFill>
            <a:round/>
          </a:ln>
        </p:spPr>
      </p:cxnSp>
      <p:cxnSp>
        <p:nvCxnSpPr>
          <p:cNvPr id="317" name="Connector 12"/>
          <p:cNvCxnSpPr/>
          <p:nvPr/>
        </p:nvCxnSpPr>
        <p:spPr>
          <a:xfrm>
            <a:off x="5486400" y="2258280"/>
            <a:ext cx="1463400" cy="531000"/>
          </a:xfrm>
          <a:prstGeom prst="straightConnector1">
            <a:avLst/>
          </a:prstGeom>
          <a:ln w="22860">
            <a:solidFill>
              <a:srgbClr val="148989"/>
            </a:solidFill>
            <a:round/>
          </a:ln>
        </p:spPr>
      </p:cxnSp>
      <p:sp>
        <p:nvSpPr>
          <p:cNvPr id="318" name="Rounded Rectangle 13"/>
          <p:cNvSpPr/>
          <p:nvPr/>
        </p:nvSpPr>
        <p:spPr>
          <a:xfrm>
            <a:off x="960120" y="2834640"/>
            <a:ext cx="2468520" cy="502560"/>
          </a:xfrm>
          <a:prstGeom prst="roundRect">
            <a:avLst>
              <a:gd name="adj" fmla="val 16667"/>
            </a:avLst>
          </a:prstGeom>
          <a:solidFill>
            <a:srgbClr val="DEF3F1"/>
          </a:solidFill>
          <a:ln w="12700">
            <a:solidFill>
              <a:srgbClr val="DEF3F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9" name="TextBox 14"/>
          <p:cNvSpPr/>
          <p:nvPr/>
        </p:nvSpPr>
        <p:spPr>
          <a:xfrm>
            <a:off x="996840" y="2853000"/>
            <a:ext cx="239544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400" b="1" u="none" strike="noStrike">
                <a:solidFill>
                  <a:srgbClr val="148989"/>
                </a:solidFill>
                <a:effectLst/>
                <a:uFillTx/>
                <a:latin typeface="Arial"/>
              </a:rPr>
              <a:t>Да: дождь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Rounded Rectangle 15"/>
          <p:cNvSpPr/>
          <p:nvPr/>
        </p:nvSpPr>
        <p:spPr>
          <a:xfrm>
            <a:off x="5715000" y="2834640"/>
            <a:ext cx="2468520" cy="502560"/>
          </a:xfrm>
          <a:prstGeom prst="roundRect">
            <a:avLst>
              <a:gd name="adj" fmla="val 16667"/>
            </a:avLst>
          </a:prstGeom>
          <a:solidFill>
            <a:srgbClr val="FCEFE1"/>
          </a:solidFill>
          <a:ln w="12700">
            <a:solidFill>
              <a:srgbClr val="FCEF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1" name="TextBox 16"/>
          <p:cNvSpPr/>
          <p:nvPr/>
        </p:nvSpPr>
        <p:spPr>
          <a:xfrm>
            <a:off x="5751720" y="2853000"/>
            <a:ext cx="239544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300" b="1" u="none" strike="noStrike">
                <a:solidFill>
                  <a:srgbClr val="E68B42"/>
                </a:solidFill>
                <a:effectLst/>
                <a:uFillTx/>
                <a:latin typeface="Arial"/>
              </a:rPr>
              <a:t>Нет: sunny/cloudy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22" name="Connector 17"/>
          <p:cNvCxnSpPr/>
          <p:nvPr/>
        </p:nvCxnSpPr>
        <p:spPr>
          <a:xfrm>
            <a:off x="6949440" y="3337560"/>
            <a:ext cx="360" cy="411480"/>
          </a:xfrm>
          <a:prstGeom prst="straightConnector1">
            <a:avLst/>
          </a:prstGeom>
          <a:ln w="22860">
            <a:solidFill>
              <a:srgbClr val="148989"/>
            </a:solidFill>
            <a:round/>
          </a:ln>
        </p:spPr>
      </p:cxnSp>
      <p:sp>
        <p:nvSpPr>
          <p:cNvPr id="323" name="Rounded Rectangle 18"/>
          <p:cNvSpPr/>
          <p:nvPr/>
        </p:nvSpPr>
        <p:spPr>
          <a:xfrm>
            <a:off x="5669280" y="3767400"/>
            <a:ext cx="2559960" cy="502560"/>
          </a:xfrm>
          <a:prstGeom prst="roundRect">
            <a:avLst>
              <a:gd name="adj" fmla="val 16667"/>
            </a:avLst>
          </a:prstGeom>
          <a:solidFill>
            <a:srgbClr val="E6EFFA"/>
          </a:solidFill>
          <a:ln w="12700">
            <a:solidFill>
              <a:srgbClr val="E6EF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4" name="TextBox 19"/>
          <p:cNvSpPr/>
          <p:nvPr/>
        </p:nvSpPr>
        <p:spPr>
          <a:xfrm>
            <a:off x="5706000" y="3785760"/>
            <a:ext cx="248688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3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Ветер сильный?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25" name="Connector 20"/>
          <p:cNvCxnSpPr/>
          <p:nvPr/>
        </p:nvCxnSpPr>
        <p:spPr>
          <a:xfrm flipH="1">
            <a:off x="4983480" y="4269960"/>
            <a:ext cx="1097640" cy="411840"/>
          </a:xfrm>
          <a:prstGeom prst="straightConnector1">
            <a:avLst/>
          </a:prstGeom>
          <a:ln w="22860">
            <a:solidFill>
              <a:srgbClr val="148989"/>
            </a:solidFill>
            <a:round/>
          </a:ln>
        </p:spPr>
      </p:cxnSp>
      <p:cxnSp>
        <p:nvCxnSpPr>
          <p:cNvPr id="326" name="Connector 21"/>
          <p:cNvCxnSpPr/>
          <p:nvPr/>
        </p:nvCxnSpPr>
        <p:spPr>
          <a:xfrm>
            <a:off x="7818120" y="4269960"/>
            <a:ext cx="183240" cy="411840"/>
          </a:xfrm>
          <a:prstGeom prst="straightConnector1">
            <a:avLst/>
          </a:prstGeom>
          <a:ln w="22860">
            <a:solidFill>
              <a:srgbClr val="148989"/>
            </a:solidFill>
            <a:round/>
          </a:ln>
        </p:spPr>
      </p:cxnSp>
      <p:sp>
        <p:nvSpPr>
          <p:cNvPr id="327" name="Rounded Rectangle 22"/>
          <p:cNvSpPr/>
          <p:nvPr/>
        </p:nvSpPr>
        <p:spPr>
          <a:xfrm>
            <a:off x="3886200" y="4681800"/>
            <a:ext cx="2194200" cy="456840"/>
          </a:xfrm>
          <a:prstGeom prst="roundRect">
            <a:avLst>
              <a:gd name="adj" fmla="val 16667"/>
            </a:avLst>
          </a:prstGeom>
          <a:solidFill>
            <a:srgbClr val="FCEFE1"/>
          </a:solidFill>
          <a:ln w="12700">
            <a:solidFill>
              <a:srgbClr val="FCEF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8" name="TextBox 23"/>
          <p:cNvSpPr/>
          <p:nvPr/>
        </p:nvSpPr>
        <p:spPr>
          <a:xfrm>
            <a:off x="3922920" y="4700160"/>
            <a:ext cx="2121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250" b="1" u="none" strike="noStrike">
                <a:solidFill>
                  <a:srgbClr val="E68B42"/>
                </a:solidFill>
                <a:effectLst/>
                <a:uFillTx/>
                <a:latin typeface="Arial"/>
              </a:rPr>
              <a:t>Да: cloudy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Rounded Rectangle 24"/>
          <p:cNvSpPr/>
          <p:nvPr/>
        </p:nvSpPr>
        <p:spPr>
          <a:xfrm>
            <a:off x="6903720" y="4681800"/>
            <a:ext cx="1737000" cy="456840"/>
          </a:xfrm>
          <a:prstGeom prst="roundRect">
            <a:avLst>
              <a:gd name="adj" fmla="val 16667"/>
            </a:avLst>
          </a:prstGeom>
          <a:solidFill>
            <a:srgbClr val="E3F3EB"/>
          </a:solidFill>
          <a:ln w="12700">
            <a:solidFill>
              <a:srgbClr val="E3F3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0" name="TextBox 25"/>
          <p:cNvSpPr/>
          <p:nvPr/>
        </p:nvSpPr>
        <p:spPr>
          <a:xfrm>
            <a:off x="6940440" y="4700160"/>
            <a:ext cx="16639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250" b="1" u="none" strike="noStrike">
                <a:solidFill>
                  <a:srgbClr val="398969"/>
                </a:solidFill>
                <a:effectLst/>
                <a:uFillTx/>
                <a:latin typeface="Arial"/>
              </a:rPr>
              <a:t>Нет: shine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Rounded Rectangle 26"/>
          <p:cNvSpPr/>
          <p:nvPr/>
        </p:nvSpPr>
        <p:spPr>
          <a:xfrm>
            <a:off x="640080" y="3657600"/>
            <a:ext cx="2605680" cy="1142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2" name="Rectangle 27"/>
          <p:cNvSpPr/>
          <p:nvPr/>
        </p:nvSpPr>
        <p:spPr>
          <a:xfrm>
            <a:off x="658440" y="3776400"/>
            <a:ext cx="50040" cy="905040"/>
          </a:xfrm>
          <a:prstGeom prst="rect">
            <a:avLst/>
          </a:prstGeom>
          <a:solidFill>
            <a:srgbClr val="3989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3" name="TextBox 28"/>
          <p:cNvSpPr/>
          <p:nvPr/>
        </p:nvSpPr>
        <p:spPr>
          <a:xfrm>
            <a:off x="795600" y="3758040"/>
            <a:ext cx="2349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Плюсы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Box 29"/>
          <p:cNvSpPr/>
          <p:nvPr/>
        </p:nvSpPr>
        <p:spPr>
          <a:xfrm>
            <a:off x="795600" y="4105800"/>
            <a:ext cx="23497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4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Прозрачные правила; работа с нелинейностями и смешанными типами признаков.</a:t>
            </a:r>
            <a:endParaRPr lang="ru-RU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Rectangle 1"/>
          <p:cNvSpPr/>
          <p:nvPr/>
        </p:nvSpPr>
        <p:spPr>
          <a:xfrm>
            <a:off x="0" y="0"/>
            <a:ext cx="9143640" cy="82080"/>
          </a:xfrm>
          <a:prstGeom prst="rect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6" name="TextBox 2"/>
          <p:cNvSpPr/>
          <p:nvPr/>
        </p:nvSpPr>
        <p:spPr>
          <a:xfrm>
            <a:off x="438840" y="191880"/>
            <a:ext cx="81378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tIns="13680" rIns="13680" bIns="1368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5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Как дерево выбирает разбиение?</a:t>
            </a:r>
            <a:endParaRPr lang="ru-RU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Rectangle 3"/>
          <p:cNvSpPr/>
          <p:nvPr/>
        </p:nvSpPr>
        <p:spPr>
          <a:xfrm>
            <a:off x="448200" y="804600"/>
            <a:ext cx="658080" cy="4068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8" name="Rectangle 4"/>
          <p:cNvSpPr/>
          <p:nvPr/>
        </p:nvSpPr>
        <p:spPr>
          <a:xfrm>
            <a:off x="438840" y="6519600"/>
            <a:ext cx="8265960" cy="10440"/>
          </a:xfrm>
          <a:prstGeom prst="rect">
            <a:avLst/>
          </a:prstGeom>
          <a:solidFill>
            <a:srgbClr val="DDE4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9" name="TextBox 5"/>
          <p:cNvSpPr/>
          <p:nvPr/>
        </p:nvSpPr>
        <p:spPr>
          <a:xfrm>
            <a:off x="457200" y="6565320"/>
            <a:ext cx="59432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820" b="1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МОДЕЛИ</a:t>
            </a:r>
            <a:endParaRPr lang="ru-RU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Box 6"/>
          <p:cNvSpPr/>
          <p:nvPr/>
        </p:nvSpPr>
        <p:spPr>
          <a:xfrm>
            <a:off x="8229600" y="6546960"/>
            <a:ext cx="411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850" b="0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13</a:t>
            </a:r>
            <a:endParaRPr lang="ru-RU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Box 7"/>
          <p:cNvSpPr/>
          <p:nvPr/>
        </p:nvSpPr>
        <p:spPr>
          <a:xfrm>
            <a:off x="640080" y="1115640"/>
            <a:ext cx="7772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0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Хорошее разбиение делает дочерние узлы более «чистыми» по классам.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Rounded Rectangle 8"/>
          <p:cNvSpPr/>
          <p:nvPr/>
        </p:nvSpPr>
        <p:spPr>
          <a:xfrm>
            <a:off x="640080" y="1783080"/>
            <a:ext cx="3657240" cy="123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3" name="Rectangle 9"/>
          <p:cNvSpPr/>
          <p:nvPr/>
        </p:nvSpPr>
        <p:spPr>
          <a:xfrm>
            <a:off x="658440" y="1901880"/>
            <a:ext cx="50040" cy="996480"/>
          </a:xfrm>
          <a:prstGeom prst="rect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4" name="TextBox 10"/>
          <p:cNvSpPr/>
          <p:nvPr/>
        </p:nvSpPr>
        <p:spPr>
          <a:xfrm>
            <a:off x="795600" y="1883520"/>
            <a:ext cx="34012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Индекс Джини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Box 11"/>
          <p:cNvSpPr/>
          <p:nvPr/>
        </p:nvSpPr>
        <p:spPr>
          <a:xfrm>
            <a:off x="795600" y="2231280"/>
            <a:ext cx="3401280" cy="56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9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Gini = 1 − Σₖ pₖ².</a:t>
            </a:r>
            <a:endParaRPr lang="ru-RU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90" b="0" u="none" strike="noStrike">
                <a:solidFill>
                  <a:srgbClr val="2A3644"/>
                </a:solidFill>
                <a:effectLst/>
                <a:uFillTx/>
                <a:latin typeface="Arial"/>
                <a:ea typeface="Microsoft YaHei"/>
              </a:rPr>
              <a:t>0 означает узел, содержащий только один класс. </a:t>
            </a:r>
            <a:r>
              <a:rPr lang="en-US" sz="109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Pₖ – доля или относительная частота к-ого класса. </a:t>
            </a:r>
            <a:endParaRPr lang="ru-RU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Rounded Rectangle 12"/>
          <p:cNvSpPr/>
          <p:nvPr/>
        </p:nvSpPr>
        <p:spPr>
          <a:xfrm>
            <a:off x="4617720" y="1783080"/>
            <a:ext cx="3657240" cy="123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7" name="Rectangle 13"/>
          <p:cNvSpPr/>
          <p:nvPr/>
        </p:nvSpPr>
        <p:spPr>
          <a:xfrm>
            <a:off x="4636080" y="1901880"/>
            <a:ext cx="50040" cy="996480"/>
          </a:xfrm>
          <a:prstGeom prst="rect">
            <a:avLst/>
          </a:prstGeom>
          <a:solidFill>
            <a:srgbClr val="4678B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8" name="TextBox 14"/>
          <p:cNvSpPr/>
          <p:nvPr/>
        </p:nvSpPr>
        <p:spPr>
          <a:xfrm>
            <a:off x="4773240" y="1883520"/>
            <a:ext cx="34012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Энтропия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Box 15"/>
          <p:cNvSpPr/>
          <p:nvPr/>
        </p:nvSpPr>
        <p:spPr>
          <a:xfrm>
            <a:off x="4773240" y="2231280"/>
            <a:ext cx="3401280" cy="72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9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H = −Σₖ pₖ log₂ pₖ.</a:t>
            </a:r>
            <a:endParaRPr lang="ru-RU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9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Цель – минимизировать энтропию (неопределенность), чтобы сделать решение более точным. </a:t>
            </a:r>
            <a:endParaRPr lang="ru-RU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Box 16"/>
          <p:cNvSpPr/>
          <p:nvPr/>
        </p:nvSpPr>
        <p:spPr>
          <a:xfrm>
            <a:off x="777240" y="3337560"/>
            <a:ext cx="3474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Узел A: классы 50% / 50%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Rectangle 17"/>
          <p:cNvSpPr/>
          <p:nvPr/>
        </p:nvSpPr>
        <p:spPr>
          <a:xfrm>
            <a:off x="914400" y="3794760"/>
            <a:ext cx="1554120" cy="310680"/>
          </a:xfrm>
          <a:prstGeom prst="rect">
            <a:avLst/>
          </a:prstGeom>
          <a:solidFill>
            <a:srgbClr val="4678B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2" name="TextBox 18"/>
          <p:cNvSpPr/>
          <p:nvPr/>
        </p:nvSpPr>
        <p:spPr>
          <a:xfrm>
            <a:off x="914400" y="4160520"/>
            <a:ext cx="1554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1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50%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Rectangle 19"/>
          <p:cNvSpPr/>
          <p:nvPr/>
        </p:nvSpPr>
        <p:spPr>
          <a:xfrm>
            <a:off x="2514600" y="3794760"/>
            <a:ext cx="1554120" cy="31068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4" name="TextBox 20"/>
          <p:cNvSpPr/>
          <p:nvPr/>
        </p:nvSpPr>
        <p:spPr>
          <a:xfrm>
            <a:off x="2514600" y="4160520"/>
            <a:ext cx="1554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1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50%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Box 21"/>
          <p:cNvSpPr/>
          <p:nvPr/>
        </p:nvSpPr>
        <p:spPr>
          <a:xfrm>
            <a:off x="4572000" y="3337560"/>
            <a:ext cx="3474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Узел B: классы 90% / 10%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Rectangle 22"/>
          <p:cNvSpPr/>
          <p:nvPr/>
        </p:nvSpPr>
        <p:spPr>
          <a:xfrm>
            <a:off x="4709160" y="3794760"/>
            <a:ext cx="2797560" cy="310680"/>
          </a:xfrm>
          <a:prstGeom prst="rect">
            <a:avLst/>
          </a:prstGeom>
          <a:solidFill>
            <a:srgbClr val="4678B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7" name="Rectangle 23"/>
          <p:cNvSpPr/>
          <p:nvPr/>
        </p:nvSpPr>
        <p:spPr>
          <a:xfrm>
            <a:off x="7507080" y="3794760"/>
            <a:ext cx="310680" cy="31068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8" name="TextBox 24"/>
          <p:cNvSpPr/>
          <p:nvPr/>
        </p:nvSpPr>
        <p:spPr>
          <a:xfrm>
            <a:off x="4709160" y="4160520"/>
            <a:ext cx="2651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1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90%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Box 25"/>
          <p:cNvSpPr/>
          <p:nvPr/>
        </p:nvSpPr>
        <p:spPr>
          <a:xfrm>
            <a:off x="7342560" y="416052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100" b="1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10%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Box 26"/>
          <p:cNvSpPr/>
          <p:nvPr/>
        </p:nvSpPr>
        <p:spPr>
          <a:xfrm>
            <a:off x="822960" y="4892040"/>
            <a:ext cx="7497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ctr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4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Критерий обычно минимизирует взвешенную нечистоту дочерних узлов; используемый критерий — часть экспериментального дизайна.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Rectangle 1"/>
          <p:cNvSpPr/>
          <p:nvPr/>
        </p:nvSpPr>
        <p:spPr>
          <a:xfrm>
            <a:off x="0" y="0"/>
            <a:ext cx="9143640" cy="82080"/>
          </a:xfrm>
          <a:prstGeom prst="rect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2" name="TextBox 2"/>
          <p:cNvSpPr/>
          <p:nvPr/>
        </p:nvSpPr>
        <p:spPr>
          <a:xfrm>
            <a:off x="438840" y="191880"/>
            <a:ext cx="813780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tIns="13680" rIns="13680" bIns="1368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1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Дерево решений. Особенности.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Rectangle 3"/>
          <p:cNvSpPr/>
          <p:nvPr/>
        </p:nvSpPr>
        <p:spPr>
          <a:xfrm>
            <a:off x="448200" y="804600"/>
            <a:ext cx="658080" cy="4068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4" name="Rectangle 4"/>
          <p:cNvSpPr/>
          <p:nvPr/>
        </p:nvSpPr>
        <p:spPr>
          <a:xfrm>
            <a:off x="438840" y="6519600"/>
            <a:ext cx="8265960" cy="10440"/>
          </a:xfrm>
          <a:prstGeom prst="rect">
            <a:avLst/>
          </a:prstGeom>
          <a:solidFill>
            <a:srgbClr val="DDE4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5" name="TextBox 5"/>
          <p:cNvSpPr/>
          <p:nvPr/>
        </p:nvSpPr>
        <p:spPr>
          <a:xfrm>
            <a:off x="457200" y="6565320"/>
            <a:ext cx="59432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820" b="1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МОДЕЛИ</a:t>
            </a:r>
            <a:endParaRPr lang="ru-RU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Box 6"/>
          <p:cNvSpPr/>
          <p:nvPr/>
        </p:nvSpPr>
        <p:spPr>
          <a:xfrm>
            <a:off x="8229600" y="6546960"/>
            <a:ext cx="411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850" b="0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14</a:t>
            </a:r>
            <a:endParaRPr lang="ru-RU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Rounded Rectangle 7"/>
          <p:cNvSpPr/>
          <p:nvPr/>
        </p:nvSpPr>
        <p:spPr>
          <a:xfrm>
            <a:off x="594360" y="1188720"/>
            <a:ext cx="3794400" cy="1554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8" name="Rectangle 8"/>
          <p:cNvSpPr/>
          <p:nvPr/>
        </p:nvSpPr>
        <p:spPr>
          <a:xfrm>
            <a:off x="612720" y="1307520"/>
            <a:ext cx="50040" cy="1316520"/>
          </a:xfrm>
          <a:prstGeom prst="rect">
            <a:avLst/>
          </a:prstGeom>
          <a:solidFill>
            <a:srgbClr val="B44C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9" name="TextBox 9"/>
          <p:cNvSpPr/>
          <p:nvPr/>
        </p:nvSpPr>
        <p:spPr>
          <a:xfrm>
            <a:off x="749880" y="1289160"/>
            <a:ext cx="3538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Слишком глубокое дерево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Box 10"/>
          <p:cNvSpPr/>
          <p:nvPr/>
        </p:nvSpPr>
        <p:spPr>
          <a:xfrm>
            <a:off x="749880" y="1636920"/>
            <a:ext cx="3538440" cy="10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5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Много мелких листьев; легко запоминает шум и редкие особенности train.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Rounded Rectangle 11"/>
          <p:cNvSpPr/>
          <p:nvPr/>
        </p:nvSpPr>
        <p:spPr>
          <a:xfrm>
            <a:off x="4709160" y="1188720"/>
            <a:ext cx="3794400" cy="1554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2" name="Rectangle 12"/>
          <p:cNvSpPr/>
          <p:nvPr/>
        </p:nvSpPr>
        <p:spPr>
          <a:xfrm>
            <a:off x="4727520" y="1307520"/>
            <a:ext cx="50040" cy="1316520"/>
          </a:xfrm>
          <a:prstGeom prst="rect">
            <a:avLst/>
          </a:prstGeom>
          <a:solidFill>
            <a:srgbClr val="3989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3" name="TextBox 13"/>
          <p:cNvSpPr/>
          <p:nvPr/>
        </p:nvSpPr>
        <p:spPr>
          <a:xfrm>
            <a:off x="4864680" y="1289160"/>
            <a:ext cx="3538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Ограниченное дерево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Box 14"/>
          <p:cNvSpPr/>
          <p:nvPr/>
        </p:nvSpPr>
        <p:spPr>
          <a:xfrm>
            <a:off x="4864680" y="1636920"/>
            <a:ext cx="3538440" cy="10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5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Более простые правила; может лучше обобщать, но при чрезмерном ограничении недообучается.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Box 15"/>
          <p:cNvSpPr/>
          <p:nvPr/>
        </p:nvSpPr>
        <p:spPr>
          <a:xfrm>
            <a:off x="731520" y="3063240"/>
            <a:ext cx="7680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Основные регуляторы сложности: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Rounded Rectangle 16"/>
          <p:cNvSpPr/>
          <p:nvPr/>
        </p:nvSpPr>
        <p:spPr>
          <a:xfrm>
            <a:off x="640080" y="3520440"/>
            <a:ext cx="251424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7" name="Rectangle 17"/>
          <p:cNvSpPr/>
          <p:nvPr/>
        </p:nvSpPr>
        <p:spPr>
          <a:xfrm>
            <a:off x="658440" y="3639240"/>
            <a:ext cx="50040" cy="1179360"/>
          </a:xfrm>
          <a:prstGeom prst="rect">
            <a:avLst/>
          </a:prstGeom>
          <a:solidFill>
            <a:srgbClr val="4678B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8" name="TextBox 18"/>
          <p:cNvSpPr/>
          <p:nvPr/>
        </p:nvSpPr>
        <p:spPr>
          <a:xfrm>
            <a:off x="795600" y="3620880"/>
            <a:ext cx="22582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4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max_depth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Box 19"/>
          <p:cNvSpPr/>
          <p:nvPr/>
        </p:nvSpPr>
        <p:spPr>
          <a:xfrm>
            <a:off x="795600" y="3968640"/>
            <a:ext cx="225828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5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Ограничивает глубину дерева.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Rounded Rectangle 20"/>
          <p:cNvSpPr/>
          <p:nvPr/>
        </p:nvSpPr>
        <p:spPr>
          <a:xfrm>
            <a:off x="3310200" y="3520440"/>
            <a:ext cx="251424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1" name="Rectangle 21"/>
          <p:cNvSpPr/>
          <p:nvPr/>
        </p:nvSpPr>
        <p:spPr>
          <a:xfrm>
            <a:off x="3328560" y="3639240"/>
            <a:ext cx="50040" cy="1179360"/>
          </a:xfrm>
          <a:prstGeom prst="rect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2" name="TextBox 22"/>
          <p:cNvSpPr/>
          <p:nvPr/>
        </p:nvSpPr>
        <p:spPr>
          <a:xfrm>
            <a:off x="3465720" y="3620880"/>
            <a:ext cx="22582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4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min_samples_leaf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Box 23"/>
          <p:cNvSpPr/>
          <p:nvPr/>
        </p:nvSpPr>
        <p:spPr>
          <a:xfrm>
            <a:off x="3465720" y="3968640"/>
            <a:ext cx="225828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5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Запрещает слишком маленькие листья.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Rounded Rectangle 24"/>
          <p:cNvSpPr/>
          <p:nvPr/>
        </p:nvSpPr>
        <p:spPr>
          <a:xfrm>
            <a:off x="5989320" y="3520440"/>
            <a:ext cx="251424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5" name="Rectangle 25"/>
          <p:cNvSpPr/>
          <p:nvPr/>
        </p:nvSpPr>
        <p:spPr>
          <a:xfrm>
            <a:off x="6007680" y="3639240"/>
            <a:ext cx="50040" cy="117936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6" name="TextBox 26"/>
          <p:cNvSpPr/>
          <p:nvPr/>
        </p:nvSpPr>
        <p:spPr>
          <a:xfrm>
            <a:off x="6144840" y="3620880"/>
            <a:ext cx="22582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4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ccp_alpha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Box 27"/>
          <p:cNvSpPr/>
          <p:nvPr/>
        </p:nvSpPr>
        <p:spPr>
          <a:xfrm>
            <a:off x="6144840" y="3968640"/>
            <a:ext cx="225828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5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Управляет пост-обрезкой (pruning).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28"/>
          <p:cNvSpPr/>
          <p:nvPr/>
        </p:nvSpPr>
        <p:spPr>
          <a:xfrm>
            <a:off x="777240" y="5276160"/>
            <a:ext cx="7589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450" b="1" u="none" strike="noStrike">
                <a:solidFill>
                  <a:srgbClr val="B44C4C"/>
                </a:solidFill>
                <a:effectLst/>
                <a:uFillTx/>
                <a:latin typeface="Arial"/>
              </a:rPr>
              <a:t>Настраивайте эти параметры по валидации / CV, а не по финальному тесту.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Rectangle 1"/>
          <p:cNvSpPr/>
          <p:nvPr/>
        </p:nvSpPr>
        <p:spPr>
          <a:xfrm>
            <a:off x="0" y="0"/>
            <a:ext cx="9143640" cy="82080"/>
          </a:xfrm>
          <a:prstGeom prst="rect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0" name="TextBox 2"/>
          <p:cNvSpPr/>
          <p:nvPr/>
        </p:nvSpPr>
        <p:spPr>
          <a:xfrm>
            <a:off x="438840" y="191880"/>
            <a:ext cx="81378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tIns="13680" rIns="13680" bIns="1368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1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Случайный лес: почему ансамбль устойчивее?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Rectangle 3"/>
          <p:cNvSpPr/>
          <p:nvPr/>
        </p:nvSpPr>
        <p:spPr>
          <a:xfrm>
            <a:off x="448200" y="804600"/>
            <a:ext cx="658080" cy="4068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2" name="Rectangle 4"/>
          <p:cNvSpPr/>
          <p:nvPr/>
        </p:nvSpPr>
        <p:spPr>
          <a:xfrm>
            <a:off x="438840" y="6519600"/>
            <a:ext cx="8265960" cy="10440"/>
          </a:xfrm>
          <a:prstGeom prst="rect">
            <a:avLst/>
          </a:prstGeom>
          <a:solidFill>
            <a:srgbClr val="DDE4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3" name="TextBox 5"/>
          <p:cNvSpPr/>
          <p:nvPr/>
        </p:nvSpPr>
        <p:spPr>
          <a:xfrm>
            <a:off x="457200" y="6565320"/>
            <a:ext cx="59432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820" b="1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МОДЕЛИ</a:t>
            </a:r>
            <a:endParaRPr lang="ru-RU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Box 6"/>
          <p:cNvSpPr/>
          <p:nvPr/>
        </p:nvSpPr>
        <p:spPr>
          <a:xfrm>
            <a:off x="8229600" y="6546960"/>
            <a:ext cx="411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850" b="0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15</a:t>
            </a:r>
            <a:endParaRPr lang="ru-RU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Rounded Rectangle 8"/>
          <p:cNvSpPr/>
          <p:nvPr/>
        </p:nvSpPr>
        <p:spPr>
          <a:xfrm>
            <a:off x="822960" y="1645920"/>
            <a:ext cx="685440" cy="365400"/>
          </a:xfrm>
          <a:prstGeom prst="roundRect">
            <a:avLst>
              <a:gd name="adj" fmla="val 16667"/>
            </a:avLst>
          </a:prstGeom>
          <a:solidFill>
            <a:srgbClr val="E6EFFA"/>
          </a:solidFill>
          <a:ln w="12700">
            <a:solidFill>
              <a:srgbClr val="E6EF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6" name="TextBox 9"/>
          <p:cNvSpPr/>
          <p:nvPr/>
        </p:nvSpPr>
        <p:spPr>
          <a:xfrm>
            <a:off x="859680" y="1664280"/>
            <a:ext cx="612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300" b="1" u="none" strike="noStrike">
                <a:solidFill>
                  <a:srgbClr val="4678B2"/>
                </a:solidFill>
                <a:effectLst/>
                <a:uFillTx/>
                <a:latin typeface="Arial"/>
              </a:rPr>
              <a:t>T1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97" name="Connector 10"/>
          <p:cNvCxnSpPr/>
          <p:nvPr/>
        </p:nvCxnSpPr>
        <p:spPr>
          <a:xfrm flipH="1">
            <a:off x="960120" y="2029680"/>
            <a:ext cx="201240" cy="366120"/>
          </a:xfrm>
          <a:prstGeom prst="straightConnector1">
            <a:avLst/>
          </a:prstGeom>
          <a:ln w="15240">
            <a:solidFill>
              <a:srgbClr val="4678B2"/>
            </a:solidFill>
            <a:round/>
          </a:ln>
        </p:spPr>
      </p:cxnSp>
      <p:cxnSp>
        <p:nvCxnSpPr>
          <p:cNvPr id="398" name="Connector 11"/>
          <p:cNvCxnSpPr/>
          <p:nvPr/>
        </p:nvCxnSpPr>
        <p:spPr>
          <a:xfrm>
            <a:off x="1161000" y="2029680"/>
            <a:ext cx="228960" cy="366120"/>
          </a:xfrm>
          <a:prstGeom prst="straightConnector1">
            <a:avLst/>
          </a:prstGeom>
          <a:ln w="15240">
            <a:solidFill>
              <a:srgbClr val="4678B2"/>
            </a:solidFill>
            <a:round/>
          </a:ln>
        </p:spPr>
      </p:cxnSp>
      <p:sp>
        <p:nvSpPr>
          <p:cNvPr id="399" name="Rounded Rectangle 12"/>
          <p:cNvSpPr/>
          <p:nvPr/>
        </p:nvSpPr>
        <p:spPr>
          <a:xfrm>
            <a:off x="804600" y="2395800"/>
            <a:ext cx="347040" cy="292320"/>
          </a:xfrm>
          <a:prstGeom prst="roundRect">
            <a:avLst>
              <a:gd name="adj" fmla="val 16667"/>
            </a:avLst>
          </a:prstGeom>
          <a:solidFill>
            <a:srgbClr val="E3F3EB"/>
          </a:solidFill>
          <a:ln w="12700">
            <a:solidFill>
              <a:srgbClr val="E3F3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0" name="TextBox 13"/>
          <p:cNvSpPr/>
          <p:nvPr/>
        </p:nvSpPr>
        <p:spPr>
          <a:xfrm>
            <a:off x="841320" y="2414160"/>
            <a:ext cx="273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000" b="1" u="none" strike="noStrike">
                <a:solidFill>
                  <a:srgbClr val="398969"/>
                </a:solidFill>
                <a:effectLst/>
                <a:uFillTx/>
                <a:latin typeface="Arial"/>
              </a:rPr>
              <a:t>A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Rounded Rectangle 14"/>
          <p:cNvSpPr/>
          <p:nvPr/>
        </p:nvSpPr>
        <p:spPr>
          <a:xfrm>
            <a:off x="1207080" y="2395800"/>
            <a:ext cx="383760" cy="292320"/>
          </a:xfrm>
          <a:prstGeom prst="roundRect">
            <a:avLst>
              <a:gd name="adj" fmla="val 16667"/>
            </a:avLst>
          </a:prstGeom>
          <a:solidFill>
            <a:srgbClr val="FCEFE1"/>
          </a:solidFill>
          <a:ln w="12700">
            <a:solidFill>
              <a:srgbClr val="FCEF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2" name="TextBox 15"/>
          <p:cNvSpPr/>
          <p:nvPr/>
        </p:nvSpPr>
        <p:spPr>
          <a:xfrm>
            <a:off x="1243440" y="2414160"/>
            <a:ext cx="310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000" b="1" u="none" strike="noStrike">
                <a:solidFill>
                  <a:srgbClr val="E68B42"/>
                </a:solidFill>
                <a:effectLst/>
                <a:uFillTx/>
                <a:latin typeface="Arial"/>
              </a:rPr>
              <a:t>B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Rounded Rectangle 16"/>
          <p:cNvSpPr/>
          <p:nvPr/>
        </p:nvSpPr>
        <p:spPr>
          <a:xfrm>
            <a:off x="1828800" y="1645920"/>
            <a:ext cx="685440" cy="365400"/>
          </a:xfrm>
          <a:prstGeom prst="roundRect">
            <a:avLst>
              <a:gd name="adj" fmla="val 16667"/>
            </a:avLst>
          </a:prstGeom>
          <a:solidFill>
            <a:srgbClr val="E6EFFA"/>
          </a:solidFill>
          <a:ln w="12700">
            <a:solidFill>
              <a:srgbClr val="E6EF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4" name="TextBox 17"/>
          <p:cNvSpPr/>
          <p:nvPr/>
        </p:nvSpPr>
        <p:spPr>
          <a:xfrm>
            <a:off x="1865520" y="1664280"/>
            <a:ext cx="612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300" b="1" u="none" strike="noStrike">
                <a:solidFill>
                  <a:srgbClr val="4678B2"/>
                </a:solidFill>
                <a:effectLst/>
                <a:uFillTx/>
                <a:latin typeface="Arial"/>
              </a:rPr>
              <a:t>T2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05" name="Connector 18"/>
          <p:cNvCxnSpPr/>
          <p:nvPr/>
        </p:nvCxnSpPr>
        <p:spPr>
          <a:xfrm flipH="1">
            <a:off x="1965960" y="2029680"/>
            <a:ext cx="201240" cy="366120"/>
          </a:xfrm>
          <a:prstGeom prst="straightConnector1">
            <a:avLst/>
          </a:prstGeom>
          <a:ln w="15240">
            <a:solidFill>
              <a:srgbClr val="4678B2"/>
            </a:solidFill>
            <a:round/>
          </a:ln>
        </p:spPr>
      </p:cxnSp>
      <p:cxnSp>
        <p:nvCxnSpPr>
          <p:cNvPr id="406" name="Connector 19"/>
          <p:cNvCxnSpPr/>
          <p:nvPr/>
        </p:nvCxnSpPr>
        <p:spPr>
          <a:xfrm>
            <a:off x="2166840" y="2029680"/>
            <a:ext cx="228960" cy="366120"/>
          </a:xfrm>
          <a:prstGeom prst="straightConnector1">
            <a:avLst/>
          </a:prstGeom>
          <a:ln w="15240">
            <a:solidFill>
              <a:srgbClr val="4678B2"/>
            </a:solidFill>
            <a:round/>
          </a:ln>
        </p:spPr>
      </p:cxnSp>
      <p:sp>
        <p:nvSpPr>
          <p:cNvPr id="407" name="Rounded Rectangle 20"/>
          <p:cNvSpPr/>
          <p:nvPr/>
        </p:nvSpPr>
        <p:spPr>
          <a:xfrm>
            <a:off x="1810440" y="2395800"/>
            <a:ext cx="347040" cy="292320"/>
          </a:xfrm>
          <a:prstGeom prst="roundRect">
            <a:avLst>
              <a:gd name="adj" fmla="val 16667"/>
            </a:avLst>
          </a:prstGeom>
          <a:solidFill>
            <a:srgbClr val="E3F3EB"/>
          </a:solidFill>
          <a:ln w="12700">
            <a:solidFill>
              <a:srgbClr val="E3F3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8" name="TextBox 21"/>
          <p:cNvSpPr/>
          <p:nvPr/>
        </p:nvSpPr>
        <p:spPr>
          <a:xfrm>
            <a:off x="1847160" y="2414160"/>
            <a:ext cx="273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000" b="1" u="none" strike="noStrike">
                <a:solidFill>
                  <a:srgbClr val="398969"/>
                </a:solidFill>
                <a:effectLst/>
                <a:uFillTx/>
                <a:latin typeface="Arial"/>
              </a:rPr>
              <a:t>A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Rounded Rectangle 22"/>
          <p:cNvSpPr/>
          <p:nvPr/>
        </p:nvSpPr>
        <p:spPr>
          <a:xfrm>
            <a:off x="2212920" y="2395800"/>
            <a:ext cx="383760" cy="292320"/>
          </a:xfrm>
          <a:prstGeom prst="roundRect">
            <a:avLst>
              <a:gd name="adj" fmla="val 16667"/>
            </a:avLst>
          </a:prstGeom>
          <a:solidFill>
            <a:srgbClr val="FCEFE1"/>
          </a:solidFill>
          <a:ln w="12700">
            <a:solidFill>
              <a:srgbClr val="FCEF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0" name="TextBox 23"/>
          <p:cNvSpPr/>
          <p:nvPr/>
        </p:nvSpPr>
        <p:spPr>
          <a:xfrm>
            <a:off x="2249280" y="2414160"/>
            <a:ext cx="310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000" b="1" u="none" strike="noStrike">
                <a:solidFill>
                  <a:srgbClr val="E68B42"/>
                </a:solidFill>
                <a:effectLst/>
                <a:uFillTx/>
                <a:latin typeface="Arial"/>
              </a:rPr>
              <a:t>B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Rounded Rectangle 24"/>
          <p:cNvSpPr/>
          <p:nvPr/>
        </p:nvSpPr>
        <p:spPr>
          <a:xfrm>
            <a:off x="2834640" y="1645920"/>
            <a:ext cx="685440" cy="365400"/>
          </a:xfrm>
          <a:prstGeom prst="roundRect">
            <a:avLst>
              <a:gd name="adj" fmla="val 16667"/>
            </a:avLst>
          </a:prstGeom>
          <a:solidFill>
            <a:srgbClr val="E6EFFA"/>
          </a:solidFill>
          <a:ln w="12700">
            <a:solidFill>
              <a:srgbClr val="E6EF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2" name="TextBox 25"/>
          <p:cNvSpPr/>
          <p:nvPr/>
        </p:nvSpPr>
        <p:spPr>
          <a:xfrm>
            <a:off x="2871360" y="1664280"/>
            <a:ext cx="612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300" b="1" u="none" strike="noStrike">
                <a:solidFill>
                  <a:srgbClr val="4678B2"/>
                </a:solidFill>
                <a:effectLst/>
                <a:uFillTx/>
                <a:latin typeface="Arial"/>
              </a:rPr>
              <a:t>T3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13" name="Connector 26"/>
          <p:cNvCxnSpPr/>
          <p:nvPr/>
        </p:nvCxnSpPr>
        <p:spPr>
          <a:xfrm flipH="1">
            <a:off x="2971800" y="2029680"/>
            <a:ext cx="201240" cy="366120"/>
          </a:xfrm>
          <a:prstGeom prst="straightConnector1">
            <a:avLst/>
          </a:prstGeom>
          <a:ln w="15240">
            <a:solidFill>
              <a:srgbClr val="4678B2"/>
            </a:solidFill>
            <a:round/>
          </a:ln>
        </p:spPr>
      </p:cxnSp>
      <p:cxnSp>
        <p:nvCxnSpPr>
          <p:cNvPr id="414" name="Connector 27"/>
          <p:cNvCxnSpPr/>
          <p:nvPr/>
        </p:nvCxnSpPr>
        <p:spPr>
          <a:xfrm>
            <a:off x="3172680" y="2029680"/>
            <a:ext cx="228960" cy="366120"/>
          </a:xfrm>
          <a:prstGeom prst="straightConnector1">
            <a:avLst/>
          </a:prstGeom>
          <a:ln w="15240">
            <a:solidFill>
              <a:srgbClr val="4678B2"/>
            </a:solidFill>
            <a:round/>
          </a:ln>
        </p:spPr>
      </p:cxnSp>
      <p:sp>
        <p:nvSpPr>
          <p:cNvPr id="415" name="Rounded Rectangle 28"/>
          <p:cNvSpPr/>
          <p:nvPr/>
        </p:nvSpPr>
        <p:spPr>
          <a:xfrm>
            <a:off x="2816280" y="2395800"/>
            <a:ext cx="347040" cy="292320"/>
          </a:xfrm>
          <a:prstGeom prst="roundRect">
            <a:avLst>
              <a:gd name="adj" fmla="val 16667"/>
            </a:avLst>
          </a:prstGeom>
          <a:solidFill>
            <a:srgbClr val="E3F3EB"/>
          </a:solidFill>
          <a:ln w="12700">
            <a:solidFill>
              <a:srgbClr val="E3F3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6" name="TextBox 29"/>
          <p:cNvSpPr/>
          <p:nvPr/>
        </p:nvSpPr>
        <p:spPr>
          <a:xfrm>
            <a:off x="2853000" y="2414160"/>
            <a:ext cx="273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000" b="1" u="none" strike="noStrike">
                <a:solidFill>
                  <a:srgbClr val="398969"/>
                </a:solidFill>
                <a:effectLst/>
                <a:uFillTx/>
                <a:latin typeface="Arial"/>
              </a:rPr>
              <a:t>A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Rounded Rectangle 30"/>
          <p:cNvSpPr/>
          <p:nvPr/>
        </p:nvSpPr>
        <p:spPr>
          <a:xfrm>
            <a:off x="3218760" y="2395800"/>
            <a:ext cx="383760" cy="292320"/>
          </a:xfrm>
          <a:prstGeom prst="roundRect">
            <a:avLst>
              <a:gd name="adj" fmla="val 16667"/>
            </a:avLst>
          </a:prstGeom>
          <a:solidFill>
            <a:srgbClr val="FCEFE1"/>
          </a:solidFill>
          <a:ln w="12700">
            <a:solidFill>
              <a:srgbClr val="FCEF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8" name="TextBox 31"/>
          <p:cNvSpPr/>
          <p:nvPr/>
        </p:nvSpPr>
        <p:spPr>
          <a:xfrm>
            <a:off x="3255120" y="2414160"/>
            <a:ext cx="310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000" b="1" u="none" strike="noStrike">
                <a:solidFill>
                  <a:srgbClr val="E68B42"/>
                </a:solidFill>
                <a:effectLst/>
                <a:uFillTx/>
                <a:latin typeface="Arial"/>
              </a:rPr>
              <a:t>B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Box 32"/>
          <p:cNvSpPr/>
          <p:nvPr/>
        </p:nvSpPr>
        <p:spPr>
          <a:xfrm>
            <a:off x="640080" y="2834640"/>
            <a:ext cx="3245760" cy="5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150" b="0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Bootstrap-выборки + случайный набор признаков. Вместо одного сложного дерева обучаются несколько простых.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20" name="Connector 33"/>
          <p:cNvCxnSpPr/>
          <p:nvPr/>
        </p:nvCxnSpPr>
        <p:spPr>
          <a:xfrm>
            <a:off x="3703320" y="2286000"/>
            <a:ext cx="914760" cy="360"/>
          </a:xfrm>
          <a:prstGeom prst="straightConnector1">
            <a:avLst/>
          </a:prstGeom>
          <a:ln w="26670">
            <a:solidFill>
              <a:srgbClr val="148989"/>
            </a:solidFill>
            <a:round/>
          </a:ln>
        </p:spPr>
      </p:cxnSp>
      <p:sp>
        <p:nvSpPr>
          <p:cNvPr id="421" name="Rounded Rectangle 34"/>
          <p:cNvSpPr/>
          <p:nvPr/>
        </p:nvSpPr>
        <p:spPr>
          <a:xfrm>
            <a:off x="4663440" y="1874520"/>
            <a:ext cx="1371240" cy="776880"/>
          </a:xfrm>
          <a:prstGeom prst="roundRect">
            <a:avLst>
              <a:gd name="adj" fmla="val 16667"/>
            </a:avLst>
          </a:prstGeom>
          <a:solidFill>
            <a:srgbClr val="DEF3F1"/>
          </a:solidFill>
          <a:ln w="12700">
            <a:solidFill>
              <a:srgbClr val="DEF3F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2" name="TextBox 35"/>
          <p:cNvSpPr/>
          <p:nvPr/>
        </p:nvSpPr>
        <p:spPr>
          <a:xfrm>
            <a:off x="4700160" y="1892880"/>
            <a:ext cx="129816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300" b="1" u="none" strike="noStrike">
                <a:solidFill>
                  <a:srgbClr val="148989"/>
                </a:solidFill>
                <a:effectLst/>
                <a:uFillTx/>
                <a:latin typeface="Arial"/>
              </a:rPr>
              <a:t>Голосование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300" b="1" u="none" strike="noStrike">
                <a:solidFill>
                  <a:srgbClr val="148989"/>
                </a:solidFill>
                <a:effectLst/>
                <a:uFillTx/>
                <a:latin typeface="Arial"/>
              </a:rPr>
              <a:t>или среднее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23" name="Connector 36"/>
          <p:cNvCxnSpPr/>
          <p:nvPr/>
        </p:nvCxnSpPr>
        <p:spPr>
          <a:xfrm>
            <a:off x="6126480" y="2286000"/>
            <a:ext cx="594720" cy="360"/>
          </a:xfrm>
          <a:prstGeom prst="straightConnector1">
            <a:avLst/>
          </a:prstGeom>
          <a:ln w="26670">
            <a:solidFill>
              <a:srgbClr val="148989"/>
            </a:solidFill>
            <a:round/>
          </a:ln>
        </p:spPr>
      </p:cxnSp>
      <p:sp>
        <p:nvSpPr>
          <p:cNvPr id="424" name="Rounded Rectangle 37"/>
          <p:cNvSpPr/>
          <p:nvPr/>
        </p:nvSpPr>
        <p:spPr>
          <a:xfrm>
            <a:off x="6766560" y="1874520"/>
            <a:ext cx="1645560" cy="776880"/>
          </a:xfrm>
          <a:prstGeom prst="roundRect">
            <a:avLst>
              <a:gd name="adj" fmla="val 16667"/>
            </a:avLst>
          </a:prstGeom>
          <a:solidFill>
            <a:srgbClr val="FCEFE1"/>
          </a:solidFill>
          <a:ln w="12700">
            <a:solidFill>
              <a:srgbClr val="FCEF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5" name="TextBox 38"/>
          <p:cNvSpPr/>
          <p:nvPr/>
        </p:nvSpPr>
        <p:spPr>
          <a:xfrm>
            <a:off x="6803280" y="1865880"/>
            <a:ext cx="157248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1" u="none" strike="noStrike">
                <a:solidFill>
                  <a:srgbClr val="E68B42"/>
                </a:solidFill>
                <a:effectLst/>
                <a:uFillTx/>
                <a:latin typeface="Arial"/>
              </a:rPr>
              <a:t>Итоговый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1" u="none" strike="noStrike">
                <a:solidFill>
                  <a:srgbClr val="E68B42"/>
                </a:solidFill>
                <a:effectLst/>
                <a:uFillTx/>
                <a:latin typeface="Arial"/>
              </a:rPr>
              <a:t>Класс (принимается большинством голосов)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Rounded Rectangle 39"/>
          <p:cNvSpPr/>
          <p:nvPr/>
        </p:nvSpPr>
        <p:spPr>
          <a:xfrm>
            <a:off x="640080" y="3794760"/>
            <a:ext cx="3702960" cy="123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7" name="Rectangle 40"/>
          <p:cNvSpPr/>
          <p:nvPr/>
        </p:nvSpPr>
        <p:spPr>
          <a:xfrm>
            <a:off x="658440" y="3913560"/>
            <a:ext cx="50040" cy="996480"/>
          </a:xfrm>
          <a:prstGeom prst="rect">
            <a:avLst/>
          </a:prstGeom>
          <a:solidFill>
            <a:srgbClr val="4678B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8" name="TextBox 41"/>
          <p:cNvSpPr/>
          <p:nvPr/>
        </p:nvSpPr>
        <p:spPr>
          <a:xfrm>
            <a:off x="795600" y="3895200"/>
            <a:ext cx="3447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Bagging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Box 42"/>
          <p:cNvSpPr/>
          <p:nvPr/>
        </p:nvSpPr>
        <p:spPr>
          <a:xfrm>
            <a:off x="795600" y="4242960"/>
            <a:ext cx="34470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5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Каждое дерево обучается на bootstrap-выборке; агрегирование уменьшает дисперсию.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Rounded Rectangle 43"/>
          <p:cNvSpPr/>
          <p:nvPr/>
        </p:nvSpPr>
        <p:spPr>
          <a:xfrm>
            <a:off x="4572000" y="3794760"/>
            <a:ext cx="3702960" cy="123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1" name="Rectangle 44"/>
          <p:cNvSpPr/>
          <p:nvPr/>
        </p:nvSpPr>
        <p:spPr>
          <a:xfrm>
            <a:off x="4590360" y="3913560"/>
            <a:ext cx="50040" cy="996480"/>
          </a:xfrm>
          <a:prstGeom prst="rect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2" name="TextBox 45"/>
          <p:cNvSpPr/>
          <p:nvPr/>
        </p:nvSpPr>
        <p:spPr>
          <a:xfrm>
            <a:off x="4727520" y="3895200"/>
            <a:ext cx="3447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Декорреляция деревьев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Box 46"/>
          <p:cNvSpPr/>
          <p:nvPr/>
        </p:nvSpPr>
        <p:spPr>
          <a:xfrm>
            <a:off x="4727520" y="4242960"/>
            <a:ext cx="34470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9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Случайный выбор признаков при разбиениях снижает похожесть деревьев и повышает пользу ансамбля.</a:t>
            </a:r>
            <a:endParaRPr lang="ru-RU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Box 47"/>
          <p:cNvSpPr/>
          <p:nvPr/>
        </p:nvSpPr>
        <p:spPr>
          <a:xfrm>
            <a:off x="777240" y="5349240"/>
            <a:ext cx="7589160" cy="46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4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Случайный лес обычно менее чувствителен к масштабу признаков, чем SVM и линейные модели.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Rectangle 1"/>
          <p:cNvSpPr/>
          <p:nvPr/>
        </p:nvSpPr>
        <p:spPr>
          <a:xfrm>
            <a:off x="0" y="0"/>
            <a:ext cx="9143640" cy="82080"/>
          </a:xfrm>
          <a:prstGeom prst="rect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6" name="TextBox 2"/>
          <p:cNvSpPr/>
          <p:nvPr/>
        </p:nvSpPr>
        <p:spPr>
          <a:xfrm>
            <a:off x="438840" y="191880"/>
            <a:ext cx="81378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tIns="13680" rIns="13680" bIns="1368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5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Случайный лес: параметры и диагностика</a:t>
            </a:r>
            <a:endParaRPr lang="ru-RU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Rectangle 3"/>
          <p:cNvSpPr/>
          <p:nvPr/>
        </p:nvSpPr>
        <p:spPr>
          <a:xfrm>
            <a:off x="448200" y="804600"/>
            <a:ext cx="658080" cy="4068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8" name="Rectangle 4"/>
          <p:cNvSpPr/>
          <p:nvPr/>
        </p:nvSpPr>
        <p:spPr>
          <a:xfrm>
            <a:off x="438840" y="6519600"/>
            <a:ext cx="8265960" cy="10440"/>
          </a:xfrm>
          <a:prstGeom prst="rect">
            <a:avLst/>
          </a:prstGeom>
          <a:solidFill>
            <a:srgbClr val="DDE4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9" name="TextBox 5"/>
          <p:cNvSpPr/>
          <p:nvPr/>
        </p:nvSpPr>
        <p:spPr>
          <a:xfrm>
            <a:off x="457200" y="6565320"/>
            <a:ext cx="59432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820" b="1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МОДЕЛИ</a:t>
            </a:r>
            <a:endParaRPr lang="ru-RU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Box 6"/>
          <p:cNvSpPr/>
          <p:nvPr/>
        </p:nvSpPr>
        <p:spPr>
          <a:xfrm>
            <a:off x="8229600" y="6546960"/>
            <a:ext cx="411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850" b="0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16</a:t>
            </a:r>
            <a:endParaRPr lang="ru-RU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Rounded Rectangle 7"/>
          <p:cNvSpPr/>
          <p:nvPr/>
        </p:nvSpPr>
        <p:spPr>
          <a:xfrm>
            <a:off x="594360" y="1188720"/>
            <a:ext cx="251424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2" name="Rectangle 8"/>
          <p:cNvSpPr/>
          <p:nvPr/>
        </p:nvSpPr>
        <p:spPr>
          <a:xfrm>
            <a:off x="612720" y="1307520"/>
            <a:ext cx="50040" cy="1179360"/>
          </a:xfrm>
          <a:prstGeom prst="rect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3" name="TextBox 9"/>
          <p:cNvSpPr/>
          <p:nvPr/>
        </p:nvSpPr>
        <p:spPr>
          <a:xfrm>
            <a:off x="749880" y="1289160"/>
            <a:ext cx="22582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n_estimators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Box 10"/>
          <p:cNvSpPr/>
          <p:nvPr/>
        </p:nvSpPr>
        <p:spPr>
          <a:xfrm>
            <a:off x="749880" y="1636920"/>
            <a:ext cx="225828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1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Число деревьев. Больше деревьев повышает стабильность, но увеличивает время и память.</a:t>
            </a:r>
            <a:endParaRPr lang="ru-RU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Rounded Rectangle 11"/>
          <p:cNvSpPr/>
          <p:nvPr/>
        </p:nvSpPr>
        <p:spPr>
          <a:xfrm>
            <a:off x="3310200" y="1188720"/>
            <a:ext cx="251424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6" name="Rectangle 12"/>
          <p:cNvSpPr/>
          <p:nvPr/>
        </p:nvSpPr>
        <p:spPr>
          <a:xfrm>
            <a:off x="3328560" y="1307520"/>
            <a:ext cx="50040" cy="1179360"/>
          </a:xfrm>
          <a:prstGeom prst="rect">
            <a:avLst/>
          </a:prstGeom>
          <a:solidFill>
            <a:srgbClr val="4678B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7" name="TextBox 13"/>
          <p:cNvSpPr/>
          <p:nvPr/>
        </p:nvSpPr>
        <p:spPr>
          <a:xfrm>
            <a:off x="3465720" y="1289160"/>
            <a:ext cx="22582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max_features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Box 14"/>
          <p:cNvSpPr/>
          <p:nvPr/>
        </p:nvSpPr>
        <p:spPr>
          <a:xfrm>
            <a:off x="3465720" y="1636920"/>
            <a:ext cx="225828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5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Сколько признаков рассматривается при каждом разбиении.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Rounded Rectangle 15"/>
          <p:cNvSpPr/>
          <p:nvPr/>
        </p:nvSpPr>
        <p:spPr>
          <a:xfrm>
            <a:off x="6016680" y="1188720"/>
            <a:ext cx="251424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0" name="Rectangle 16"/>
          <p:cNvSpPr/>
          <p:nvPr/>
        </p:nvSpPr>
        <p:spPr>
          <a:xfrm>
            <a:off x="6035040" y="1307520"/>
            <a:ext cx="50040" cy="117936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1" name="TextBox 17"/>
          <p:cNvSpPr/>
          <p:nvPr/>
        </p:nvSpPr>
        <p:spPr>
          <a:xfrm>
            <a:off x="6172200" y="1289160"/>
            <a:ext cx="22582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max_depth / leaf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Box 18"/>
          <p:cNvSpPr/>
          <p:nvPr/>
        </p:nvSpPr>
        <p:spPr>
          <a:xfrm>
            <a:off x="6172200" y="1636920"/>
            <a:ext cx="225828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5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Ограничение сложности каждого дерева.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Rounded Rectangle 19"/>
          <p:cNvSpPr/>
          <p:nvPr/>
        </p:nvSpPr>
        <p:spPr>
          <a:xfrm>
            <a:off x="594360" y="2926080"/>
            <a:ext cx="3794400" cy="1325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4" name="Rectangle 20"/>
          <p:cNvSpPr/>
          <p:nvPr/>
        </p:nvSpPr>
        <p:spPr>
          <a:xfrm>
            <a:off x="612720" y="3044880"/>
            <a:ext cx="50040" cy="1087920"/>
          </a:xfrm>
          <a:prstGeom prst="rect">
            <a:avLst/>
          </a:prstGeom>
          <a:solidFill>
            <a:srgbClr val="3989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5" name="TextBox 21"/>
          <p:cNvSpPr/>
          <p:nvPr/>
        </p:nvSpPr>
        <p:spPr>
          <a:xfrm>
            <a:off x="749880" y="3026520"/>
            <a:ext cx="3538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Out-of-bag (OOB)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Box 22"/>
          <p:cNvSpPr/>
          <p:nvPr/>
        </p:nvSpPr>
        <p:spPr>
          <a:xfrm>
            <a:off x="749880" y="3374280"/>
            <a:ext cx="353844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4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При bootstrap-обучении часть объектов не попадает в конкретное дерево; их можно использовать для внутренней оценки (oob_score=True).</a:t>
            </a:r>
            <a:endParaRPr lang="ru-RU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Rounded Rectangle 23"/>
          <p:cNvSpPr/>
          <p:nvPr/>
        </p:nvSpPr>
        <p:spPr>
          <a:xfrm>
            <a:off x="4645080" y="2926080"/>
            <a:ext cx="3794400" cy="1325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8" name="Rectangle 24"/>
          <p:cNvSpPr/>
          <p:nvPr/>
        </p:nvSpPr>
        <p:spPr>
          <a:xfrm>
            <a:off x="4663440" y="3044880"/>
            <a:ext cx="50040" cy="1087920"/>
          </a:xfrm>
          <a:prstGeom prst="rect">
            <a:avLst/>
          </a:prstGeom>
          <a:solidFill>
            <a:srgbClr val="B44C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9" name="TextBox 25"/>
          <p:cNvSpPr/>
          <p:nvPr/>
        </p:nvSpPr>
        <p:spPr>
          <a:xfrm>
            <a:off x="4800600" y="3026520"/>
            <a:ext cx="3538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Важность признаков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Box 26"/>
          <p:cNvSpPr/>
          <p:nvPr/>
        </p:nvSpPr>
        <p:spPr>
          <a:xfrm>
            <a:off x="4800600" y="3374280"/>
            <a:ext cx="353844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4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Impurity-based importance может завышать значимость признаков с большим числом возможных разбиений; проверяйте permutation importance на отложенных данных.</a:t>
            </a:r>
            <a:endParaRPr lang="ru-RU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Box 27"/>
          <p:cNvSpPr/>
          <p:nvPr/>
        </p:nvSpPr>
        <p:spPr>
          <a:xfrm>
            <a:off x="777240" y="4716000"/>
            <a:ext cx="758916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ctr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4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Объём памяти, задержка инференса и требуемая интерпретируемость - часть критериев выбора модели, а не второстепенные детали.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Rectangle 1"/>
          <p:cNvSpPr/>
          <p:nvPr/>
        </p:nvSpPr>
        <p:spPr>
          <a:xfrm>
            <a:off x="0" y="0"/>
            <a:ext cx="9143640" cy="82080"/>
          </a:xfrm>
          <a:prstGeom prst="rect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3" name="TextBox 2"/>
          <p:cNvSpPr/>
          <p:nvPr/>
        </p:nvSpPr>
        <p:spPr>
          <a:xfrm>
            <a:off x="438840" y="191880"/>
            <a:ext cx="81378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tIns="13680" rIns="13680" bIns="1368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5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SVM: максимальный зазор между классами</a:t>
            </a:r>
            <a:endParaRPr lang="ru-RU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Rectangle 3"/>
          <p:cNvSpPr/>
          <p:nvPr/>
        </p:nvSpPr>
        <p:spPr>
          <a:xfrm>
            <a:off x="448200" y="804600"/>
            <a:ext cx="658080" cy="4068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5" name="Rectangle 4"/>
          <p:cNvSpPr/>
          <p:nvPr/>
        </p:nvSpPr>
        <p:spPr>
          <a:xfrm>
            <a:off x="438840" y="6519600"/>
            <a:ext cx="8265960" cy="10440"/>
          </a:xfrm>
          <a:prstGeom prst="rect">
            <a:avLst/>
          </a:prstGeom>
          <a:solidFill>
            <a:srgbClr val="DDE4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6" name="TextBox 5"/>
          <p:cNvSpPr/>
          <p:nvPr/>
        </p:nvSpPr>
        <p:spPr>
          <a:xfrm>
            <a:off x="457200" y="6565320"/>
            <a:ext cx="59432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820" b="1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МОДЕЛИ</a:t>
            </a:r>
            <a:endParaRPr lang="ru-RU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Box 6"/>
          <p:cNvSpPr/>
          <p:nvPr/>
        </p:nvSpPr>
        <p:spPr>
          <a:xfrm>
            <a:off x="8229600" y="6546960"/>
            <a:ext cx="411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850" b="0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17</a:t>
            </a:r>
            <a:endParaRPr lang="ru-RU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Rectangle 8"/>
          <p:cNvSpPr/>
          <p:nvPr/>
        </p:nvSpPr>
        <p:spPr>
          <a:xfrm>
            <a:off x="731520" y="1234440"/>
            <a:ext cx="3657240" cy="324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9" name="Oval 9"/>
          <p:cNvSpPr/>
          <p:nvPr/>
        </p:nvSpPr>
        <p:spPr>
          <a:xfrm>
            <a:off x="1234440" y="1828800"/>
            <a:ext cx="127800" cy="127800"/>
          </a:xfrm>
          <a:prstGeom prst="ellipse">
            <a:avLst/>
          </a:prstGeom>
          <a:solidFill>
            <a:srgbClr val="4678B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0" name="Oval 10"/>
          <p:cNvSpPr/>
          <p:nvPr/>
        </p:nvSpPr>
        <p:spPr>
          <a:xfrm>
            <a:off x="1554480" y="2286000"/>
            <a:ext cx="127800" cy="127800"/>
          </a:xfrm>
          <a:prstGeom prst="ellipse">
            <a:avLst/>
          </a:prstGeom>
          <a:solidFill>
            <a:srgbClr val="4678B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1" name="Oval 11"/>
          <p:cNvSpPr/>
          <p:nvPr/>
        </p:nvSpPr>
        <p:spPr>
          <a:xfrm>
            <a:off x="1874520" y="1645920"/>
            <a:ext cx="127800" cy="127800"/>
          </a:xfrm>
          <a:prstGeom prst="ellipse">
            <a:avLst/>
          </a:prstGeom>
          <a:solidFill>
            <a:srgbClr val="4678B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2" name="Oval 12"/>
          <p:cNvSpPr/>
          <p:nvPr/>
        </p:nvSpPr>
        <p:spPr>
          <a:xfrm>
            <a:off x="2103120" y="2331720"/>
            <a:ext cx="127800" cy="127800"/>
          </a:xfrm>
          <a:prstGeom prst="ellipse">
            <a:avLst/>
          </a:prstGeom>
          <a:solidFill>
            <a:srgbClr val="4678B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3" name="Oval 13"/>
          <p:cNvSpPr/>
          <p:nvPr/>
        </p:nvSpPr>
        <p:spPr>
          <a:xfrm>
            <a:off x="1508760" y="2880360"/>
            <a:ext cx="127800" cy="127800"/>
          </a:xfrm>
          <a:prstGeom prst="ellipse">
            <a:avLst/>
          </a:prstGeom>
          <a:solidFill>
            <a:srgbClr val="4678B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4" name="Oval 14"/>
          <p:cNvSpPr/>
          <p:nvPr/>
        </p:nvSpPr>
        <p:spPr>
          <a:xfrm>
            <a:off x="2240280" y="2926080"/>
            <a:ext cx="127800" cy="127800"/>
          </a:xfrm>
          <a:prstGeom prst="ellipse">
            <a:avLst/>
          </a:prstGeom>
          <a:solidFill>
            <a:srgbClr val="4678B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5" name="Oval 15"/>
          <p:cNvSpPr/>
          <p:nvPr/>
        </p:nvSpPr>
        <p:spPr>
          <a:xfrm>
            <a:off x="2834640" y="1828800"/>
            <a:ext cx="127800" cy="127800"/>
          </a:xfrm>
          <a:prstGeom prst="ellipse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6" name="Oval 16"/>
          <p:cNvSpPr/>
          <p:nvPr/>
        </p:nvSpPr>
        <p:spPr>
          <a:xfrm>
            <a:off x="3291840" y="2240280"/>
            <a:ext cx="127800" cy="127800"/>
          </a:xfrm>
          <a:prstGeom prst="ellipse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7" name="Oval 17"/>
          <p:cNvSpPr/>
          <p:nvPr/>
        </p:nvSpPr>
        <p:spPr>
          <a:xfrm>
            <a:off x="3383280" y="2743200"/>
            <a:ext cx="127800" cy="127800"/>
          </a:xfrm>
          <a:prstGeom prst="ellipse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8" name="Oval 18"/>
          <p:cNvSpPr/>
          <p:nvPr/>
        </p:nvSpPr>
        <p:spPr>
          <a:xfrm>
            <a:off x="2880360" y="3200400"/>
            <a:ext cx="127800" cy="127800"/>
          </a:xfrm>
          <a:prstGeom prst="ellipse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9" name="Oval 19"/>
          <p:cNvSpPr/>
          <p:nvPr/>
        </p:nvSpPr>
        <p:spPr>
          <a:xfrm>
            <a:off x="3749040" y="2788920"/>
            <a:ext cx="127800" cy="127800"/>
          </a:xfrm>
          <a:prstGeom prst="ellipse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0" name="Oval 20"/>
          <p:cNvSpPr/>
          <p:nvPr/>
        </p:nvSpPr>
        <p:spPr>
          <a:xfrm>
            <a:off x="3291840" y="3337560"/>
            <a:ext cx="127800" cy="127800"/>
          </a:xfrm>
          <a:prstGeom prst="ellipse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481" name="Connector 21"/>
          <p:cNvCxnSpPr/>
          <p:nvPr/>
        </p:nvCxnSpPr>
        <p:spPr>
          <a:xfrm>
            <a:off x="2486880" y="1508760"/>
            <a:ext cx="360" cy="2468880"/>
          </a:xfrm>
          <a:prstGeom prst="straightConnector1">
            <a:avLst/>
          </a:prstGeom>
          <a:ln w="26670">
            <a:solidFill>
              <a:srgbClr val="148989"/>
            </a:solidFill>
            <a:round/>
          </a:ln>
        </p:spPr>
      </p:cxnSp>
      <p:cxnSp>
        <p:nvCxnSpPr>
          <p:cNvPr id="482" name="Connector 22"/>
          <p:cNvCxnSpPr/>
          <p:nvPr/>
        </p:nvCxnSpPr>
        <p:spPr>
          <a:xfrm>
            <a:off x="2148840" y="1508760"/>
            <a:ext cx="360" cy="2468880"/>
          </a:xfrm>
          <a:prstGeom prst="straightConnector1">
            <a:avLst/>
          </a:prstGeom>
          <a:ln w="12700">
            <a:solidFill>
              <a:srgbClr val="148989"/>
            </a:solidFill>
            <a:prstDash val="sysDash"/>
            <a:round/>
          </a:ln>
        </p:spPr>
      </p:cxnSp>
      <p:cxnSp>
        <p:nvCxnSpPr>
          <p:cNvPr id="483" name="Connector 23"/>
          <p:cNvCxnSpPr/>
          <p:nvPr/>
        </p:nvCxnSpPr>
        <p:spPr>
          <a:xfrm>
            <a:off x="2816280" y="1508760"/>
            <a:ext cx="360" cy="2468880"/>
          </a:xfrm>
          <a:prstGeom prst="straightConnector1">
            <a:avLst/>
          </a:prstGeom>
          <a:ln w="12700">
            <a:solidFill>
              <a:srgbClr val="148989"/>
            </a:solidFill>
            <a:prstDash val="sysDash"/>
            <a:round/>
          </a:ln>
        </p:spPr>
      </p:cxnSp>
      <p:sp>
        <p:nvSpPr>
          <p:cNvPr id="484" name="TextBox 24"/>
          <p:cNvSpPr/>
          <p:nvPr/>
        </p:nvSpPr>
        <p:spPr>
          <a:xfrm>
            <a:off x="914400" y="4160520"/>
            <a:ext cx="3291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050" b="0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Схема линейного разделения (2D)</a:t>
            </a:r>
            <a:endParaRPr lang="ru-RU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Rounded Rectangle 25"/>
          <p:cNvSpPr/>
          <p:nvPr/>
        </p:nvSpPr>
        <p:spPr>
          <a:xfrm>
            <a:off x="4754880" y="1325880"/>
            <a:ext cx="3565800" cy="1078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6" name="Rectangle 26"/>
          <p:cNvSpPr/>
          <p:nvPr/>
        </p:nvSpPr>
        <p:spPr>
          <a:xfrm>
            <a:off x="4773240" y="1444680"/>
            <a:ext cx="50040" cy="840960"/>
          </a:xfrm>
          <a:prstGeom prst="rect">
            <a:avLst/>
          </a:prstGeom>
          <a:solidFill>
            <a:srgbClr val="4678B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7" name="TextBox 27"/>
          <p:cNvSpPr/>
          <p:nvPr/>
        </p:nvSpPr>
        <p:spPr>
          <a:xfrm>
            <a:off x="4910400" y="1426320"/>
            <a:ext cx="3309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Опорные объекты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Box 28"/>
          <p:cNvSpPr/>
          <p:nvPr/>
        </p:nvSpPr>
        <p:spPr>
          <a:xfrm>
            <a:off x="4910400" y="1774080"/>
            <a:ext cx="3309840" cy="55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5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Точки, определяющие положение разделяющей границы.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Rounded Rectangle 29"/>
          <p:cNvSpPr/>
          <p:nvPr/>
        </p:nvSpPr>
        <p:spPr>
          <a:xfrm>
            <a:off x="4754880" y="2606040"/>
            <a:ext cx="3565800" cy="1078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0" name="Rectangle 30"/>
          <p:cNvSpPr/>
          <p:nvPr/>
        </p:nvSpPr>
        <p:spPr>
          <a:xfrm>
            <a:off x="4773240" y="2724840"/>
            <a:ext cx="50040" cy="84096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1" name="TextBox 31"/>
          <p:cNvSpPr/>
          <p:nvPr/>
        </p:nvSpPr>
        <p:spPr>
          <a:xfrm>
            <a:off x="4910400" y="2706480"/>
            <a:ext cx="3309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Параметр C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Box 32"/>
          <p:cNvSpPr/>
          <p:nvPr/>
        </p:nvSpPr>
        <p:spPr>
          <a:xfrm>
            <a:off x="4910400" y="3054240"/>
            <a:ext cx="3309840" cy="55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2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Компромисс между шириной зазора и штрафом за ошибки на обучении.</a:t>
            </a:r>
            <a:endParaRPr lang="ru-RU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Rounded Rectangle 33"/>
          <p:cNvSpPr/>
          <p:nvPr/>
        </p:nvSpPr>
        <p:spPr>
          <a:xfrm>
            <a:off x="4754880" y="3886200"/>
            <a:ext cx="3565800" cy="1078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4" name="Rectangle 34"/>
          <p:cNvSpPr/>
          <p:nvPr/>
        </p:nvSpPr>
        <p:spPr>
          <a:xfrm>
            <a:off x="4773240" y="4005000"/>
            <a:ext cx="50040" cy="840960"/>
          </a:xfrm>
          <a:prstGeom prst="rect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5" name="TextBox 35"/>
          <p:cNvSpPr/>
          <p:nvPr/>
        </p:nvSpPr>
        <p:spPr>
          <a:xfrm>
            <a:off x="4910400" y="3986640"/>
            <a:ext cx="3309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Kernel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Box 36"/>
          <p:cNvSpPr/>
          <p:nvPr/>
        </p:nvSpPr>
        <p:spPr>
          <a:xfrm>
            <a:off x="4910400" y="4334400"/>
            <a:ext cx="330984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4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linear - линейная граница; RBF и полиномиальное ядро задают нелинейные границы.</a:t>
            </a:r>
            <a:endParaRPr lang="ru-RU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TextBox 37"/>
          <p:cNvSpPr/>
          <p:nvPr/>
        </p:nvSpPr>
        <p:spPr>
          <a:xfrm>
            <a:off x="868680" y="5047560"/>
            <a:ext cx="740628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4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Масштабируйте признаки. Для RBF важен gamma – радиус влияния отдельных обучающих примеров на форму разделяющей границы; при очень больших выборках kernel SVC может быть дорог по времени.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Rectangle 1"/>
          <p:cNvSpPr/>
          <p:nvPr/>
        </p:nvSpPr>
        <p:spPr>
          <a:xfrm>
            <a:off x="0" y="0"/>
            <a:ext cx="9143640" cy="82080"/>
          </a:xfrm>
          <a:prstGeom prst="rect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9" name="TextBox 2"/>
          <p:cNvSpPr/>
          <p:nvPr/>
        </p:nvSpPr>
        <p:spPr>
          <a:xfrm>
            <a:off x="438840" y="191880"/>
            <a:ext cx="813780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tIns="13680" rIns="13680" bIns="1368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0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SVC ( Support Vector Classifier) в многоклассовой задаче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Rectangle 3"/>
          <p:cNvSpPr/>
          <p:nvPr/>
        </p:nvSpPr>
        <p:spPr>
          <a:xfrm>
            <a:off x="448200" y="804600"/>
            <a:ext cx="658080" cy="4068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1" name="Rectangle 4"/>
          <p:cNvSpPr/>
          <p:nvPr/>
        </p:nvSpPr>
        <p:spPr>
          <a:xfrm>
            <a:off x="438840" y="6519600"/>
            <a:ext cx="8265960" cy="10440"/>
          </a:xfrm>
          <a:prstGeom prst="rect">
            <a:avLst/>
          </a:prstGeom>
          <a:solidFill>
            <a:srgbClr val="DDE4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2" name="TextBox 5"/>
          <p:cNvSpPr/>
          <p:nvPr/>
        </p:nvSpPr>
        <p:spPr>
          <a:xfrm>
            <a:off x="457200" y="6565320"/>
            <a:ext cx="59432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820" b="1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МОДЕЛИ</a:t>
            </a:r>
            <a:endParaRPr lang="ru-RU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Box 6"/>
          <p:cNvSpPr/>
          <p:nvPr/>
        </p:nvSpPr>
        <p:spPr>
          <a:xfrm>
            <a:off x="8229600" y="6546960"/>
            <a:ext cx="411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850" b="0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18</a:t>
            </a:r>
            <a:endParaRPr lang="ru-RU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Rounded Rectangle 7"/>
          <p:cNvSpPr/>
          <p:nvPr/>
        </p:nvSpPr>
        <p:spPr>
          <a:xfrm>
            <a:off x="594360" y="1188720"/>
            <a:ext cx="3702960" cy="150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5" name="Rectangle 8"/>
          <p:cNvSpPr/>
          <p:nvPr/>
        </p:nvSpPr>
        <p:spPr>
          <a:xfrm>
            <a:off x="612720" y="1307520"/>
            <a:ext cx="50040" cy="1270800"/>
          </a:xfrm>
          <a:prstGeom prst="rect">
            <a:avLst/>
          </a:prstGeom>
          <a:solidFill>
            <a:srgbClr val="4678B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6" name="TextBox 9"/>
          <p:cNvSpPr/>
          <p:nvPr/>
        </p:nvSpPr>
        <p:spPr>
          <a:xfrm>
            <a:off x="749880" y="1289160"/>
            <a:ext cx="3447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Схема по умолчанию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Box 10"/>
          <p:cNvSpPr/>
          <p:nvPr/>
        </p:nvSpPr>
        <p:spPr>
          <a:xfrm>
            <a:off x="749880" y="1636920"/>
            <a:ext cx="3447000" cy="98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4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SVC в scikit-learn обучает бинарные модели One-vs-One; `decision_function_shape` влияет на форму возвращаемых оценок, но не меняет внутреннюю стратегию обучения.</a:t>
            </a:r>
            <a:endParaRPr lang="ru-RU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Rounded Rectangle 11"/>
          <p:cNvSpPr/>
          <p:nvPr/>
        </p:nvSpPr>
        <p:spPr>
          <a:xfrm>
            <a:off x="4617720" y="1188720"/>
            <a:ext cx="3702960" cy="150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9" name="Rectangle 12"/>
          <p:cNvSpPr/>
          <p:nvPr/>
        </p:nvSpPr>
        <p:spPr>
          <a:xfrm>
            <a:off x="4636080" y="1307520"/>
            <a:ext cx="50040" cy="1270800"/>
          </a:xfrm>
          <a:prstGeom prst="rect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0" name="TextBox 13"/>
          <p:cNvSpPr/>
          <p:nvPr/>
        </p:nvSpPr>
        <p:spPr>
          <a:xfrm>
            <a:off x="4773240" y="1289160"/>
            <a:ext cx="3447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Ключевые параметры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Box 14"/>
          <p:cNvSpPr/>
          <p:nvPr/>
        </p:nvSpPr>
        <p:spPr>
          <a:xfrm>
            <a:off x="4773240" y="1636920"/>
            <a:ext cx="3447000" cy="59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2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C - регуляризация; kernel - вид границы; gamma - влияние отдельных объектов для RBF; class_weight - веса классов.</a:t>
            </a:r>
            <a:endParaRPr lang="ru-RU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Box 15"/>
          <p:cNvSpPr/>
          <p:nvPr/>
        </p:nvSpPr>
        <p:spPr>
          <a:xfrm>
            <a:off x="731520" y="3154680"/>
            <a:ext cx="758916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Когда SVC - разумный кандидат: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Oval 16"/>
          <p:cNvSpPr/>
          <p:nvPr/>
        </p:nvSpPr>
        <p:spPr>
          <a:xfrm>
            <a:off x="914400" y="3694320"/>
            <a:ext cx="77400" cy="77400"/>
          </a:xfrm>
          <a:prstGeom prst="ellipse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0080" rIns="90000" bIns="10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4" name="TextBox 17"/>
          <p:cNvSpPr/>
          <p:nvPr/>
        </p:nvSpPr>
        <p:spPr>
          <a:xfrm>
            <a:off x="1078920" y="3584520"/>
            <a:ext cx="715032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40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небольшой или средний объём данных и информативные числовые признаки;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Oval 18"/>
          <p:cNvSpPr/>
          <p:nvPr/>
        </p:nvSpPr>
        <p:spPr>
          <a:xfrm>
            <a:off x="914400" y="3969000"/>
            <a:ext cx="77400" cy="77400"/>
          </a:xfrm>
          <a:prstGeom prst="ellipse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0080" rIns="90000" bIns="10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6" name="TextBox 19"/>
          <p:cNvSpPr/>
          <p:nvPr/>
        </p:nvSpPr>
        <p:spPr>
          <a:xfrm>
            <a:off x="1078920" y="3859200"/>
            <a:ext cx="715032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40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сложные границы между классами, особенно при RBF-ядере;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Oval 20"/>
          <p:cNvSpPr/>
          <p:nvPr/>
        </p:nvSpPr>
        <p:spPr>
          <a:xfrm>
            <a:off x="914400" y="4243680"/>
            <a:ext cx="77400" cy="77400"/>
          </a:xfrm>
          <a:prstGeom prst="ellipse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0080" rIns="90000" bIns="10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8" name="TextBox 21"/>
          <p:cNvSpPr/>
          <p:nvPr/>
        </p:nvSpPr>
        <p:spPr>
          <a:xfrm>
            <a:off x="1078920" y="4134240"/>
            <a:ext cx="715032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40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возможность масштабировать признаки и подбирать C / gamma через CV.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Box 22"/>
          <p:cNvSpPr/>
          <p:nvPr/>
        </p:nvSpPr>
        <p:spPr>
          <a:xfrm>
            <a:off x="777240" y="5349240"/>
            <a:ext cx="7543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350" b="1" u="none" strike="noStrike">
                <a:solidFill>
                  <a:srgbClr val="B44C4C"/>
                </a:solidFill>
                <a:effectLst/>
                <a:uFillTx/>
                <a:latin typeface="Arial"/>
              </a:rPr>
              <a:t>Ограничение: kernel SVC может масштабироваться плохо на десятках и сотнях тысяч объектов; рассмотрите LinearSVC или SGDClassifier.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Rectangle 1"/>
          <p:cNvSpPr/>
          <p:nvPr/>
        </p:nvSpPr>
        <p:spPr>
          <a:xfrm>
            <a:off x="0" y="0"/>
            <a:ext cx="9143640" cy="82080"/>
          </a:xfrm>
          <a:prstGeom prst="rect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1" name="TextBox 2"/>
          <p:cNvSpPr/>
          <p:nvPr/>
        </p:nvSpPr>
        <p:spPr>
          <a:xfrm>
            <a:off x="438840" y="191880"/>
            <a:ext cx="81378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tIns="13680" rIns="13680" bIns="1368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9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SGDClassifier: линейная модель и стохастическая оптимизация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Rectangle 3"/>
          <p:cNvSpPr/>
          <p:nvPr/>
        </p:nvSpPr>
        <p:spPr>
          <a:xfrm>
            <a:off x="448200" y="804600"/>
            <a:ext cx="658080" cy="4068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3" name="Rectangle 4"/>
          <p:cNvSpPr/>
          <p:nvPr/>
        </p:nvSpPr>
        <p:spPr>
          <a:xfrm>
            <a:off x="438840" y="6519600"/>
            <a:ext cx="8265960" cy="10440"/>
          </a:xfrm>
          <a:prstGeom prst="rect">
            <a:avLst/>
          </a:prstGeom>
          <a:solidFill>
            <a:srgbClr val="DDE4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4" name="TextBox 5"/>
          <p:cNvSpPr/>
          <p:nvPr/>
        </p:nvSpPr>
        <p:spPr>
          <a:xfrm>
            <a:off x="457200" y="6565320"/>
            <a:ext cx="59432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820" b="1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МОДЕЛИ</a:t>
            </a:r>
            <a:endParaRPr lang="ru-RU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Box 6"/>
          <p:cNvSpPr/>
          <p:nvPr/>
        </p:nvSpPr>
        <p:spPr>
          <a:xfrm>
            <a:off x="8229600" y="6546960"/>
            <a:ext cx="411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850" b="0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19</a:t>
            </a:r>
            <a:endParaRPr lang="ru-RU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Rounded Rectangle 7"/>
          <p:cNvSpPr/>
          <p:nvPr/>
        </p:nvSpPr>
        <p:spPr>
          <a:xfrm>
            <a:off x="640080" y="1143000"/>
            <a:ext cx="7817760" cy="1005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109800" rIns="109800" bIns="109800" anchor="ctr">
            <a:no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4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Цель обучения (схематично):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499"/>
              </a:spcAft>
            </a:pPr>
            <a:r>
              <a:rPr lang="en-US" sz="2100" b="1" u="none" strike="noStrike">
                <a:solidFill>
                  <a:srgbClr val="148989"/>
                </a:solidFill>
                <a:effectLst/>
                <a:uFillTx/>
                <a:latin typeface="Arial"/>
              </a:rPr>
              <a:t>min_w  (1/m) Σᵢ ℓ(yᵢ, wᵀxᵢ) + αR(w)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На каждой итерации веса обновляются с использованием градиента по отдельному объекту или мини-батчу.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Rounded Rectangle 8"/>
          <p:cNvSpPr/>
          <p:nvPr/>
        </p:nvSpPr>
        <p:spPr>
          <a:xfrm>
            <a:off x="640080" y="2514600"/>
            <a:ext cx="248688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8" name="Rectangle 9"/>
          <p:cNvSpPr/>
          <p:nvPr/>
        </p:nvSpPr>
        <p:spPr>
          <a:xfrm>
            <a:off x="658440" y="2633400"/>
            <a:ext cx="50040" cy="1179360"/>
          </a:xfrm>
          <a:prstGeom prst="rect">
            <a:avLst/>
          </a:prstGeom>
          <a:solidFill>
            <a:srgbClr val="4678B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9" name="TextBox 10"/>
          <p:cNvSpPr/>
          <p:nvPr/>
        </p:nvSpPr>
        <p:spPr>
          <a:xfrm>
            <a:off x="795600" y="2615040"/>
            <a:ext cx="22309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loss="hinge"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TextBox 11"/>
          <p:cNvSpPr/>
          <p:nvPr/>
        </p:nvSpPr>
        <p:spPr>
          <a:xfrm>
            <a:off x="795600" y="2962800"/>
            <a:ext cx="223092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5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Линейный SVM-подобный классификатор.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Rounded Rectangle 12"/>
          <p:cNvSpPr/>
          <p:nvPr/>
        </p:nvSpPr>
        <p:spPr>
          <a:xfrm>
            <a:off x="3319200" y="2514600"/>
            <a:ext cx="248688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2" name="Rectangle 13"/>
          <p:cNvSpPr/>
          <p:nvPr/>
        </p:nvSpPr>
        <p:spPr>
          <a:xfrm>
            <a:off x="3337560" y="2633400"/>
            <a:ext cx="50040" cy="1179360"/>
          </a:xfrm>
          <a:prstGeom prst="rect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3" name="TextBox 14"/>
          <p:cNvSpPr/>
          <p:nvPr/>
        </p:nvSpPr>
        <p:spPr>
          <a:xfrm>
            <a:off x="3474720" y="2615040"/>
            <a:ext cx="22309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loss="log_loss"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TextBox 15"/>
          <p:cNvSpPr/>
          <p:nvPr/>
        </p:nvSpPr>
        <p:spPr>
          <a:xfrm>
            <a:off x="3474720" y="2962800"/>
            <a:ext cx="223092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1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Логистическая модель с оценками вероятностей при поддерживаемом интерфейсе.</a:t>
            </a:r>
            <a:endParaRPr lang="ru-RU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Rounded Rectangle 16"/>
          <p:cNvSpPr/>
          <p:nvPr/>
        </p:nvSpPr>
        <p:spPr>
          <a:xfrm>
            <a:off x="5989320" y="2514600"/>
            <a:ext cx="248688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6" name="Rectangle 17"/>
          <p:cNvSpPr/>
          <p:nvPr/>
        </p:nvSpPr>
        <p:spPr>
          <a:xfrm>
            <a:off x="6007680" y="2633400"/>
            <a:ext cx="50040" cy="117936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7" name="TextBox 18"/>
          <p:cNvSpPr/>
          <p:nvPr/>
        </p:nvSpPr>
        <p:spPr>
          <a:xfrm>
            <a:off x="6144840" y="2615040"/>
            <a:ext cx="22309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penalty / alpha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Box 19"/>
          <p:cNvSpPr/>
          <p:nvPr/>
        </p:nvSpPr>
        <p:spPr>
          <a:xfrm>
            <a:off x="6144840" y="2962800"/>
            <a:ext cx="223092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5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L1 / L2 / Elastic Net; alpha регулирует силу регуляризации.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Box 20"/>
          <p:cNvSpPr/>
          <p:nvPr/>
        </p:nvSpPr>
        <p:spPr>
          <a:xfrm>
            <a:off x="777240" y="4343400"/>
            <a:ext cx="74977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ctr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4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Преимущества: скорость и пригодность для больших и разреженных данных. Риски: чувствительность к масштабу признаков и настройкам оптимизации.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TextBox 21"/>
          <p:cNvSpPr/>
          <p:nvPr/>
        </p:nvSpPr>
        <p:spPr>
          <a:xfrm>
            <a:off x="777240" y="5074920"/>
            <a:ext cx="7497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350" b="0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Проверяйте сходимость, масштабируйте признаки и фиксируйте random_state, где он поддерживается.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Rectangle 1"/>
          <p:cNvSpPr/>
          <p:nvPr/>
        </p:nvSpPr>
        <p:spPr>
          <a:xfrm>
            <a:off x="0" y="0"/>
            <a:ext cx="9143640" cy="82080"/>
          </a:xfrm>
          <a:prstGeom prst="rect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2" name="TextBox 2"/>
          <p:cNvSpPr/>
          <p:nvPr/>
        </p:nvSpPr>
        <p:spPr>
          <a:xfrm>
            <a:off x="438840" y="191880"/>
            <a:ext cx="81378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tIns="13680" rIns="13680" bIns="1368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1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Мультиномиальная логистическая регрессия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Rectangle 3"/>
          <p:cNvSpPr/>
          <p:nvPr/>
        </p:nvSpPr>
        <p:spPr>
          <a:xfrm>
            <a:off x="448200" y="804600"/>
            <a:ext cx="658080" cy="4068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4" name="Rectangle 4"/>
          <p:cNvSpPr/>
          <p:nvPr/>
        </p:nvSpPr>
        <p:spPr>
          <a:xfrm>
            <a:off x="438840" y="6519600"/>
            <a:ext cx="8265960" cy="10440"/>
          </a:xfrm>
          <a:prstGeom prst="rect">
            <a:avLst/>
          </a:prstGeom>
          <a:solidFill>
            <a:srgbClr val="DDE4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5" name="TextBox 5"/>
          <p:cNvSpPr/>
          <p:nvPr/>
        </p:nvSpPr>
        <p:spPr>
          <a:xfrm>
            <a:off x="457200" y="6565320"/>
            <a:ext cx="59432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820" b="1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МОДЕЛИ</a:t>
            </a:r>
            <a:endParaRPr lang="ru-RU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TextBox 6"/>
          <p:cNvSpPr/>
          <p:nvPr/>
        </p:nvSpPr>
        <p:spPr>
          <a:xfrm>
            <a:off x="8229600" y="6546960"/>
            <a:ext cx="411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850" b="0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20</a:t>
            </a:r>
            <a:endParaRPr lang="ru-RU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Box 7"/>
          <p:cNvSpPr/>
          <p:nvPr/>
        </p:nvSpPr>
        <p:spPr>
          <a:xfrm>
            <a:off x="640080" y="1143000"/>
            <a:ext cx="7817760" cy="54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Для K классов модель оценивает линейные комбинации признаков zₖ = wₖᵀx + bₖ, затем применяет softmax.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Rounded Rectangle 8"/>
          <p:cNvSpPr/>
          <p:nvPr/>
        </p:nvSpPr>
        <p:spPr>
          <a:xfrm>
            <a:off x="731520" y="1856160"/>
            <a:ext cx="7634880" cy="914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137160" rIns="137160" bIns="137160" anchor="ctr">
            <a:noAutofit/>
          </a:bodyPr>
          <a:p>
            <a:pPr algn="ctr" defTabSz="457200">
              <a:lnSpc>
                <a:spcPct val="100000"/>
              </a:lnSpc>
              <a:spcAft>
                <a:spcPts val="499"/>
              </a:spcAft>
            </a:pPr>
            <a:r>
              <a:rPr lang="en-US" sz="1950" b="1" u="none" strike="noStrike">
                <a:solidFill>
                  <a:srgbClr val="148989"/>
                </a:solidFill>
                <a:effectLst/>
                <a:uFillTx/>
                <a:latin typeface="Arial"/>
              </a:rPr>
              <a:t>p(y=k | x) = exp(wₖᵀx + bₖ) / Σⱼ exp(wⱼᵀx + bⱼ) итоговая вероятность того, что объект </a:t>
            </a:r>
            <a:r>
              <a:rPr lang="en-US" sz="1950" b="1" i="1" u="none" strike="noStrike">
                <a:solidFill>
                  <a:srgbClr val="148989"/>
                </a:solidFill>
                <a:effectLst/>
                <a:uFillTx/>
                <a:latin typeface="Arial"/>
              </a:rPr>
              <a:t>х</a:t>
            </a:r>
            <a:r>
              <a:rPr lang="en-US" sz="1950" b="1" u="none" strike="noStrike">
                <a:solidFill>
                  <a:srgbClr val="148989"/>
                </a:solidFill>
                <a:effectLst/>
                <a:uFillTx/>
                <a:latin typeface="Arial"/>
              </a:rPr>
              <a:t> принадлежит к классу </a:t>
            </a:r>
            <a:r>
              <a:rPr lang="en-US" sz="1950" b="1" i="1" u="none" strike="noStrike">
                <a:solidFill>
                  <a:srgbClr val="148989"/>
                </a:solidFill>
                <a:effectLst/>
                <a:uFillTx/>
                <a:latin typeface="Arial"/>
              </a:rPr>
              <a:t>к</a:t>
            </a:r>
            <a:r>
              <a:rPr lang="en-US" sz="1950" b="1" u="none" strike="noStrike">
                <a:solidFill>
                  <a:srgbClr val="148989"/>
                </a:solidFill>
                <a:effectLst/>
                <a:uFillTx/>
                <a:latin typeface="Arial"/>
              </a:rPr>
              <a:t>.</a:t>
            </a:r>
            <a:endParaRPr lang="ru-RU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Rounded Rectangle 9"/>
          <p:cNvSpPr/>
          <p:nvPr/>
        </p:nvSpPr>
        <p:spPr>
          <a:xfrm>
            <a:off x="685800" y="3154680"/>
            <a:ext cx="3657240" cy="1261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0" name="Rectangle 10"/>
          <p:cNvSpPr/>
          <p:nvPr/>
        </p:nvSpPr>
        <p:spPr>
          <a:xfrm>
            <a:off x="704160" y="3273480"/>
            <a:ext cx="50040" cy="1023840"/>
          </a:xfrm>
          <a:prstGeom prst="rect">
            <a:avLst/>
          </a:prstGeom>
          <a:solidFill>
            <a:srgbClr val="3989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1" name="TextBox 11"/>
          <p:cNvSpPr/>
          <p:nvPr/>
        </p:nvSpPr>
        <p:spPr>
          <a:xfrm>
            <a:off x="841320" y="3255120"/>
            <a:ext cx="34012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Преимущества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TextBox 12"/>
          <p:cNvSpPr/>
          <p:nvPr/>
        </p:nvSpPr>
        <p:spPr>
          <a:xfrm>
            <a:off x="841320" y="3602880"/>
            <a:ext cx="340128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3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Быстрый baseline, вероятностная интерпретация, коэффициенты можно анализировать по признакам.</a:t>
            </a:r>
            <a:endParaRPr lang="ru-RU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Rounded Rectangle 13"/>
          <p:cNvSpPr/>
          <p:nvPr/>
        </p:nvSpPr>
        <p:spPr>
          <a:xfrm>
            <a:off x="4617720" y="3154680"/>
            <a:ext cx="3657240" cy="1261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4" name="Rectangle 14"/>
          <p:cNvSpPr/>
          <p:nvPr/>
        </p:nvSpPr>
        <p:spPr>
          <a:xfrm>
            <a:off x="4636080" y="3273480"/>
            <a:ext cx="50040" cy="102384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5" name="TextBox 15"/>
          <p:cNvSpPr/>
          <p:nvPr/>
        </p:nvSpPr>
        <p:spPr>
          <a:xfrm>
            <a:off x="4773240" y="3255120"/>
            <a:ext cx="34012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Ограничения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TextBox 16"/>
          <p:cNvSpPr/>
          <p:nvPr/>
        </p:nvSpPr>
        <p:spPr>
          <a:xfrm>
            <a:off x="4773240" y="3602880"/>
            <a:ext cx="340128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4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Разделяющие границы линейны в исходном пространстве; нелинейность требует новых признаков или другой модели.</a:t>
            </a:r>
            <a:endParaRPr lang="ru-RU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Box 17"/>
          <p:cNvSpPr/>
          <p:nvPr/>
        </p:nvSpPr>
        <p:spPr>
          <a:xfrm>
            <a:off x="777240" y="4800600"/>
            <a:ext cx="7543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ctr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4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Регуляризация особенно важна при большом числе признаков и коррелирующих переменных.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Rectangle 1"/>
          <p:cNvSpPr/>
          <p:nvPr/>
        </p:nvSpPr>
        <p:spPr>
          <a:xfrm>
            <a:off x="0" y="0"/>
            <a:ext cx="9143640" cy="82080"/>
          </a:xfrm>
          <a:prstGeom prst="rect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9" name="TextBox 2"/>
          <p:cNvSpPr/>
          <p:nvPr/>
        </p:nvSpPr>
        <p:spPr>
          <a:xfrm>
            <a:off x="438840" y="191880"/>
            <a:ext cx="81378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tIns="13680" rIns="13680" bIns="1368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5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Наивный Байес: правило Байеса</a:t>
            </a:r>
            <a:endParaRPr lang="ru-RU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Rectangle 3"/>
          <p:cNvSpPr/>
          <p:nvPr/>
        </p:nvSpPr>
        <p:spPr>
          <a:xfrm>
            <a:off x="448200" y="804600"/>
            <a:ext cx="658080" cy="4068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1" name="Rectangle 4"/>
          <p:cNvSpPr/>
          <p:nvPr/>
        </p:nvSpPr>
        <p:spPr>
          <a:xfrm>
            <a:off x="438840" y="6519600"/>
            <a:ext cx="8265960" cy="10440"/>
          </a:xfrm>
          <a:prstGeom prst="rect">
            <a:avLst/>
          </a:prstGeom>
          <a:solidFill>
            <a:srgbClr val="DDE4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2" name="TextBox 5"/>
          <p:cNvSpPr/>
          <p:nvPr/>
        </p:nvSpPr>
        <p:spPr>
          <a:xfrm>
            <a:off x="457200" y="6565320"/>
            <a:ext cx="59432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820" b="1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МОДЕЛИ</a:t>
            </a:r>
            <a:endParaRPr lang="ru-RU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TextBox 6"/>
          <p:cNvSpPr/>
          <p:nvPr/>
        </p:nvSpPr>
        <p:spPr>
          <a:xfrm>
            <a:off x="8229600" y="6546960"/>
            <a:ext cx="411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850" b="0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21</a:t>
            </a:r>
            <a:endParaRPr lang="ru-RU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TextBox 7"/>
          <p:cNvSpPr/>
          <p:nvPr/>
        </p:nvSpPr>
        <p:spPr>
          <a:xfrm>
            <a:off x="457200" y="6318360"/>
            <a:ext cx="81378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760" b="0" i="1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scikit-learn: GaussianNB.</a:t>
            </a:r>
            <a:endParaRPr lang="ru-RU" sz="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Rounded Rectangle 8"/>
          <p:cNvSpPr/>
          <p:nvPr/>
        </p:nvSpPr>
        <p:spPr>
          <a:xfrm>
            <a:off x="685800" y="1143000"/>
            <a:ext cx="7772040" cy="959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109800" rIns="109800" bIns="109800" anchor="ctr">
            <a:noAutofit/>
          </a:bodyPr>
          <a:p>
            <a:pPr algn="ctr" defTabSz="457200">
              <a:lnSpc>
                <a:spcPct val="100000"/>
              </a:lnSpc>
              <a:spcAft>
                <a:spcPts val="499"/>
              </a:spcAft>
            </a:pPr>
            <a:r>
              <a:rPr lang="en-US" sz="2300" b="1" u="none" strike="noStrike">
                <a:solidFill>
                  <a:srgbClr val="148989"/>
                </a:solidFill>
                <a:effectLst/>
                <a:uFillTx/>
                <a:latin typeface="Arial"/>
              </a:rPr>
              <a:t>P(y=k | x) ∝ P(y=k) · P(x | y=k)</a:t>
            </a:r>
            <a:endParaRPr lang="ru-RU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499"/>
              </a:spcAft>
            </a:pPr>
            <a:r>
              <a:rPr lang="en-US" sz="140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Апостериорная вероятность ∝ (пропорциональна) априорной вероятности класса × правдоподобие признаков.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Rounded Rectangle 9"/>
          <p:cNvSpPr/>
          <p:nvPr/>
        </p:nvSpPr>
        <p:spPr>
          <a:xfrm>
            <a:off x="640080" y="2487240"/>
            <a:ext cx="3702960" cy="1371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7" name="Rectangle 10"/>
          <p:cNvSpPr/>
          <p:nvPr/>
        </p:nvSpPr>
        <p:spPr>
          <a:xfrm>
            <a:off x="658440" y="2606040"/>
            <a:ext cx="50040" cy="1133640"/>
          </a:xfrm>
          <a:prstGeom prst="rect">
            <a:avLst/>
          </a:prstGeom>
          <a:solidFill>
            <a:srgbClr val="4678B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8" name="TextBox 11"/>
          <p:cNvSpPr/>
          <p:nvPr/>
        </p:nvSpPr>
        <p:spPr>
          <a:xfrm>
            <a:off x="795600" y="2587680"/>
            <a:ext cx="3447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GaussianNB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TextBox 12"/>
          <p:cNvSpPr/>
          <p:nvPr/>
        </p:nvSpPr>
        <p:spPr>
          <a:xfrm>
            <a:off x="795600" y="2935080"/>
            <a:ext cx="3447000" cy="8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5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Предполагает нормальное распределение каждого признака внутри каждого класса.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Rounded Rectangle 13"/>
          <p:cNvSpPr/>
          <p:nvPr/>
        </p:nvSpPr>
        <p:spPr>
          <a:xfrm>
            <a:off x="4617720" y="2487240"/>
            <a:ext cx="3702960" cy="1371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1" name="Rectangle 14"/>
          <p:cNvSpPr/>
          <p:nvPr/>
        </p:nvSpPr>
        <p:spPr>
          <a:xfrm>
            <a:off x="4636080" y="2606040"/>
            <a:ext cx="50040" cy="113364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2" name="TextBox 15"/>
          <p:cNvSpPr/>
          <p:nvPr/>
        </p:nvSpPr>
        <p:spPr>
          <a:xfrm>
            <a:off x="4773240" y="2587680"/>
            <a:ext cx="3447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Наивное предположение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TextBox 16"/>
          <p:cNvSpPr/>
          <p:nvPr/>
        </p:nvSpPr>
        <p:spPr>
          <a:xfrm>
            <a:off x="4773240" y="2935080"/>
            <a:ext cx="3447000" cy="8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5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Признаки условно независимы при заданном классе: P(x|y)=∏ⱼ P(xⱼ|y).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Box 17"/>
          <p:cNvSpPr/>
          <p:nvPr/>
        </p:nvSpPr>
        <p:spPr>
          <a:xfrm>
            <a:off x="777240" y="4251960"/>
            <a:ext cx="754344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ctr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4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Параметры класса: априорные вероятности и среднее / дисперсия признаков. `var_smoothing` помогает численной устойчивости.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Box 18"/>
          <p:cNvSpPr/>
          <p:nvPr/>
        </p:nvSpPr>
        <p:spPr>
          <a:xfrm>
            <a:off x="777240" y="4983480"/>
            <a:ext cx="7543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350" b="0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Модель часто полезна как быстрый baseline, но предположение независимости редко выполняется буквально.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Rectangle 1"/>
          <p:cNvSpPr/>
          <p:nvPr/>
        </p:nvSpPr>
        <p:spPr>
          <a:xfrm>
            <a:off x="0" y="0"/>
            <a:ext cx="9143640" cy="82080"/>
          </a:xfrm>
          <a:prstGeom prst="rect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7" name="TextBox 2"/>
          <p:cNvSpPr/>
          <p:nvPr/>
        </p:nvSpPr>
        <p:spPr>
          <a:xfrm>
            <a:off x="438840" y="191880"/>
            <a:ext cx="81378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tIns="13680" rIns="13680" bIns="1368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1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Сравнение рассмотренных классификаторов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Rectangle 3"/>
          <p:cNvSpPr/>
          <p:nvPr/>
        </p:nvSpPr>
        <p:spPr>
          <a:xfrm>
            <a:off x="448200" y="804600"/>
            <a:ext cx="658080" cy="4068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9" name="Rectangle 4"/>
          <p:cNvSpPr/>
          <p:nvPr/>
        </p:nvSpPr>
        <p:spPr>
          <a:xfrm>
            <a:off x="438840" y="6519600"/>
            <a:ext cx="8265960" cy="10440"/>
          </a:xfrm>
          <a:prstGeom prst="rect">
            <a:avLst/>
          </a:prstGeom>
          <a:solidFill>
            <a:srgbClr val="DDE4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0" name="TextBox 5"/>
          <p:cNvSpPr/>
          <p:nvPr/>
        </p:nvSpPr>
        <p:spPr>
          <a:xfrm>
            <a:off x="457200" y="6565320"/>
            <a:ext cx="59432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820" b="1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МОДЕЛИ</a:t>
            </a:r>
            <a:endParaRPr lang="ru-RU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TextBox 6"/>
          <p:cNvSpPr/>
          <p:nvPr/>
        </p:nvSpPr>
        <p:spPr>
          <a:xfrm>
            <a:off x="8229600" y="6546960"/>
            <a:ext cx="41112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850" b="0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22</a:t>
            </a:r>
            <a:endParaRPr lang="ru-RU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Rounded Rectangle 7"/>
          <p:cNvSpPr/>
          <p:nvPr/>
        </p:nvSpPr>
        <p:spPr>
          <a:xfrm>
            <a:off x="502920" y="1188720"/>
            <a:ext cx="8137800" cy="438480"/>
          </a:xfrm>
          <a:prstGeom prst="roundRect">
            <a:avLst>
              <a:gd name="adj" fmla="val 16667"/>
            </a:avLst>
          </a:prstGeom>
          <a:solidFill>
            <a:srgbClr val="16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3" name="TextBox 8"/>
          <p:cNvSpPr/>
          <p:nvPr/>
        </p:nvSpPr>
        <p:spPr>
          <a:xfrm>
            <a:off x="640080" y="1271160"/>
            <a:ext cx="1371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Метод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TextBox 9"/>
          <p:cNvSpPr/>
          <p:nvPr/>
        </p:nvSpPr>
        <p:spPr>
          <a:xfrm>
            <a:off x="2103120" y="1271160"/>
            <a:ext cx="1965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Сильные стороны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TextBox 10"/>
          <p:cNvSpPr/>
          <p:nvPr/>
        </p:nvSpPr>
        <p:spPr>
          <a:xfrm>
            <a:off x="4160520" y="1271160"/>
            <a:ext cx="1919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Ограничения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TextBox 11"/>
          <p:cNvSpPr/>
          <p:nvPr/>
        </p:nvSpPr>
        <p:spPr>
          <a:xfrm>
            <a:off x="6144840" y="1271160"/>
            <a:ext cx="22856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Когда попробовать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Rectangle 12"/>
          <p:cNvSpPr/>
          <p:nvPr/>
        </p:nvSpPr>
        <p:spPr>
          <a:xfrm>
            <a:off x="502920" y="1700640"/>
            <a:ext cx="8137800" cy="658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8" name="TextBox 13"/>
          <p:cNvSpPr/>
          <p:nvPr/>
        </p:nvSpPr>
        <p:spPr>
          <a:xfrm>
            <a:off x="621720" y="1801440"/>
            <a:ext cx="13896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Decision Tree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TextBox 14"/>
          <p:cNvSpPr/>
          <p:nvPr/>
        </p:nvSpPr>
        <p:spPr>
          <a:xfrm>
            <a:off x="2103120" y="1783080"/>
            <a:ext cx="1919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4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Интерпретируемость</a:t>
            </a:r>
            <a:endParaRPr lang="ru-RU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TextBox 15"/>
          <p:cNvSpPr/>
          <p:nvPr/>
        </p:nvSpPr>
        <p:spPr>
          <a:xfrm>
            <a:off x="4160520" y="1783080"/>
            <a:ext cx="18468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4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Переобучение</a:t>
            </a:r>
            <a:endParaRPr lang="ru-RU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TextBox 16"/>
          <p:cNvSpPr/>
          <p:nvPr/>
        </p:nvSpPr>
        <p:spPr>
          <a:xfrm>
            <a:off x="6144840" y="1783080"/>
            <a:ext cx="23313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4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Правила и объяснимость</a:t>
            </a:r>
            <a:endParaRPr lang="ru-RU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Rectangle 17"/>
          <p:cNvSpPr/>
          <p:nvPr/>
        </p:nvSpPr>
        <p:spPr>
          <a:xfrm>
            <a:off x="502920" y="2404800"/>
            <a:ext cx="8137800" cy="65808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3" name="TextBox 18"/>
          <p:cNvSpPr/>
          <p:nvPr/>
        </p:nvSpPr>
        <p:spPr>
          <a:xfrm>
            <a:off x="621720" y="2505600"/>
            <a:ext cx="13896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Random Forest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TextBox 19"/>
          <p:cNvSpPr/>
          <p:nvPr/>
        </p:nvSpPr>
        <p:spPr>
          <a:xfrm>
            <a:off x="2103120" y="2487240"/>
            <a:ext cx="1919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4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Сильный tabular baseline</a:t>
            </a:r>
            <a:endParaRPr lang="ru-RU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TextBox 20"/>
          <p:cNvSpPr/>
          <p:nvPr/>
        </p:nvSpPr>
        <p:spPr>
          <a:xfrm>
            <a:off x="4160520" y="2487240"/>
            <a:ext cx="18468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4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Меньше прозрачности</a:t>
            </a:r>
            <a:endParaRPr lang="ru-RU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TextBox 21"/>
          <p:cNvSpPr/>
          <p:nvPr/>
        </p:nvSpPr>
        <p:spPr>
          <a:xfrm>
            <a:off x="6144840" y="2487240"/>
            <a:ext cx="23313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4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Табличные данные</a:t>
            </a:r>
            <a:endParaRPr lang="ru-RU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Rectangle 22"/>
          <p:cNvSpPr/>
          <p:nvPr/>
        </p:nvSpPr>
        <p:spPr>
          <a:xfrm>
            <a:off x="502920" y="3108960"/>
            <a:ext cx="8137800" cy="658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8" name="TextBox 23"/>
          <p:cNvSpPr/>
          <p:nvPr/>
        </p:nvSpPr>
        <p:spPr>
          <a:xfrm>
            <a:off x="621720" y="3209400"/>
            <a:ext cx="13896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SVC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TextBox 24"/>
          <p:cNvSpPr/>
          <p:nvPr/>
        </p:nvSpPr>
        <p:spPr>
          <a:xfrm>
            <a:off x="2103120" y="3191400"/>
            <a:ext cx="1919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4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Нелинейные границы</a:t>
            </a:r>
            <a:endParaRPr lang="ru-RU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TextBox 25"/>
          <p:cNvSpPr/>
          <p:nvPr/>
        </p:nvSpPr>
        <p:spPr>
          <a:xfrm>
            <a:off x="4160520" y="3191400"/>
            <a:ext cx="18468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4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Масштаб и время</a:t>
            </a:r>
            <a:endParaRPr lang="ru-RU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TextBox 26"/>
          <p:cNvSpPr/>
          <p:nvPr/>
        </p:nvSpPr>
        <p:spPr>
          <a:xfrm>
            <a:off x="6144840" y="3191400"/>
            <a:ext cx="23313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4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Средний объём, числовые признаки</a:t>
            </a:r>
            <a:endParaRPr lang="ru-RU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Rectangle 27"/>
          <p:cNvSpPr/>
          <p:nvPr/>
        </p:nvSpPr>
        <p:spPr>
          <a:xfrm>
            <a:off x="502920" y="3813120"/>
            <a:ext cx="8137800" cy="65808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3" name="TextBox 28"/>
          <p:cNvSpPr/>
          <p:nvPr/>
        </p:nvSpPr>
        <p:spPr>
          <a:xfrm>
            <a:off x="621720" y="3913560"/>
            <a:ext cx="13896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SGD / Logistic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TextBox 29"/>
          <p:cNvSpPr/>
          <p:nvPr/>
        </p:nvSpPr>
        <p:spPr>
          <a:xfrm>
            <a:off x="2103120" y="3895200"/>
            <a:ext cx="1919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4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Быстро, линейно</a:t>
            </a:r>
            <a:endParaRPr lang="ru-RU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TextBox 30"/>
          <p:cNvSpPr/>
          <p:nvPr/>
        </p:nvSpPr>
        <p:spPr>
          <a:xfrm>
            <a:off x="4160520" y="3895200"/>
            <a:ext cx="18468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4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Нужны признаки/масштаб</a:t>
            </a:r>
            <a:endParaRPr lang="ru-RU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TextBox 31"/>
          <p:cNvSpPr/>
          <p:nvPr/>
        </p:nvSpPr>
        <p:spPr>
          <a:xfrm>
            <a:off x="6144840" y="3895200"/>
            <a:ext cx="23313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4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Большие и разреженные данные</a:t>
            </a:r>
            <a:endParaRPr lang="ru-RU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Rectangle 32"/>
          <p:cNvSpPr/>
          <p:nvPr/>
        </p:nvSpPr>
        <p:spPr>
          <a:xfrm>
            <a:off x="502920" y="4517280"/>
            <a:ext cx="8137800" cy="658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8" name="TextBox 33"/>
          <p:cNvSpPr/>
          <p:nvPr/>
        </p:nvSpPr>
        <p:spPr>
          <a:xfrm>
            <a:off x="621720" y="4617720"/>
            <a:ext cx="13896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GaussianNB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TextBox 34"/>
          <p:cNvSpPr/>
          <p:nvPr/>
        </p:nvSpPr>
        <p:spPr>
          <a:xfrm>
            <a:off x="2103120" y="4599360"/>
            <a:ext cx="1919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4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Очень быстро</a:t>
            </a:r>
            <a:endParaRPr lang="ru-RU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TextBox 35"/>
          <p:cNvSpPr/>
          <p:nvPr/>
        </p:nvSpPr>
        <p:spPr>
          <a:xfrm>
            <a:off x="4160520" y="4599360"/>
            <a:ext cx="18468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4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Независимость признаков</a:t>
            </a:r>
            <a:endParaRPr lang="ru-RU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TextBox 36"/>
          <p:cNvSpPr/>
          <p:nvPr/>
        </p:nvSpPr>
        <p:spPr>
          <a:xfrm>
            <a:off x="6144840" y="4599360"/>
            <a:ext cx="23313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4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Baseline, малые данные</a:t>
            </a:r>
            <a:endParaRPr lang="ru-RU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TextBox 37"/>
          <p:cNvSpPr/>
          <p:nvPr/>
        </p:nvSpPr>
        <p:spPr>
          <a:xfrm>
            <a:off x="731520" y="5440680"/>
            <a:ext cx="7589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350" b="1" u="none" strike="noStrike">
                <a:solidFill>
                  <a:srgbClr val="B44C4C"/>
                </a:solidFill>
                <a:effectLst/>
                <a:uFillTx/>
                <a:latin typeface="Arial"/>
              </a:rPr>
              <a:t>Ни один алгоритм не является лучшим для всех наборов данных: сравнивайте модели по одинаковому протоколу.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Rectangle 1"/>
          <p:cNvSpPr/>
          <p:nvPr/>
        </p:nvSpPr>
        <p:spPr>
          <a:xfrm>
            <a:off x="0" y="0"/>
            <a:ext cx="9143640" cy="82080"/>
          </a:xfrm>
          <a:prstGeom prst="rect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4" name="TextBox 2"/>
          <p:cNvSpPr/>
          <p:nvPr/>
        </p:nvSpPr>
        <p:spPr>
          <a:xfrm>
            <a:off x="438840" y="191880"/>
            <a:ext cx="81378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tIns="13680" rIns="13680" bIns="1368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5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Предобработка и Pipeline</a:t>
            </a:r>
            <a:endParaRPr lang="ru-RU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Rectangle 3"/>
          <p:cNvSpPr/>
          <p:nvPr/>
        </p:nvSpPr>
        <p:spPr>
          <a:xfrm>
            <a:off x="448200" y="804600"/>
            <a:ext cx="658080" cy="4068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6" name="Rectangle 4"/>
          <p:cNvSpPr/>
          <p:nvPr/>
        </p:nvSpPr>
        <p:spPr>
          <a:xfrm>
            <a:off x="438840" y="6519600"/>
            <a:ext cx="8265960" cy="10440"/>
          </a:xfrm>
          <a:prstGeom prst="rect">
            <a:avLst/>
          </a:prstGeom>
          <a:solidFill>
            <a:srgbClr val="DDE4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7" name="TextBox 5"/>
          <p:cNvSpPr/>
          <p:nvPr/>
        </p:nvSpPr>
        <p:spPr>
          <a:xfrm>
            <a:off x="457200" y="6565320"/>
            <a:ext cx="59432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820" b="1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ЭКСПЕРИМЕНТ</a:t>
            </a:r>
            <a:endParaRPr lang="ru-RU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TextBox 6"/>
          <p:cNvSpPr/>
          <p:nvPr/>
        </p:nvSpPr>
        <p:spPr>
          <a:xfrm>
            <a:off x="8229600" y="6546960"/>
            <a:ext cx="41112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850" b="0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23</a:t>
            </a:r>
            <a:endParaRPr lang="ru-RU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Rounded Rectangle 7"/>
          <p:cNvSpPr/>
          <p:nvPr/>
        </p:nvSpPr>
        <p:spPr>
          <a:xfrm>
            <a:off x="594360" y="1508760"/>
            <a:ext cx="1691280" cy="712800"/>
          </a:xfrm>
          <a:prstGeom prst="roundRect">
            <a:avLst>
              <a:gd name="adj" fmla="val 16667"/>
            </a:avLst>
          </a:prstGeom>
          <a:solidFill>
            <a:srgbClr val="E6EFFA"/>
          </a:solidFill>
          <a:ln w="12700">
            <a:solidFill>
              <a:srgbClr val="E6EF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0" name="TextBox 8"/>
          <p:cNvSpPr/>
          <p:nvPr/>
        </p:nvSpPr>
        <p:spPr>
          <a:xfrm>
            <a:off x="631080" y="1527120"/>
            <a:ext cx="16182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300" b="1" u="none" strike="noStrike">
                <a:solidFill>
                  <a:srgbClr val="4678B2"/>
                </a:solidFill>
                <a:effectLst/>
                <a:uFillTx/>
                <a:latin typeface="Arial"/>
              </a:rPr>
              <a:t>Исходные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300" b="1" u="none" strike="noStrike">
                <a:solidFill>
                  <a:srgbClr val="4678B2"/>
                </a:solidFill>
                <a:effectLst/>
                <a:uFillTx/>
                <a:latin typeface="Arial"/>
              </a:rPr>
              <a:t>данные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21" name="Connector 9"/>
          <p:cNvCxnSpPr/>
          <p:nvPr/>
        </p:nvCxnSpPr>
        <p:spPr>
          <a:xfrm>
            <a:off x="2331720" y="1865160"/>
            <a:ext cx="246960" cy="360"/>
          </a:xfrm>
          <a:prstGeom prst="straightConnector1">
            <a:avLst/>
          </a:prstGeom>
          <a:ln w="21590">
            <a:solidFill>
              <a:srgbClr val="148989"/>
            </a:solidFill>
            <a:round/>
          </a:ln>
        </p:spPr>
      </p:cxnSp>
      <p:sp>
        <p:nvSpPr>
          <p:cNvPr id="622" name="Rounded Rectangle 10"/>
          <p:cNvSpPr/>
          <p:nvPr/>
        </p:nvSpPr>
        <p:spPr>
          <a:xfrm>
            <a:off x="2651760" y="1508760"/>
            <a:ext cx="1691280" cy="712800"/>
          </a:xfrm>
          <a:prstGeom prst="roundRect">
            <a:avLst>
              <a:gd name="adj" fmla="val 16667"/>
            </a:avLst>
          </a:prstGeom>
          <a:solidFill>
            <a:srgbClr val="DEF3F1"/>
          </a:solidFill>
          <a:ln w="12700">
            <a:solidFill>
              <a:srgbClr val="DEF3F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3" name="TextBox 11"/>
          <p:cNvSpPr/>
          <p:nvPr/>
        </p:nvSpPr>
        <p:spPr>
          <a:xfrm>
            <a:off x="2688480" y="1527120"/>
            <a:ext cx="16182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300" b="1" u="none" strike="noStrike">
                <a:solidFill>
                  <a:srgbClr val="148989"/>
                </a:solidFill>
                <a:effectLst/>
                <a:uFillTx/>
                <a:latin typeface="Arial"/>
              </a:rPr>
              <a:t>Разделение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300" b="1" u="none" strike="noStrike">
                <a:solidFill>
                  <a:srgbClr val="148989"/>
                </a:solidFill>
                <a:effectLst/>
                <a:uFillTx/>
                <a:latin typeface="Arial"/>
              </a:rPr>
              <a:t>train / test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24" name="Connector 12"/>
          <p:cNvCxnSpPr/>
          <p:nvPr/>
        </p:nvCxnSpPr>
        <p:spPr>
          <a:xfrm>
            <a:off x="4389120" y="1865160"/>
            <a:ext cx="246960" cy="360"/>
          </a:xfrm>
          <a:prstGeom prst="straightConnector1">
            <a:avLst/>
          </a:prstGeom>
          <a:ln w="21590">
            <a:solidFill>
              <a:srgbClr val="148989"/>
            </a:solidFill>
            <a:round/>
          </a:ln>
        </p:spPr>
      </p:cxnSp>
      <p:sp>
        <p:nvSpPr>
          <p:cNvPr id="625" name="Rounded Rectangle 13"/>
          <p:cNvSpPr/>
          <p:nvPr/>
        </p:nvSpPr>
        <p:spPr>
          <a:xfrm>
            <a:off x="4709160" y="1508760"/>
            <a:ext cx="1691280" cy="712800"/>
          </a:xfrm>
          <a:prstGeom prst="roundRect">
            <a:avLst>
              <a:gd name="adj" fmla="val 16667"/>
            </a:avLst>
          </a:prstGeom>
          <a:solidFill>
            <a:srgbClr val="FCEFE1"/>
          </a:solidFill>
          <a:ln w="12700">
            <a:solidFill>
              <a:srgbClr val="FCEF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6" name="TextBox 14"/>
          <p:cNvSpPr/>
          <p:nvPr/>
        </p:nvSpPr>
        <p:spPr>
          <a:xfrm>
            <a:off x="4745880" y="1527120"/>
            <a:ext cx="16182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300" b="1" u="none" strike="noStrike">
                <a:solidFill>
                  <a:srgbClr val="E68B42"/>
                </a:solidFill>
                <a:effectLst/>
                <a:uFillTx/>
                <a:latin typeface="Arial"/>
              </a:rPr>
              <a:t>Pipeline: fit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300" b="1" u="none" strike="noStrike">
                <a:solidFill>
                  <a:srgbClr val="E68B42"/>
                </a:solidFill>
                <a:effectLst/>
                <a:uFillTx/>
                <a:latin typeface="Arial"/>
              </a:rPr>
              <a:t>на train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27" name="Connector 15"/>
          <p:cNvCxnSpPr/>
          <p:nvPr/>
        </p:nvCxnSpPr>
        <p:spPr>
          <a:xfrm>
            <a:off x="6446520" y="1865160"/>
            <a:ext cx="246960" cy="360"/>
          </a:xfrm>
          <a:prstGeom prst="straightConnector1">
            <a:avLst/>
          </a:prstGeom>
          <a:ln w="21590">
            <a:solidFill>
              <a:srgbClr val="148989"/>
            </a:solidFill>
            <a:round/>
          </a:ln>
        </p:spPr>
      </p:cxnSp>
      <p:sp>
        <p:nvSpPr>
          <p:cNvPr id="628" name="Rounded Rectangle 16"/>
          <p:cNvSpPr/>
          <p:nvPr/>
        </p:nvSpPr>
        <p:spPr>
          <a:xfrm>
            <a:off x="6766560" y="1508760"/>
            <a:ext cx="1691280" cy="712800"/>
          </a:xfrm>
          <a:prstGeom prst="roundRect">
            <a:avLst>
              <a:gd name="adj" fmla="val 16667"/>
            </a:avLst>
          </a:prstGeom>
          <a:solidFill>
            <a:srgbClr val="E3F3EB"/>
          </a:solidFill>
          <a:ln w="12700">
            <a:solidFill>
              <a:srgbClr val="E3F3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9" name="TextBox 17"/>
          <p:cNvSpPr/>
          <p:nvPr/>
        </p:nvSpPr>
        <p:spPr>
          <a:xfrm>
            <a:off x="6803280" y="1527120"/>
            <a:ext cx="16182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300" b="1" u="none" strike="noStrike">
                <a:solidFill>
                  <a:srgbClr val="398969"/>
                </a:solidFill>
                <a:effectLst/>
                <a:uFillTx/>
                <a:latin typeface="Arial"/>
              </a:rPr>
              <a:t>Оценка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300" b="1" u="none" strike="noStrike">
                <a:solidFill>
                  <a:srgbClr val="398969"/>
                </a:solidFill>
                <a:effectLst/>
                <a:uFillTx/>
                <a:latin typeface="Arial"/>
              </a:rPr>
              <a:t>на test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Rounded Rectangle 18"/>
          <p:cNvSpPr/>
          <p:nvPr/>
        </p:nvSpPr>
        <p:spPr>
          <a:xfrm>
            <a:off x="594360" y="2788920"/>
            <a:ext cx="379440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1" name="Rectangle 19"/>
          <p:cNvSpPr/>
          <p:nvPr/>
        </p:nvSpPr>
        <p:spPr>
          <a:xfrm>
            <a:off x="612720" y="2907720"/>
            <a:ext cx="50040" cy="1179360"/>
          </a:xfrm>
          <a:prstGeom prst="rect">
            <a:avLst/>
          </a:prstGeom>
          <a:solidFill>
            <a:srgbClr val="4678B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2" name="TextBox 20"/>
          <p:cNvSpPr/>
          <p:nvPr/>
        </p:nvSpPr>
        <p:spPr>
          <a:xfrm>
            <a:off x="749880" y="2889360"/>
            <a:ext cx="3538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Для SVM / линейных моделей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TextBox 21"/>
          <p:cNvSpPr/>
          <p:nvPr/>
        </p:nvSpPr>
        <p:spPr>
          <a:xfrm>
            <a:off x="749880" y="3237120"/>
            <a:ext cx="353844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5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StandardScaler часто важен. Среднее и стандартное отклонение оцениваются только по обучающей части.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Rounded Rectangle 22"/>
          <p:cNvSpPr/>
          <p:nvPr/>
        </p:nvSpPr>
        <p:spPr>
          <a:xfrm>
            <a:off x="4617720" y="2788920"/>
            <a:ext cx="379440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5" name="Rectangle 23"/>
          <p:cNvSpPr/>
          <p:nvPr/>
        </p:nvSpPr>
        <p:spPr>
          <a:xfrm>
            <a:off x="4636080" y="2907720"/>
            <a:ext cx="50040" cy="1179360"/>
          </a:xfrm>
          <a:prstGeom prst="rect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6" name="TextBox 24"/>
          <p:cNvSpPr/>
          <p:nvPr/>
        </p:nvSpPr>
        <p:spPr>
          <a:xfrm>
            <a:off x="4773240" y="2889360"/>
            <a:ext cx="3538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Для деревьев и лесов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TextBox 25"/>
          <p:cNvSpPr/>
          <p:nvPr/>
        </p:nvSpPr>
        <p:spPr>
          <a:xfrm>
            <a:off x="4773240" y="3237120"/>
            <a:ext cx="353844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5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Масштабирование обычно не требуется, но обработка пропусков и категориальных переменных остаётся важной.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TextBox 26"/>
          <p:cNvSpPr/>
          <p:nvPr/>
        </p:nvSpPr>
        <p:spPr>
          <a:xfrm>
            <a:off x="777240" y="4663440"/>
            <a:ext cx="7543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500" b="1" u="none" strike="noStrike">
                <a:solidFill>
                  <a:srgbClr val="B44C4C"/>
                </a:solidFill>
                <a:effectLst/>
                <a:uFillTx/>
                <a:latin typeface="Arial"/>
              </a:rPr>
              <a:t>Pipeline гарантирует, что преобразования переобучаются внутри каждого фолда CV и не подсматривают в validation/test.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Rectangle 1"/>
          <p:cNvSpPr/>
          <p:nvPr/>
        </p:nvSpPr>
        <p:spPr>
          <a:xfrm>
            <a:off x="0" y="0"/>
            <a:ext cx="9143640" cy="82080"/>
          </a:xfrm>
          <a:prstGeom prst="rect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0" name="TextBox 2"/>
          <p:cNvSpPr/>
          <p:nvPr/>
        </p:nvSpPr>
        <p:spPr>
          <a:xfrm>
            <a:off x="438840" y="191880"/>
            <a:ext cx="81378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tIns="13680" rIns="13680" bIns="1368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1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Train / validation / test и утечка данных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Rectangle 3"/>
          <p:cNvSpPr/>
          <p:nvPr/>
        </p:nvSpPr>
        <p:spPr>
          <a:xfrm>
            <a:off x="448200" y="804600"/>
            <a:ext cx="658080" cy="4068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2" name="Rectangle 4"/>
          <p:cNvSpPr/>
          <p:nvPr/>
        </p:nvSpPr>
        <p:spPr>
          <a:xfrm>
            <a:off x="438840" y="6519600"/>
            <a:ext cx="8265960" cy="10440"/>
          </a:xfrm>
          <a:prstGeom prst="rect">
            <a:avLst/>
          </a:prstGeom>
          <a:solidFill>
            <a:srgbClr val="DDE4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3" name="TextBox 5"/>
          <p:cNvSpPr/>
          <p:nvPr/>
        </p:nvSpPr>
        <p:spPr>
          <a:xfrm>
            <a:off x="457200" y="6565320"/>
            <a:ext cx="59432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820" b="1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ЭКСПЕРИМЕНТ</a:t>
            </a:r>
            <a:endParaRPr lang="ru-RU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TextBox 6"/>
          <p:cNvSpPr/>
          <p:nvPr/>
        </p:nvSpPr>
        <p:spPr>
          <a:xfrm>
            <a:off x="8229600" y="6546960"/>
            <a:ext cx="41112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850" b="0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24</a:t>
            </a:r>
            <a:endParaRPr lang="ru-RU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Rounded Rectangle 8"/>
          <p:cNvSpPr/>
          <p:nvPr/>
        </p:nvSpPr>
        <p:spPr>
          <a:xfrm>
            <a:off x="640080" y="1261800"/>
            <a:ext cx="3748680" cy="1051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6" name="Rectangle 9"/>
          <p:cNvSpPr/>
          <p:nvPr/>
        </p:nvSpPr>
        <p:spPr>
          <a:xfrm>
            <a:off x="640080" y="1261800"/>
            <a:ext cx="3748680" cy="118440"/>
          </a:xfrm>
          <a:prstGeom prst="rect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7" name="TextBox 10"/>
          <p:cNvSpPr/>
          <p:nvPr/>
        </p:nvSpPr>
        <p:spPr>
          <a:xfrm>
            <a:off x="713160" y="1490400"/>
            <a:ext cx="3602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4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Train • 70%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TextBox 11"/>
          <p:cNvSpPr/>
          <p:nvPr/>
        </p:nvSpPr>
        <p:spPr>
          <a:xfrm>
            <a:off x="713160" y="1856160"/>
            <a:ext cx="36025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050" b="0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Обучение параметров модели</a:t>
            </a:r>
            <a:endParaRPr lang="ru-RU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Rounded Rectangle 12"/>
          <p:cNvSpPr/>
          <p:nvPr/>
        </p:nvSpPr>
        <p:spPr>
          <a:xfrm>
            <a:off x="4617720" y="1261800"/>
            <a:ext cx="1599840" cy="1051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0" name="Rectangle 13"/>
          <p:cNvSpPr/>
          <p:nvPr/>
        </p:nvSpPr>
        <p:spPr>
          <a:xfrm>
            <a:off x="4617720" y="1261800"/>
            <a:ext cx="1599840" cy="118440"/>
          </a:xfrm>
          <a:prstGeom prst="rect">
            <a:avLst/>
          </a:prstGeom>
          <a:solidFill>
            <a:srgbClr val="4678B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1" name="TextBox 14"/>
          <p:cNvSpPr/>
          <p:nvPr/>
        </p:nvSpPr>
        <p:spPr>
          <a:xfrm>
            <a:off x="4690800" y="1490400"/>
            <a:ext cx="1453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4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Valid • 15%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TextBox 15"/>
          <p:cNvSpPr/>
          <p:nvPr/>
        </p:nvSpPr>
        <p:spPr>
          <a:xfrm>
            <a:off x="4690800" y="1856160"/>
            <a:ext cx="14536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050" b="0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Выбор модели</a:t>
            </a:r>
            <a:endParaRPr lang="ru-RU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Rounded Rectangle 16"/>
          <p:cNvSpPr/>
          <p:nvPr/>
        </p:nvSpPr>
        <p:spPr>
          <a:xfrm>
            <a:off x="6400800" y="1261800"/>
            <a:ext cx="1828440" cy="1051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4" name="Rectangle 17"/>
          <p:cNvSpPr/>
          <p:nvPr/>
        </p:nvSpPr>
        <p:spPr>
          <a:xfrm>
            <a:off x="6400800" y="1261800"/>
            <a:ext cx="1828440" cy="11844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5" name="TextBox 18"/>
          <p:cNvSpPr/>
          <p:nvPr/>
        </p:nvSpPr>
        <p:spPr>
          <a:xfrm>
            <a:off x="6473880" y="1490400"/>
            <a:ext cx="1682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4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Test • 15%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TextBox 19"/>
          <p:cNvSpPr/>
          <p:nvPr/>
        </p:nvSpPr>
        <p:spPr>
          <a:xfrm>
            <a:off x="6473880" y="1856160"/>
            <a:ext cx="16822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050" b="0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Финальная оценка</a:t>
            </a:r>
            <a:endParaRPr lang="ru-RU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Rounded Rectangle 20"/>
          <p:cNvSpPr/>
          <p:nvPr/>
        </p:nvSpPr>
        <p:spPr>
          <a:xfrm>
            <a:off x="640080" y="2697480"/>
            <a:ext cx="365724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8" name="Rectangle 21"/>
          <p:cNvSpPr/>
          <p:nvPr/>
        </p:nvSpPr>
        <p:spPr>
          <a:xfrm>
            <a:off x="658440" y="2816280"/>
            <a:ext cx="50040" cy="1179360"/>
          </a:xfrm>
          <a:prstGeom prst="rect">
            <a:avLst/>
          </a:prstGeom>
          <a:solidFill>
            <a:srgbClr val="B44C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9" name="TextBox 22"/>
          <p:cNvSpPr/>
          <p:nvPr/>
        </p:nvSpPr>
        <p:spPr>
          <a:xfrm>
            <a:off x="795600" y="2797920"/>
            <a:ext cx="34012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Примеры утечки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TextBox 23"/>
          <p:cNvSpPr/>
          <p:nvPr/>
        </p:nvSpPr>
        <p:spPr>
          <a:xfrm>
            <a:off x="795600" y="3145680"/>
            <a:ext cx="340128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1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Нормализация на всех данных; подбор признаков с использованием test; дубликаты одного пациента в разных частях.</a:t>
            </a:r>
            <a:endParaRPr lang="ru-RU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Rounded Rectangle 24"/>
          <p:cNvSpPr/>
          <p:nvPr/>
        </p:nvSpPr>
        <p:spPr>
          <a:xfrm>
            <a:off x="4617720" y="2697480"/>
            <a:ext cx="365724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2" name="Rectangle 25"/>
          <p:cNvSpPr/>
          <p:nvPr/>
        </p:nvSpPr>
        <p:spPr>
          <a:xfrm>
            <a:off x="4636080" y="2816280"/>
            <a:ext cx="50040" cy="1179360"/>
          </a:xfrm>
          <a:prstGeom prst="rect">
            <a:avLst/>
          </a:prstGeom>
          <a:solidFill>
            <a:srgbClr val="3989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3" name="TextBox 26"/>
          <p:cNvSpPr/>
          <p:nvPr/>
        </p:nvSpPr>
        <p:spPr>
          <a:xfrm>
            <a:off x="4773240" y="2797920"/>
            <a:ext cx="34012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Правильный протокол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TextBox 27"/>
          <p:cNvSpPr/>
          <p:nvPr/>
        </p:nvSpPr>
        <p:spPr>
          <a:xfrm>
            <a:off x="4773240" y="3145680"/>
            <a:ext cx="3401280" cy="5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1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Сначала split; preprocessing fit только на train; гиперпараметры - по CV/validation; test открывается в конце.</a:t>
            </a:r>
            <a:endParaRPr lang="ru-RU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TextBox 28"/>
          <p:cNvSpPr/>
          <p:nvPr/>
        </p:nvSpPr>
        <p:spPr>
          <a:xfrm>
            <a:off x="777240" y="4559040"/>
            <a:ext cx="74977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ctr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4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Особый случай: если объекты зависимы (пациенты, видео, серии снимков, устройства), разделяйте по группам; для временных данных - с учётом времени.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Rectangle 1"/>
          <p:cNvSpPr/>
          <p:nvPr/>
        </p:nvSpPr>
        <p:spPr>
          <a:xfrm>
            <a:off x="0" y="0"/>
            <a:ext cx="9143640" cy="82080"/>
          </a:xfrm>
          <a:prstGeom prst="rect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7" name="TextBox 2"/>
          <p:cNvSpPr/>
          <p:nvPr/>
        </p:nvSpPr>
        <p:spPr>
          <a:xfrm>
            <a:off x="438840" y="191880"/>
            <a:ext cx="81378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tIns="13680" rIns="13680" bIns="1368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5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Кросс-валидация: оценка устойчивости</a:t>
            </a:r>
            <a:endParaRPr lang="ru-RU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Rectangle 3"/>
          <p:cNvSpPr/>
          <p:nvPr/>
        </p:nvSpPr>
        <p:spPr>
          <a:xfrm>
            <a:off x="448200" y="804600"/>
            <a:ext cx="658080" cy="4068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9" name="Rectangle 4"/>
          <p:cNvSpPr/>
          <p:nvPr/>
        </p:nvSpPr>
        <p:spPr>
          <a:xfrm>
            <a:off x="438840" y="6519600"/>
            <a:ext cx="8265960" cy="10440"/>
          </a:xfrm>
          <a:prstGeom prst="rect">
            <a:avLst/>
          </a:prstGeom>
          <a:solidFill>
            <a:srgbClr val="DDE4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0" name="TextBox 5"/>
          <p:cNvSpPr/>
          <p:nvPr/>
        </p:nvSpPr>
        <p:spPr>
          <a:xfrm>
            <a:off x="457200" y="6565320"/>
            <a:ext cx="59432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820" b="1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ЭКСПЕРИМЕНТ</a:t>
            </a:r>
            <a:endParaRPr lang="ru-RU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TextBox 6"/>
          <p:cNvSpPr/>
          <p:nvPr/>
        </p:nvSpPr>
        <p:spPr>
          <a:xfrm>
            <a:off x="8229600" y="6546960"/>
            <a:ext cx="41112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850" b="0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25</a:t>
            </a:r>
            <a:endParaRPr lang="ru-RU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TextBox 8"/>
          <p:cNvSpPr/>
          <p:nvPr/>
        </p:nvSpPr>
        <p:spPr>
          <a:xfrm>
            <a:off x="640080" y="1124640"/>
            <a:ext cx="7863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0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В k-fold CV выборка делится на k фолдов: каждая часть один раз становится validation.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Rounded Rectangle 9"/>
          <p:cNvSpPr/>
          <p:nvPr/>
        </p:nvSpPr>
        <p:spPr>
          <a:xfrm>
            <a:off x="914400" y="1783080"/>
            <a:ext cx="941400" cy="310680"/>
          </a:xfrm>
          <a:prstGeom prst="roundRect">
            <a:avLst>
              <a:gd name="adj" fmla="val 16667"/>
            </a:avLst>
          </a:prstGeom>
          <a:solidFill>
            <a:srgbClr val="4678B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4" name="TextBox 10"/>
          <p:cNvSpPr/>
          <p:nvPr/>
        </p:nvSpPr>
        <p:spPr>
          <a:xfrm>
            <a:off x="914400" y="1824120"/>
            <a:ext cx="941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valid</a:t>
            </a:r>
            <a:endParaRPr lang="ru-RU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Rounded Rectangle 11"/>
          <p:cNvSpPr/>
          <p:nvPr/>
        </p:nvSpPr>
        <p:spPr>
          <a:xfrm>
            <a:off x="1965960" y="1783080"/>
            <a:ext cx="941400" cy="310680"/>
          </a:xfrm>
          <a:prstGeom prst="roundRect">
            <a:avLst>
              <a:gd name="adj" fmla="val 16667"/>
            </a:avLst>
          </a:prstGeom>
          <a:solidFill>
            <a:srgbClr val="EC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6" name="TextBox 12"/>
          <p:cNvSpPr/>
          <p:nvPr/>
        </p:nvSpPr>
        <p:spPr>
          <a:xfrm>
            <a:off x="1965960" y="1824120"/>
            <a:ext cx="941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950" b="1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train</a:t>
            </a:r>
            <a:endParaRPr lang="ru-RU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Rounded Rectangle 13"/>
          <p:cNvSpPr/>
          <p:nvPr/>
        </p:nvSpPr>
        <p:spPr>
          <a:xfrm>
            <a:off x="3017520" y="1783080"/>
            <a:ext cx="941400" cy="310680"/>
          </a:xfrm>
          <a:prstGeom prst="roundRect">
            <a:avLst>
              <a:gd name="adj" fmla="val 16667"/>
            </a:avLst>
          </a:prstGeom>
          <a:solidFill>
            <a:srgbClr val="EC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8" name="TextBox 14"/>
          <p:cNvSpPr/>
          <p:nvPr/>
        </p:nvSpPr>
        <p:spPr>
          <a:xfrm>
            <a:off x="3017520" y="1824120"/>
            <a:ext cx="941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950" b="1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train</a:t>
            </a:r>
            <a:endParaRPr lang="ru-RU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Rounded Rectangle 15"/>
          <p:cNvSpPr/>
          <p:nvPr/>
        </p:nvSpPr>
        <p:spPr>
          <a:xfrm>
            <a:off x="4069080" y="1783080"/>
            <a:ext cx="941400" cy="310680"/>
          </a:xfrm>
          <a:prstGeom prst="roundRect">
            <a:avLst>
              <a:gd name="adj" fmla="val 16667"/>
            </a:avLst>
          </a:prstGeom>
          <a:solidFill>
            <a:srgbClr val="EC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0" name="TextBox 16"/>
          <p:cNvSpPr/>
          <p:nvPr/>
        </p:nvSpPr>
        <p:spPr>
          <a:xfrm>
            <a:off x="4069080" y="1824120"/>
            <a:ext cx="941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950" b="1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train</a:t>
            </a:r>
            <a:endParaRPr lang="ru-RU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Rounded Rectangle 17"/>
          <p:cNvSpPr/>
          <p:nvPr/>
        </p:nvSpPr>
        <p:spPr>
          <a:xfrm>
            <a:off x="5120640" y="1783080"/>
            <a:ext cx="941400" cy="310680"/>
          </a:xfrm>
          <a:prstGeom prst="roundRect">
            <a:avLst>
              <a:gd name="adj" fmla="val 16667"/>
            </a:avLst>
          </a:prstGeom>
          <a:solidFill>
            <a:srgbClr val="EC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2" name="TextBox 18"/>
          <p:cNvSpPr/>
          <p:nvPr/>
        </p:nvSpPr>
        <p:spPr>
          <a:xfrm>
            <a:off x="5120640" y="1824120"/>
            <a:ext cx="941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950" b="1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train</a:t>
            </a:r>
            <a:endParaRPr lang="ru-RU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Rounded Rectangle 19"/>
          <p:cNvSpPr/>
          <p:nvPr/>
        </p:nvSpPr>
        <p:spPr>
          <a:xfrm>
            <a:off x="914400" y="2221920"/>
            <a:ext cx="941400" cy="310680"/>
          </a:xfrm>
          <a:prstGeom prst="roundRect">
            <a:avLst>
              <a:gd name="adj" fmla="val 16667"/>
            </a:avLst>
          </a:prstGeom>
          <a:solidFill>
            <a:srgbClr val="EC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4" name="TextBox 20"/>
          <p:cNvSpPr/>
          <p:nvPr/>
        </p:nvSpPr>
        <p:spPr>
          <a:xfrm>
            <a:off x="914400" y="2262960"/>
            <a:ext cx="941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950" b="1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train</a:t>
            </a:r>
            <a:endParaRPr lang="ru-RU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Rounded Rectangle 21"/>
          <p:cNvSpPr/>
          <p:nvPr/>
        </p:nvSpPr>
        <p:spPr>
          <a:xfrm>
            <a:off x="1965960" y="2221920"/>
            <a:ext cx="941400" cy="310680"/>
          </a:xfrm>
          <a:prstGeom prst="roundRect">
            <a:avLst>
              <a:gd name="adj" fmla="val 16667"/>
            </a:avLst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6" name="TextBox 22"/>
          <p:cNvSpPr/>
          <p:nvPr/>
        </p:nvSpPr>
        <p:spPr>
          <a:xfrm>
            <a:off x="1965960" y="2262960"/>
            <a:ext cx="941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valid</a:t>
            </a:r>
            <a:endParaRPr lang="ru-RU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Rounded Rectangle 23"/>
          <p:cNvSpPr/>
          <p:nvPr/>
        </p:nvSpPr>
        <p:spPr>
          <a:xfrm>
            <a:off x="3017520" y="2221920"/>
            <a:ext cx="941400" cy="310680"/>
          </a:xfrm>
          <a:prstGeom prst="roundRect">
            <a:avLst>
              <a:gd name="adj" fmla="val 16667"/>
            </a:avLst>
          </a:prstGeom>
          <a:solidFill>
            <a:srgbClr val="EC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8" name="TextBox 24"/>
          <p:cNvSpPr/>
          <p:nvPr/>
        </p:nvSpPr>
        <p:spPr>
          <a:xfrm>
            <a:off x="3017520" y="2262960"/>
            <a:ext cx="941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950" b="1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train</a:t>
            </a:r>
            <a:endParaRPr lang="ru-RU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Rounded Rectangle 25"/>
          <p:cNvSpPr/>
          <p:nvPr/>
        </p:nvSpPr>
        <p:spPr>
          <a:xfrm>
            <a:off x="4069080" y="2221920"/>
            <a:ext cx="941400" cy="310680"/>
          </a:xfrm>
          <a:prstGeom prst="roundRect">
            <a:avLst>
              <a:gd name="adj" fmla="val 16667"/>
            </a:avLst>
          </a:prstGeom>
          <a:solidFill>
            <a:srgbClr val="EC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0" name="TextBox 26"/>
          <p:cNvSpPr/>
          <p:nvPr/>
        </p:nvSpPr>
        <p:spPr>
          <a:xfrm>
            <a:off x="4069080" y="2262960"/>
            <a:ext cx="941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950" b="1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train</a:t>
            </a:r>
            <a:endParaRPr lang="ru-RU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Rounded Rectangle 27"/>
          <p:cNvSpPr/>
          <p:nvPr/>
        </p:nvSpPr>
        <p:spPr>
          <a:xfrm>
            <a:off x="5120640" y="2221920"/>
            <a:ext cx="941400" cy="310680"/>
          </a:xfrm>
          <a:prstGeom prst="roundRect">
            <a:avLst>
              <a:gd name="adj" fmla="val 16667"/>
            </a:avLst>
          </a:prstGeom>
          <a:solidFill>
            <a:srgbClr val="EC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2" name="TextBox 28"/>
          <p:cNvSpPr/>
          <p:nvPr/>
        </p:nvSpPr>
        <p:spPr>
          <a:xfrm>
            <a:off x="5120640" y="2262960"/>
            <a:ext cx="941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950" b="1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train</a:t>
            </a:r>
            <a:endParaRPr lang="ru-RU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Rounded Rectangle 29"/>
          <p:cNvSpPr/>
          <p:nvPr/>
        </p:nvSpPr>
        <p:spPr>
          <a:xfrm>
            <a:off x="914400" y="2660760"/>
            <a:ext cx="941400" cy="310680"/>
          </a:xfrm>
          <a:prstGeom prst="roundRect">
            <a:avLst>
              <a:gd name="adj" fmla="val 16667"/>
            </a:avLst>
          </a:prstGeom>
          <a:solidFill>
            <a:srgbClr val="EC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4" name="TextBox 30"/>
          <p:cNvSpPr/>
          <p:nvPr/>
        </p:nvSpPr>
        <p:spPr>
          <a:xfrm>
            <a:off x="914400" y="2702160"/>
            <a:ext cx="941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950" b="1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train</a:t>
            </a:r>
            <a:endParaRPr lang="ru-RU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Rounded Rectangle 31"/>
          <p:cNvSpPr/>
          <p:nvPr/>
        </p:nvSpPr>
        <p:spPr>
          <a:xfrm>
            <a:off x="1965960" y="2660760"/>
            <a:ext cx="941400" cy="310680"/>
          </a:xfrm>
          <a:prstGeom prst="roundRect">
            <a:avLst>
              <a:gd name="adj" fmla="val 16667"/>
            </a:avLst>
          </a:prstGeom>
          <a:solidFill>
            <a:srgbClr val="EC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6" name="TextBox 32"/>
          <p:cNvSpPr/>
          <p:nvPr/>
        </p:nvSpPr>
        <p:spPr>
          <a:xfrm>
            <a:off x="1965960" y="2702160"/>
            <a:ext cx="941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950" b="1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train</a:t>
            </a:r>
            <a:endParaRPr lang="ru-RU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Rounded Rectangle 33"/>
          <p:cNvSpPr/>
          <p:nvPr/>
        </p:nvSpPr>
        <p:spPr>
          <a:xfrm>
            <a:off x="3017520" y="2660760"/>
            <a:ext cx="941400" cy="310680"/>
          </a:xfrm>
          <a:prstGeom prst="roundRect">
            <a:avLst>
              <a:gd name="adj" fmla="val 16667"/>
            </a:avLst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8" name="TextBox 34"/>
          <p:cNvSpPr/>
          <p:nvPr/>
        </p:nvSpPr>
        <p:spPr>
          <a:xfrm>
            <a:off x="3017520" y="2702160"/>
            <a:ext cx="941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valid</a:t>
            </a:r>
            <a:endParaRPr lang="ru-RU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Rounded Rectangle 35"/>
          <p:cNvSpPr/>
          <p:nvPr/>
        </p:nvSpPr>
        <p:spPr>
          <a:xfrm>
            <a:off x="4069080" y="2660760"/>
            <a:ext cx="941400" cy="310680"/>
          </a:xfrm>
          <a:prstGeom prst="roundRect">
            <a:avLst>
              <a:gd name="adj" fmla="val 16667"/>
            </a:avLst>
          </a:prstGeom>
          <a:solidFill>
            <a:srgbClr val="EC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0" name="TextBox 36"/>
          <p:cNvSpPr/>
          <p:nvPr/>
        </p:nvSpPr>
        <p:spPr>
          <a:xfrm>
            <a:off x="4069080" y="2702160"/>
            <a:ext cx="941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950" b="1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train</a:t>
            </a:r>
            <a:endParaRPr lang="ru-RU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Rounded Rectangle 37"/>
          <p:cNvSpPr/>
          <p:nvPr/>
        </p:nvSpPr>
        <p:spPr>
          <a:xfrm>
            <a:off x="5120640" y="2660760"/>
            <a:ext cx="941400" cy="310680"/>
          </a:xfrm>
          <a:prstGeom prst="roundRect">
            <a:avLst>
              <a:gd name="adj" fmla="val 16667"/>
            </a:avLst>
          </a:prstGeom>
          <a:solidFill>
            <a:srgbClr val="EC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2" name="TextBox 38"/>
          <p:cNvSpPr/>
          <p:nvPr/>
        </p:nvSpPr>
        <p:spPr>
          <a:xfrm>
            <a:off x="5120640" y="2702160"/>
            <a:ext cx="941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950" b="1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train</a:t>
            </a:r>
            <a:endParaRPr lang="ru-RU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Rounded Rectangle 39"/>
          <p:cNvSpPr/>
          <p:nvPr/>
        </p:nvSpPr>
        <p:spPr>
          <a:xfrm>
            <a:off x="914400" y="3099960"/>
            <a:ext cx="941400" cy="310680"/>
          </a:xfrm>
          <a:prstGeom prst="roundRect">
            <a:avLst>
              <a:gd name="adj" fmla="val 16667"/>
            </a:avLst>
          </a:prstGeom>
          <a:solidFill>
            <a:srgbClr val="EC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4" name="TextBox 40"/>
          <p:cNvSpPr/>
          <p:nvPr/>
        </p:nvSpPr>
        <p:spPr>
          <a:xfrm>
            <a:off x="914400" y="3141000"/>
            <a:ext cx="941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950" b="1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train</a:t>
            </a:r>
            <a:endParaRPr lang="ru-RU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Rounded Rectangle 41"/>
          <p:cNvSpPr/>
          <p:nvPr/>
        </p:nvSpPr>
        <p:spPr>
          <a:xfrm>
            <a:off x="1965960" y="3099960"/>
            <a:ext cx="941400" cy="310680"/>
          </a:xfrm>
          <a:prstGeom prst="roundRect">
            <a:avLst>
              <a:gd name="adj" fmla="val 16667"/>
            </a:avLst>
          </a:prstGeom>
          <a:solidFill>
            <a:srgbClr val="EC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6" name="TextBox 42"/>
          <p:cNvSpPr/>
          <p:nvPr/>
        </p:nvSpPr>
        <p:spPr>
          <a:xfrm>
            <a:off x="1965960" y="3141000"/>
            <a:ext cx="941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950" b="1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train</a:t>
            </a:r>
            <a:endParaRPr lang="ru-RU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Rounded Rectangle 43"/>
          <p:cNvSpPr/>
          <p:nvPr/>
        </p:nvSpPr>
        <p:spPr>
          <a:xfrm>
            <a:off x="3017520" y="3099960"/>
            <a:ext cx="941400" cy="310680"/>
          </a:xfrm>
          <a:prstGeom prst="roundRect">
            <a:avLst>
              <a:gd name="adj" fmla="val 16667"/>
            </a:avLst>
          </a:prstGeom>
          <a:solidFill>
            <a:srgbClr val="EC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8" name="TextBox 44"/>
          <p:cNvSpPr/>
          <p:nvPr/>
        </p:nvSpPr>
        <p:spPr>
          <a:xfrm>
            <a:off x="3017520" y="3141000"/>
            <a:ext cx="941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950" b="1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train</a:t>
            </a:r>
            <a:endParaRPr lang="ru-RU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Rounded Rectangle 45"/>
          <p:cNvSpPr/>
          <p:nvPr/>
        </p:nvSpPr>
        <p:spPr>
          <a:xfrm>
            <a:off x="4069080" y="3099960"/>
            <a:ext cx="941400" cy="310680"/>
          </a:xfrm>
          <a:prstGeom prst="roundRect">
            <a:avLst>
              <a:gd name="adj" fmla="val 16667"/>
            </a:avLst>
          </a:prstGeom>
          <a:solidFill>
            <a:srgbClr val="3989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0" name="TextBox 46"/>
          <p:cNvSpPr/>
          <p:nvPr/>
        </p:nvSpPr>
        <p:spPr>
          <a:xfrm>
            <a:off x="4069080" y="3141000"/>
            <a:ext cx="941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valid</a:t>
            </a:r>
            <a:endParaRPr lang="ru-RU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Rounded Rectangle 47"/>
          <p:cNvSpPr/>
          <p:nvPr/>
        </p:nvSpPr>
        <p:spPr>
          <a:xfrm>
            <a:off x="5120640" y="3099960"/>
            <a:ext cx="941400" cy="310680"/>
          </a:xfrm>
          <a:prstGeom prst="roundRect">
            <a:avLst>
              <a:gd name="adj" fmla="val 16667"/>
            </a:avLst>
          </a:prstGeom>
          <a:solidFill>
            <a:srgbClr val="EC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2" name="TextBox 48"/>
          <p:cNvSpPr/>
          <p:nvPr/>
        </p:nvSpPr>
        <p:spPr>
          <a:xfrm>
            <a:off x="5120640" y="3141000"/>
            <a:ext cx="941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950" b="1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train</a:t>
            </a:r>
            <a:endParaRPr lang="ru-RU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Rounded Rectangle 49"/>
          <p:cNvSpPr/>
          <p:nvPr/>
        </p:nvSpPr>
        <p:spPr>
          <a:xfrm>
            <a:off x="914400" y="3538800"/>
            <a:ext cx="941400" cy="310680"/>
          </a:xfrm>
          <a:prstGeom prst="roundRect">
            <a:avLst>
              <a:gd name="adj" fmla="val 16667"/>
            </a:avLst>
          </a:prstGeom>
          <a:solidFill>
            <a:srgbClr val="EC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4" name="TextBox 50"/>
          <p:cNvSpPr/>
          <p:nvPr/>
        </p:nvSpPr>
        <p:spPr>
          <a:xfrm>
            <a:off x="914400" y="3579840"/>
            <a:ext cx="941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950" b="1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train</a:t>
            </a:r>
            <a:endParaRPr lang="ru-RU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Rounded Rectangle 51"/>
          <p:cNvSpPr/>
          <p:nvPr/>
        </p:nvSpPr>
        <p:spPr>
          <a:xfrm>
            <a:off x="1965960" y="3538800"/>
            <a:ext cx="941400" cy="310680"/>
          </a:xfrm>
          <a:prstGeom prst="roundRect">
            <a:avLst>
              <a:gd name="adj" fmla="val 16667"/>
            </a:avLst>
          </a:prstGeom>
          <a:solidFill>
            <a:srgbClr val="EC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6" name="TextBox 52"/>
          <p:cNvSpPr/>
          <p:nvPr/>
        </p:nvSpPr>
        <p:spPr>
          <a:xfrm>
            <a:off x="1965960" y="3579840"/>
            <a:ext cx="941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950" b="1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train</a:t>
            </a:r>
            <a:endParaRPr lang="ru-RU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Rounded Rectangle 53"/>
          <p:cNvSpPr/>
          <p:nvPr/>
        </p:nvSpPr>
        <p:spPr>
          <a:xfrm>
            <a:off x="3017520" y="3538800"/>
            <a:ext cx="941400" cy="310680"/>
          </a:xfrm>
          <a:prstGeom prst="roundRect">
            <a:avLst>
              <a:gd name="adj" fmla="val 16667"/>
            </a:avLst>
          </a:prstGeom>
          <a:solidFill>
            <a:srgbClr val="EC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8" name="TextBox 54"/>
          <p:cNvSpPr/>
          <p:nvPr/>
        </p:nvSpPr>
        <p:spPr>
          <a:xfrm>
            <a:off x="3017520" y="3579840"/>
            <a:ext cx="941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950" b="1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train</a:t>
            </a:r>
            <a:endParaRPr lang="ru-RU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9" name="Rounded Rectangle 55"/>
          <p:cNvSpPr/>
          <p:nvPr/>
        </p:nvSpPr>
        <p:spPr>
          <a:xfrm>
            <a:off x="4069080" y="3538800"/>
            <a:ext cx="941400" cy="310680"/>
          </a:xfrm>
          <a:prstGeom prst="roundRect">
            <a:avLst>
              <a:gd name="adj" fmla="val 16667"/>
            </a:avLst>
          </a:prstGeom>
          <a:solidFill>
            <a:srgbClr val="EC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0" name="TextBox 56"/>
          <p:cNvSpPr/>
          <p:nvPr/>
        </p:nvSpPr>
        <p:spPr>
          <a:xfrm>
            <a:off x="4069080" y="3579840"/>
            <a:ext cx="941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950" b="1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train</a:t>
            </a:r>
            <a:endParaRPr lang="ru-RU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Rounded Rectangle 57"/>
          <p:cNvSpPr/>
          <p:nvPr/>
        </p:nvSpPr>
        <p:spPr>
          <a:xfrm>
            <a:off x="5120640" y="3538800"/>
            <a:ext cx="941400" cy="310680"/>
          </a:xfrm>
          <a:prstGeom prst="roundRect">
            <a:avLst>
              <a:gd name="adj" fmla="val 16667"/>
            </a:avLst>
          </a:prstGeom>
          <a:solidFill>
            <a:srgbClr val="B44C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2" name="TextBox 58"/>
          <p:cNvSpPr/>
          <p:nvPr/>
        </p:nvSpPr>
        <p:spPr>
          <a:xfrm>
            <a:off x="5120640" y="3579840"/>
            <a:ext cx="941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valid</a:t>
            </a:r>
            <a:endParaRPr lang="ru-RU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3" name="Rounded Rectangle 59"/>
          <p:cNvSpPr/>
          <p:nvPr/>
        </p:nvSpPr>
        <p:spPr>
          <a:xfrm>
            <a:off x="685800" y="4251960"/>
            <a:ext cx="3611520" cy="1142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4" name="Rectangle 60"/>
          <p:cNvSpPr/>
          <p:nvPr/>
        </p:nvSpPr>
        <p:spPr>
          <a:xfrm>
            <a:off x="704160" y="4370760"/>
            <a:ext cx="50040" cy="905040"/>
          </a:xfrm>
          <a:prstGeom prst="rect">
            <a:avLst/>
          </a:prstGeom>
          <a:solidFill>
            <a:srgbClr val="4678B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5" name="TextBox 61"/>
          <p:cNvSpPr/>
          <p:nvPr/>
        </p:nvSpPr>
        <p:spPr>
          <a:xfrm>
            <a:off x="841320" y="4352400"/>
            <a:ext cx="3355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StratifiedKFold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6" name="TextBox 62"/>
          <p:cNvSpPr/>
          <p:nvPr/>
        </p:nvSpPr>
        <p:spPr>
          <a:xfrm>
            <a:off x="841320" y="4700160"/>
            <a:ext cx="33555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3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Для классификации стремится сохранить доли классов в фолдах.</a:t>
            </a:r>
            <a:endParaRPr lang="ru-RU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7" name="Rounded Rectangle 63"/>
          <p:cNvSpPr/>
          <p:nvPr/>
        </p:nvSpPr>
        <p:spPr>
          <a:xfrm>
            <a:off x="4572000" y="4251960"/>
            <a:ext cx="3611520" cy="1142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8" name="Rectangle 64"/>
          <p:cNvSpPr/>
          <p:nvPr/>
        </p:nvSpPr>
        <p:spPr>
          <a:xfrm>
            <a:off x="4590360" y="4370760"/>
            <a:ext cx="50040" cy="90504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9" name="TextBox 65"/>
          <p:cNvSpPr/>
          <p:nvPr/>
        </p:nvSpPr>
        <p:spPr>
          <a:xfrm>
            <a:off x="4727520" y="4352400"/>
            <a:ext cx="3355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Нужно помнить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TextBox 66"/>
          <p:cNvSpPr/>
          <p:nvPr/>
        </p:nvSpPr>
        <p:spPr>
          <a:xfrm>
            <a:off x="4727520" y="4700160"/>
            <a:ext cx="33555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4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Стратификация полезна для редких классов, но не устраняет зависимость объектов и sampling bias.</a:t>
            </a:r>
            <a:endParaRPr lang="ru-RU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TextBox 67"/>
          <p:cNvSpPr/>
          <p:nvPr/>
        </p:nvSpPr>
        <p:spPr>
          <a:xfrm>
            <a:off x="777240" y="5577840"/>
            <a:ext cx="7497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3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Отчёт по CV: среднее значение метрики + разброс между фолдами, а не только лучший результат.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2" name=""/>
          <p:cNvPicPr/>
          <p:nvPr/>
        </p:nvPicPr>
        <p:blipFill>
          <a:blip r:embed="rId1"/>
          <a:stretch/>
        </p:blipFill>
        <p:spPr>
          <a:xfrm>
            <a:off x="4147920" y="3402000"/>
            <a:ext cx="914040" cy="88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3" name=""/>
          <p:cNvPicPr/>
          <p:nvPr/>
        </p:nvPicPr>
        <p:blipFill>
          <a:blip r:embed="rId2"/>
          <a:stretch/>
        </p:blipFill>
        <p:spPr>
          <a:xfrm>
            <a:off x="900000" y="6081120"/>
            <a:ext cx="4116960" cy="39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4" name=""/>
          <p:cNvSpPr txBox="1"/>
          <p:nvPr/>
        </p:nvSpPr>
        <p:spPr>
          <a:xfrm>
            <a:off x="5328000" y="5846760"/>
            <a:ext cx="3348000" cy="657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ru-RU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Главная  задача - честно оценить, насколько хорошо модель будет работать на новых, незнакомых данных, защищая от случайных совпадений при обычном разделении train_test_split 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Rectangle 1"/>
          <p:cNvSpPr/>
          <p:nvPr/>
        </p:nvSpPr>
        <p:spPr>
          <a:xfrm>
            <a:off x="0" y="0"/>
            <a:ext cx="9143640" cy="82080"/>
          </a:xfrm>
          <a:prstGeom prst="rect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6" name="TextBox 2"/>
          <p:cNvSpPr/>
          <p:nvPr/>
        </p:nvSpPr>
        <p:spPr>
          <a:xfrm>
            <a:off x="438840" y="191880"/>
            <a:ext cx="813780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tIns="13680" rIns="13680" bIns="1368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1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Матрица ошибок: какие классы путаются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7" name="Rectangle 3"/>
          <p:cNvSpPr/>
          <p:nvPr/>
        </p:nvSpPr>
        <p:spPr>
          <a:xfrm>
            <a:off x="448200" y="804600"/>
            <a:ext cx="658080" cy="4068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8" name="Rectangle 4"/>
          <p:cNvSpPr/>
          <p:nvPr/>
        </p:nvSpPr>
        <p:spPr>
          <a:xfrm>
            <a:off x="438840" y="6519600"/>
            <a:ext cx="8265960" cy="10440"/>
          </a:xfrm>
          <a:prstGeom prst="rect">
            <a:avLst/>
          </a:prstGeom>
          <a:solidFill>
            <a:srgbClr val="DDE4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9" name="TextBox 5"/>
          <p:cNvSpPr/>
          <p:nvPr/>
        </p:nvSpPr>
        <p:spPr>
          <a:xfrm>
            <a:off x="457200" y="6565320"/>
            <a:ext cx="59432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820" b="1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МЕТРИКИ</a:t>
            </a:r>
            <a:endParaRPr lang="ru-RU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TextBox 6"/>
          <p:cNvSpPr/>
          <p:nvPr/>
        </p:nvSpPr>
        <p:spPr>
          <a:xfrm>
            <a:off x="8229600" y="6546960"/>
            <a:ext cx="41112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850" b="0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26</a:t>
            </a:r>
            <a:endParaRPr lang="ru-RU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1" name="TextBox 8"/>
          <p:cNvSpPr/>
          <p:nvPr/>
        </p:nvSpPr>
        <p:spPr>
          <a:xfrm>
            <a:off x="658440" y="1143000"/>
            <a:ext cx="4114440" cy="23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00" b="0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пример: 150 объектов, 3 класса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TextBox 9"/>
          <p:cNvSpPr/>
          <p:nvPr/>
        </p:nvSpPr>
        <p:spPr>
          <a:xfrm>
            <a:off x="1417320" y="1572840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A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3" name="TextBox 10"/>
          <p:cNvSpPr/>
          <p:nvPr/>
        </p:nvSpPr>
        <p:spPr>
          <a:xfrm>
            <a:off x="2331720" y="1572840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B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TextBox 11"/>
          <p:cNvSpPr/>
          <p:nvPr/>
        </p:nvSpPr>
        <p:spPr>
          <a:xfrm>
            <a:off x="3246120" y="1572840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C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5" name="TextBox 12"/>
          <p:cNvSpPr/>
          <p:nvPr/>
        </p:nvSpPr>
        <p:spPr>
          <a:xfrm>
            <a:off x="1051560" y="2130480"/>
            <a:ext cx="273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A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Rectangle 13"/>
          <p:cNvSpPr/>
          <p:nvPr/>
        </p:nvSpPr>
        <p:spPr>
          <a:xfrm>
            <a:off x="1417320" y="1828800"/>
            <a:ext cx="914040" cy="822600"/>
          </a:xfrm>
          <a:prstGeom prst="rect">
            <a:avLst/>
          </a:prstGeom>
          <a:solidFill>
            <a:srgbClr val="DEF3F1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7" name="TextBox 14"/>
          <p:cNvSpPr/>
          <p:nvPr/>
        </p:nvSpPr>
        <p:spPr>
          <a:xfrm>
            <a:off x="1417320" y="1993320"/>
            <a:ext cx="914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900" b="1" u="none" strike="noStrike">
                <a:solidFill>
                  <a:srgbClr val="148989"/>
                </a:solidFill>
                <a:effectLst/>
                <a:uFillTx/>
                <a:latin typeface="Arial"/>
              </a:rPr>
              <a:t>45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8" name="Rectangle 15"/>
          <p:cNvSpPr/>
          <p:nvPr/>
        </p:nvSpPr>
        <p:spPr>
          <a:xfrm>
            <a:off x="2331720" y="1828800"/>
            <a:ext cx="914040" cy="82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9" name="TextBox 16"/>
          <p:cNvSpPr/>
          <p:nvPr/>
        </p:nvSpPr>
        <p:spPr>
          <a:xfrm>
            <a:off x="2331720" y="1993320"/>
            <a:ext cx="914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900" b="1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3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0" name="Rectangle 17"/>
          <p:cNvSpPr/>
          <p:nvPr/>
        </p:nvSpPr>
        <p:spPr>
          <a:xfrm>
            <a:off x="3246120" y="1828800"/>
            <a:ext cx="914040" cy="82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1" name="TextBox 18"/>
          <p:cNvSpPr/>
          <p:nvPr/>
        </p:nvSpPr>
        <p:spPr>
          <a:xfrm>
            <a:off x="3246120" y="1993320"/>
            <a:ext cx="914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900" b="1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2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TextBox 19"/>
          <p:cNvSpPr/>
          <p:nvPr/>
        </p:nvSpPr>
        <p:spPr>
          <a:xfrm>
            <a:off x="1051560" y="3044880"/>
            <a:ext cx="273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B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3" name="Rectangle 20"/>
          <p:cNvSpPr/>
          <p:nvPr/>
        </p:nvSpPr>
        <p:spPr>
          <a:xfrm>
            <a:off x="1417320" y="2743200"/>
            <a:ext cx="914040" cy="82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4" name="TextBox 21"/>
          <p:cNvSpPr/>
          <p:nvPr/>
        </p:nvSpPr>
        <p:spPr>
          <a:xfrm>
            <a:off x="1417320" y="2907720"/>
            <a:ext cx="914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900" b="1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4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5" name="Rectangle 22"/>
          <p:cNvSpPr/>
          <p:nvPr/>
        </p:nvSpPr>
        <p:spPr>
          <a:xfrm>
            <a:off x="2331720" y="2743200"/>
            <a:ext cx="914040" cy="822600"/>
          </a:xfrm>
          <a:prstGeom prst="rect">
            <a:avLst/>
          </a:prstGeom>
          <a:solidFill>
            <a:srgbClr val="DEF3F1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6" name="TextBox 23"/>
          <p:cNvSpPr/>
          <p:nvPr/>
        </p:nvSpPr>
        <p:spPr>
          <a:xfrm>
            <a:off x="2331720" y="2907720"/>
            <a:ext cx="914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900" b="1" u="none" strike="noStrike">
                <a:solidFill>
                  <a:srgbClr val="148989"/>
                </a:solidFill>
                <a:effectLst/>
                <a:uFillTx/>
                <a:latin typeface="Arial"/>
              </a:rPr>
              <a:t>38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7" name="Rectangle 24"/>
          <p:cNvSpPr/>
          <p:nvPr/>
        </p:nvSpPr>
        <p:spPr>
          <a:xfrm>
            <a:off x="3246120" y="2743200"/>
            <a:ext cx="914040" cy="822600"/>
          </a:xfrm>
          <a:prstGeom prst="rect">
            <a:avLst/>
          </a:prstGeom>
          <a:solidFill>
            <a:srgbClr val="F8E9E2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8" name="TextBox 25"/>
          <p:cNvSpPr/>
          <p:nvPr/>
        </p:nvSpPr>
        <p:spPr>
          <a:xfrm>
            <a:off x="3246120" y="2907720"/>
            <a:ext cx="914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900" b="1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8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9" name="TextBox 26"/>
          <p:cNvSpPr/>
          <p:nvPr/>
        </p:nvSpPr>
        <p:spPr>
          <a:xfrm>
            <a:off x="1051560" y="3959280"/>
            <a:ext cx="273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C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0" name="Rectangle 27"/>
          <p:cNvSpPr/>
          <p:nvPr/>
        </p:nvSpPr>
        <p:spPr>
          <a:xfrm>
            <a:off x="1417320" y="3657600"/>
            <a:ext cx="914040" cy="82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1" name="TextBox 28"/>
          <p:cNvSpPr/>
          <p:nvPr/>
        </p:nvSpPr>
        <p:spPr>
          <a:xfrm>
            <a:off x="1417320" y="3822120"/>
            <a:ext cx="914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900" b="1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1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2" name="Rectangle 29"/>
          <p:cNvSpPr/>
          <p:nvPr/>
        </p:nvSpPr>
        <p:spPr>
          <a:xfrm>
            <a:off x="2331720" y="3657600"/>
            <a:ext cx="914040" cy="822600"/>
          </a:xfrm>
          <a:prstGeom prst="rect">
            <a:avLst/>
          </a:prstGeom>
          <a:solidFill>
            <a:srgbClr val="F8E9E2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3" name="TextBox 30"/>
          <p:cNvSpPr/>
          <p:nvPr/>
        </p:nvSpPr>
        <p:spPr>
          <a:xfrm>
            <a:off x="2331720" y="3822120"/>
            <a:ext cx="914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900" b="1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6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4" name="Rectangle 31"/>
          <p:cNvSpPr/>
          <p:nvPr/>
        </p:nvSpPr>
        <p:spPr>
          <a:xfrm>
            <a:off x="3246120" y="3657600"/>
            <a:ext cx="914040" cy="822600"/>
          </a:xfrm>
          <a:prstGeom prst="rect">
            <a:avLst/>
          </a:prstGeom>
          <a:solidFill>
            <a:srgbClr val="DEF3F1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5" name="TextBox 32"/>
          <p:cNvSpPr/>
          <p:nvPr/>
        </p:nvSpPr>
        <p:spPr>
          <a:xfrm>
            <a:off x="3246120" y="3822120"/>
            <a:ext cx="914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900" b="1" u="none" strike="noStrike">
                <a:solidFill>
                  <a:srgbClr val="148989"/>
                </a:solidFill>
                <a:effectLst/>
                <a:uFillTx/>
                <a:latin typeface="Arial"/>
              </a:rPr>
              <a:t>43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6" name="Rounded Rectangle 33"/>
          <p:cNvSpPr/>
          <p:nvPr/>
        </p:nvSpPr>
        <p:spPr>
          <a:xfrm>
            <a:off x="4800600" y="1828800"/>
            <a:ext cx="3428640" cy="1005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7" name="Rectangle 34"/>
          <p:cNvSpPr/>
          <p:nvPr/>
        </p:nvSpPr>
        <p:spPr>
          <a:xfrm>
            <a:off x="4818960" y="1947600"/>
            <a:ext cx="50040" cy="767880"/>
          </a:xfrm>
          <a:prstGeom prst="rect">
            <a:avLst/>
          </a:prstGeom>
          <a:solidFill>
            <a:srgbClr val="3989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8" name="TextBox 35"/>
          <p:cNvSpPr/>
          <p:nvPr/>
        </p:nvSpPr>
        <p:spPr>
          <a:xfrm>
            <a:off x="4956120" y="1929240"/>
            <a:ext cx="3172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Accuracy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9" name="TextBox 36"/>
          <p:cNvSpPr/>
          <p:nvPr/>
        </p:nvSpPr>
        <p:spPr>
          <a:xfrm>
            <a:off x="4956120" y="2277000"/>
            <a:ext cx="317268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3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(45 + 38 + 43) / 150 = 84%</a:t>
            </a:r>
            <a:endParaRPr lang="ru-RU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0" name="Rounded Rectangle 37"/>
          <p:cNvSpPr/>
          <p:nvPr/>
        </p:nvSpPr>
        <p:spPr>
          <a:xfrm>
            <a:off x="4800600" y="3035880"/>
            <a:ext cx="3428640" cy="1005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1" name="Rectangle 38"/>
          <p:cNvSpPr/>
          <p:nvPr/>
        </p:nvSpPr>
        <p:spPr>
          <a:xfrm>
            <a:off x="4818960" y="3154680"/>
            <a:ext cx="50040" cy="76788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2" name="TextBox 39"/>
          <p:cNvSpPr/>
          <p:nvPr/>
        </p:nvSpPr>
        <p:spPr>
          <a:xfrm>
            <a:off x="4895280" y="3092760"/>
            <a:ext cx="317268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00" b="1" u="none" strike="noStrike">
                <a:solidFill>
                  <a:srgbClr val="162A43"/>
                </a:solidFill>
                <a:effectLst/>
                <a:uFillTx/>
                <a:latin typeface="Arial"/>
                <a:ea typeface="Microsoft YaHei"/>
              </a:rPr>
              <a:t>Recall </a:t>
            </a:r>
            <a:r>
              <a:rPr lang="en-US" sz="10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класса B (полнота, какую долю объектов данного класса модель смогла правильно найти (выявить) среди всех объектов, которые на самом деле относятся к этому классу.   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TextBox 40"/>
          <p:cNvSpPr/>
          <p:nvPr/>
        </p:nvSpPr>
        <p:spPr>
          <a:xfrm>
            <a:off x="4956120" y="3780000"/>
            <a:ext cx="317268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3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38 / (4 + 38 + 8) = 76%</a:t>
            </a:r>
            <a:endParaRPr lang="ru-RU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4" name="Rounded Rectangle 41"/>
          <p:cNvSpPr/>
          <p:nvPr/>
        </p:nvSpPr>
        <p:spPr>
          <a:xfrm>
            <a:off x="4800600" y="4242960"/>
            <a:ext cx="3428640" cy="1005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5" name="Rectangle 42"/>
          <p:cNvSpPr/>
          <p:nvPr/>
        </p:nvSpPr>
        <p:spPr>
          <a:xfrm>
            <a:off x="4818960" y="4361760"/>
            <a:ext cx="50040" cy="767880"/>
          </a:xfrm>
          <a:prstGeom prst="rect">
            <a:avLst/>
          </a:prstGeom>
          <a:solidFill>
            <a:srgbClr val="B44C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6" name="TextBox 43"/>
          <p:cNvSpPr/>
          <p:nvPr/>
        </p:nvSpPr>
        <p:spPr>
          <a:xfrm>
            <a:off x="4956120" y="4343400"/>
            <a:ext cx="3172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Диагностика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7" name="TextBox 44"/>
          <p:cNvSpPr/>
          <p:nvPr/>
        </p:nvSpPr>
        <p:spPr>
          <a:xfrm>
            <a:off x="4956120" y="4690800"/>
            <a:ext cx="317268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3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Чаще всего B путается с C: 8 примеров.</a:t>
            </a:r>
            <a:endParaRPr lang="ru-RU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8" name="TextBox 45"/>
          <p:cNvSpPr/>
          <p:nvPr/>
        </p:nvSpPr>
        <p:spPr>
          <a:xfrm>
            <a:off x="771120" y="5613480"/>
            <a:ext cx="749772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4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Матрица ошибок переводит агрегированную метрику в конкретные сценарии путаницы.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Rectangle 1"/>
          <p:cNvSpPr/>
          <p:nvPr/>
        </p:nvSpPr>
        <p:spPr>
          <a:xfrm>
            <a:off x="0" y="0"/>
            <a:ext cx="9143640" cy="82080"/>
          </a:xfrm>
          <a:prstGeom prst="rect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0" name="TextBox 2"/>
          <p:cNvSpPr/>
          <p:nvPr/>
        </p:nvSpPr>
        <p:spPr>
          <a:xfrm>
            <a:off x="438840" y="191880"/>
            <a:ext cx="81378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tIns="13680" rIns="13680" bIns="1368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9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Accuracy и balanced accuracy отвечают на разные вопросы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1" name="Rectangle 3"/>
          <p:cNvSpPr/>
          <p:nvPr/>
        </p:nvSpPr>
        <p:spPr>
          <a:xfrm>
            <a:off x="448200" y="804600"/>
            <a:ext cx="658080" cy="4068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2" name="Rectangle 4"/>
          <p:cNvSpPr/>
          <p:nvPr/>
        </p:nvSpPr>
        <p:spPr>
          <a:xfrm>
            <a:off x="438840" y="6519600"/>
            <a:ext cx="8265960" cy="10440"/>
          </a:xfrm>
          <a:prstGeom prst="rect">
            <a:avLst/>
          </a:prstGeom>
          <a:solidFill>
            <a:srgbClr val="DDE4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3" name="TextBox 5"/>
          <p:cNvSpPr/>
          <p:nvPr/>
        </p:nvSpPr>
        <p:spPr>
          <a:xfrm>
            <a:off x="457200" y="6565320"/>
            <a:ext cx="59432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820" b="1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МЕТРИКИ</a:t>
            </a:r>
            <a:endParaRPr lang="ru-RU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4" name="TextBox 6"/>
          <p:cNvSpPr/>
          <p:nvPr/>
        </p:nvSpPr>
        <p:spPr>
          <a:xfrm>
            <a:off x="8229600" y="6546960"/>
            <a:ext cx="41112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850" b="0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27</a:t>
            </a:r>
            <a:endParaRPr lang="ru-RU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5" name="Rounded Rectangle 7"/>
          <p:cNvSpPr/>
          <p:nvPr/>
        </p:nvSpPr>
        <p:spPr>
          <a:xfrm>
            <a:off x="640080" y="1188720"/>
            <a:ext cx="3702960" cy="1279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6" name="Rectangle 8"/>
          <p:cNvSpPr/>
          <p:nvPr/>
        </p:nvSpPr>
        <p:spPr>
          <a:xfrm>
            <a:off x="658440" y="1307520"/>
            <a:ext cx="50040" cy="1042200"/>
          </a:xfrm>
          <a:prstGeom prst="rect">
            <a:avLst/>
          </a:prstGeom>
          <a:solidFill>
            <a:srgbClr val="4678B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7" name="TextBox 9"/>
          <p:cNvSpPr/>
          <p:nvPr/>
        </p:nvSpPr>
        <p:spPr>
          <a:xfrm>
            <a:off x="795600" y="1289160"/>
            <a:ext cx="3447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Accuracy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8" name="TextBox 10"/>
          <p:cNvSpPr/>
          <p:nvPr/>
        </p:nvSpPr>
        <p:spPr>
          <a:xfrm>
            <a:off x="795600" y="1636920"/>
            <a:ext cx="344700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7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Доля верных ответов среди всех объектов. Полезна, когда классы и ошибки сопоставимы по важности.</a:t>
            </a:r>
            <a:endParaRPr lang="ru-RU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9" name="Rounded Rectangle 11"/>
          <p:cNvSpPr/>
          <p:nvPr/>
        </p:nvSpPr>
        <p:spPr>
          <a:xfrm>
            <a:off x="4617720" y="1188720"/>
            <a:ext cx="3702960" cy="1279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0" name="Rectangle 12"/>
          <p:cNvSpPr/>
          <p:nvPr/>
        </p:nvSpPr>
        <p:spPr>
          <a:xfrm>
            <a:off x="4636080" y="1307520"/>
            <a:ext cx="50040" cy="1042200"/>
          </a:xfrm>
          <a:prstGeom prst="rect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1" name="TextBox 13"/>
          <p:cNvSpPr/>
          <p:nvPr/>
        </p:nvSpPr>
        <p:spPr>
          <a:xfrm>
            <a:off x="4773240" y="1289160"/>
            <a:ext cx="3447000" cy="40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Balanced accuracy (  balanced_accuracy_score()  )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2" name="TextBox 14"/>
          <p:cNvSpPr/>
          <p:nvPr/>
        </p:nvSpPr>
        <p:spPr>
          <a:xfrm>
            <a:off x="4773240" y="1636920"/>
            <a:ext cx="344700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5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Среднее значение recall по классам: BA = (1/K) Σₖ Recallₖ.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3" name="TextBox 15"/>
          <p:cNvSpPr/>
          <p:nvPr/>
        </p:nvSpPr>
        <p:spPr>
          <a:xfrm>
            <a:off x="731520" y="2743200"/>
            <a:ext cx="763488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Рассмотрим дисбаланс: 900 объектов A, 80 - B, 20 - C.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4" name="TextBox 16"/>
          <p:cNvSpPr/>
          <p:nvPr/>
        </p:nvSpPr>
        <p:spPr>
          <a:xfrm>
            <a:off x="822960" y="3337560"/>
            <a:ext cx="1416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00" b="1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Accuracy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5" name="Rounded Rectangle 17"/>
          <p:cNvSpPr/>
          <p:nvPr/>
        </p:nvSpPr>
        <p:spPr>
          <a:xfrm>
            <a:off x="2240280" y="3337560"/>
            <a:ext cx="4983120" cy="255600"/>
          </a:xfrm>
          <a:prstGeom prst="roundRect">
            <a:avLst>
              <a:gd name="adj" fmla="val 16667"/>
            </a:avLst>
          </a:prstGeom>
          <a:solidFill>
            <a:srgbClr val="EC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6" name="Rounded Rectangle 18"/>
          <p:cNvSpPr/>
          <p:nvPr/>
        </p:nvSpPr>
        <p:spPr>
          <a:xfrm>
            <a:off x="2240280" y="3337560"/>
            <a:ext cx="4484880" cy="255600"/>
          </a:xfrm>
          <a:prstGeom prst="roundRect">
            <a:avLst>
              <a:gd name="adj" fmla="val 16667"/>
            </a:avLst>
          </a:prstGeom>
          <a:solidFill>
            <a:srgbClr val="4678B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7" name="TextBox 19"/>
          <p:cNvSpPr/>
          <p:nvPr/>
        </p:nvSpPr>
        <p:spPr>
          <a:xfrm>
            <a:off x="7360920" y="3337560"/>
            <a:ext cx="7311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00" b="1" u="none" strike="noStrike">
                <a:solidFill>
                  <a:srgbClr val="4678B2"/>
                </a:solidFill>
                <a:effectLst/>
                <a:uFillTx/>
                <a:latin typeface="Arial"/>
              </a:rPr>
              <a:t>90%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8" name="TextBox 20"/>
          <p:cNvSpPr/>
          <p:nvPr/>
        </p:nvSpPr>
        <p:spPr>
          <a:xfrm>
            <a:off x="822960" y="3886200"/>
            <a:ext cx="1416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00" b="1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Balanced acc.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9" name="Rounded Rectangle 21"/>
          <p:cNvSpPr/>
          <p:nvPr/>
        </p:nvSpPr>
        <p:spPr>
          <a:xfrm>
            <a:off x="2240280" y="3886200"/>
            <a:ext cx="4983120" cy="255600"/>
          </a:xfrm>
          <a:prstGeom prst="roundRect">
            <a:avLst>
              <a:gd name="adj" fmla="val 16667"/>
            </a:avLst>
          </a:prstGeom>
          <a:solidFill>
            <a:srgbClr val="EC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0" name="Rounded Rectangle 22"/>
          <p:cNvSpPr/>
          <p:nvPr/>
        </p:nvSpPr>
        <p:spPr>
          <a:xfrm>
            <a:off x="2240280" y="3886200"/>
            <a:ext cx="1660680" cy="255600"/>
          </a:xfrm>
          <a:prstGeom prst="roundRect">
            <a:avLst>
              <a:gd name="adj" fmla="val 16667"/>
            </a:avLst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1" name="TextBox 23"/>
          <p:cNvSpPr/>
          <p:nvPr/>
        </p:nvSpPr>
        <p:spPr>
          <a:xfrm>
            <a:off x="7360920" y="3886200"/>
            <a:ext cx="7311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00" b="1" u="none" strike="noStrike">
                <a:solidFill>
                  <a:srgbClr val="E68B42"/>
                </a:solidFill>
                <a:effectLst/>
                <a:uFillTx/>
                <a:latin typeface="Arial"/>
              </a:rPr>
              <a:t>33%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2" name="TextBox 24"/>
          <p:cNvSpPr/>
          <p:nvPr/>
        </p:nvSpPr>
        <p:spPr>
          <a:xfrm>
            <a:off x="720000" y="5912640"/>
            <a:ext cx="7497720" cy="56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500" b="1" u="none" strike="noStrike">
                <a:solidFill>
                  <a:srgbClr val="B44C4C"/>
                </a:solidFill>
                <a:effectLst/>
                <a:uFillTx/>
                <a:latin typeface="Arial"/>
              </a:rPr>
              <a:t>Если модель всегда предсказывает A, она получит Accuracy = 90%, но Recall(B)=Recall(C)=0. Balanced accuracy покажет провал по редким классам.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3" name=""/>
          <p:cNvPicPr/>
          <p:nvPr/>
        </p:nvPicPr>
        <p:blipFill>
          <a:blip r:embed="rId1"/>
          <a:stretch/>
        </p:blipFill>
        <p:spPr>
          <a:xfrm>
            <a:off x="2700000" y="4427280"/>
            <a:ext cx="3240000" cy="1440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Rectangle 1"/>
          <p:cNvSpPr/>
          <p:nvPr/>
        </p:nvSpPr>
        <p:spPr>
          <a:xfrm>
            <a:off x="0" y="0"/>
            <a:ext cx="9143640" cy="82080"/>
          </a:xfrm>
          <a:prstGeom prst="rect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5" name="TextBox 2"/>
          <p:cNvSpPr/>
          <p:nvPr/>
        </p:nvSpPr>
        <p:spPr>
          <a:xfrm>
            <a:off x="438840" y="191880"/>
            <a:ext cx="81378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tIns="13680" rIns="13680" bIns="1368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9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Precision, Recall и F1: цена ложных срабатываний и пропусков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6" name="Rectangle 3"/>
          <p:cNvSpPr/>
          <p:nvPr/>
        </p:nvSpPr>
        <p:spPr>
          <a:xfrm>
            <a:off x="448200" y="804600"/>
            <a:ext cx="658080" cy="4068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7" name="Rectangle 4"/>
          <p:cNvSpPr/>
          <p:nvPr/>
        </p:nvSpPr>
        <p:spPr>
          <a:xfrm>
            <a:off x="438840" y="6519600"/>
            <a:ext cx="8265960" cy="10440"/>
          </a:xfrm>
          <a:prstGeom prst="rect">
            <a:avLst/>
          </a:prstGeom>
          <a:solidFill>
            <a:srgbClr val="DDE4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8" name="TextBox 5"/>
          <p:cNvSpPr/>
          <p:nvPr/>
        </p:nvSpPr>
        <p:spPr>
          <a:xfrm>
            <a:off x="457200" y="6565320"/>
            <a:ext cx="59432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820" b="1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МЕТРИКИ</a:t>
            </a:r>
            <a:endParaRPr lang="ru-RU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9" name="TextBox 6"/>
          <p:cNvSpPr/>
          <p:nvPr/>
        </p:nvSpPr>
        <p:spPr>
          <a:xfrm>
            <a:off x="8229600" y="6546960"/>
            <a:ext cx="41112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850" b="0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28</a:t>
            </a:r>
            <a:endParaRPr lang="ru-RU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0" name="Rounded Rectangle 7"/>
          <p:cNvSpPr/>
          <p:nvPr/>
        </p:nvSpPr>
        <p:spPr>
          <a:xfrm>
            <a:off x="594360" y="1188720"/>
            <a:ext cx="255996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1" name="Rectangle 8"/>
          <p:cNvSpPr/>
          <p:nvPr/>
        </p:nvSpPr>
        <p:spPr>
          <a:xfrm>
            <a:off x="612720" y="1307520"/>
            <a:ext cx="50040" cy="1179360"/>
          </a:xfrm>
          <a:prstGeom prst="rect">
            <a:avLst/>
          </a:prstGeom>
          <a:solidFill>
            <a:srgbClr val="4678B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2" name="TextBox 9"/>
          <p:cNvSpPr/>
          <p:nvPr/>
        </p:nvSpPr>
        <p:spPr>
          <a:xfrm>
            <a:off x="749880" y="1289160"/>
            <a:ext cx="2304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Precision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3" name="TextBox 10"/>
          <p:cNvSpPr/>
          <p:nvPr/>
        </p:nvSpPr>
        <p:spPr>
          <a:xfrm>
            <a:off x="749880" y="1636920"/>
            <a:ext cx="230400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1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TP / (TP + FP)</a:t>
            </a:r>
            <a:endParaRPr lang="ru-RU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1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Из всех прогнозов «этот класс» — сколько верны?</a:t>
            </a:r>
            <a:endParaRPr lang="ru-RU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4" name="Rounded Rectangle 11"/>
          <p:cNvSpPr/>
          <p:nvPr/>
        </p:nvSpPr>
        <p:spPr>
          <a:xfrm>
            <a:off x="3291840" y="1188720"/>
            <a:ext cx="255996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5" name="Rectangle 12"/>
          <p:cNvSpPr/>
          <p:nvPr/>
        </p:nvSpPr>
        <p:spPr>
          <a:xfrm>
            <a:off x="3310200" y="1307520"/>
            <a:ext cx="50040" cy="1179360"/>
          </a:xfrm>
          <a:prstGeom prst="rect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6" name="TextBox 13"/>
          <p:cNvSpPr/>
          <p:nvPr/>
        </p:nvSpPr>
        <p:spPr>
          <a:xfrm>
            <a:off x="3447360" y="1289160"/>
            <a:ext cx="2304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Recall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7" name="TextBox 14"/>
          <p:cNvSpPr/>
          <p:nvPr/>
        </p:nvSpPr>
        <p:spPr>
          <a:xfrm>
            <a:off x="3447360" y="1636920"/>
            <a:ext cx="230400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1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TP / (TP + FN)</a:t>
            </a:r>
            <a:endParaRPr lang="ru-RU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1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Из всех объектов класса — сколько нашли?</a:t>
            </a:r>
            <a:endParaRPr lang="ru-RU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8" name="Rounded Rectangle 15"/>
          <p:cNvSpPr/>
          <p:nvPr/>
        </p:nvSpPr>
        <p:spPr>
          <a:xfrm>
            <a:off x="5989320" y="1188720"/>
            <a:ext cx="255996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9" name="Rectangle 16"/>
          <p:cNvSpPr/>
          <p:nvPr/>
        </p:nvSpPr>
        <p:spPr>
          <a:xfrm>
            <a:off x="6007680" y="1307520"/>
            <a:ext cx="50040" cy="117936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0" name="TextBox 17"/>
          <p:cNvSpPr/>
          <p:nvPr/>
        </p:nvSpPr>
        <p:spPr>
          <a:xfrm>
            <a:off x="6144840" y="1289160"/>
            <a:ext cx="2304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F1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1" name="TextBox 18"/>
          <p:cNvSpPr/>
          <p:nvPr/>
        </p:nvSpPr>
        <p:spPr>
          <a:xfrm>
            <a:off x="6144840" y="1636920"/>
            <a:ext cx="230400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1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2PR / (P + R)</a:t>
            </a:r>
            <a:endParaRPr lang="ru-RU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1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Гармоническое среднее precision и recall.</a:t>
            </a:r>
            <a:endParaRPr lang="ru-RU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2" name="Rounded Rectangle 19"/>
          <p:cNvSpPr/>
          <p:nvPr/>
        </p:nvSpPr>
        <p:spPr>
          <a:xfrm>
            <a:off x="594360" y="2971800"/>
            <a:ext cx="3794400" cy="1325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3" name="Rectangle 20"/>
          <p:cNvSpPr/>
          <p:nvPr/>
        </p:nvSpPr>
        <p:spPr>
          <a:xfrm>
            <a:off x="612720" y="3090600"/>
            <a:ext cx="50040" cy="1087920"/>
          </a:xfrm>
          <a:prstGeom prst="rect">
            <a:avLst/>
          </a:prstGeom>
          <a:solidFill>
            <a:srgbClr val="4678B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4" name="TextBox 21"/>
          <p:cNvSpPr/>
          <p:nvPr/>
        </p:nvSpPr>
        <p:spPr>
          <a:xfrm>
            <a:off x="749880" y="3072240"/>
            <a:ext cx="3538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Когда важен precision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5" name="TextBox 22"/>
          <p:cNvSpPr/>
          <p:nvPr/>
        </p:nvSpPr>
        <p:spPr>
          <a:xfrm>
            <a:off x="749880" y="3420000"/>
            <a:ext cx="353844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4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Высокая цена ложной тревоги: дополнительная проверка, модерация, блокировка операции.</a:t>
            </a:r>
            <a:endParaRPr lang="ru-RU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6" name="Rounded Rectangle 23"/>
          <p:cNvSpPr/>
          <p:nvPr/>
        </p:nvSpPr>
        <p:spPr>
          <a:xfrm>
            <a:off x="4617720" y="2971800"/>
            <a:ext cx="3794400" cy="1325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7" name="Rectangle 24"/>
          <p:cNvSpPr/>
          <p:nvPr/>
        </p:nvSpPr>
        <p:spPr>
          <a:xfrm>
            <a:off x="4636080" y="3090600"/>
            <a:ext cx="50040" cy="1087920"/>
          </a:xfrm>
          <a:prstGeom prst="rect">
            <a:avLst/>
          </a:prstGeom>
          <a:solidFill>
            <a:srgbClr val="B44C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8" name="TextBox 25"/>
          <p:cNvSpPr/>
          <p:nvPr/>
        </p:nvSpPr>
        <p:spPr>
          <a:xfrm>
            <a:off x="4773240" y="3072240"/>
            <a:ext cx="3538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Когда важен recall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" name="TextBox 26"/>
          <p:cNvSpPr/>
          <p:nvPr/>
        </p:nvSpPr>
        <p:spPr>
          <a:xfrm>
            <a:off x="4773240" y="3420000"/>
            <a:ext cx="353844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4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Опасно пропустить объект: сигнал тревоги, редкий дефект или потенциально опасная категория.</a:t>
            </a:r>
            <a:endParaRPr lang="ru-RU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0" name="TextBox 27"/>
          <p:cNvSpPr/>
          <p:nvPr/>
        </p:nvSpPr>
        <p:spPr>
          <a:xfrm>
            <a:off x="777240" y="4754880"/>
            <a:ext cx="75891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ctr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4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F1 симметрично объединяет precision и recall, но не учитывает true negatives и не заменяет бизнес-оценку стоимости ошибок.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Rectangle 1"/>
          <p:cNvSpPr/>
          <p:nvPr/>
        </p:nvSpPr>
        <p:spPr>
          <a:xfrm>
            <a:off x="0" y="0"/>
            <a:ext cx="9143640" cy="82080"/>
          </a:xfrm>
          <a:prstGeom prst="rect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2" name="TextBox 2"/>
          <p:cNvSpPr/>
          <p:nvPr/>
        </p:nvSpPr>
        <p:spPr>
          <a:xfrm>
            <a:off x="438840" y="191880"/>
            <a:ext cx="81378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tIns="13680" rIns="13680" bIns="1368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1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Macro, micro и weighted: как усреднять F1?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3" name="Rectangle 3"/>
          <p:cNvSpPr/>
          <p:nvPr/>
        </p:nvSpPr>
        <p:spPr>
          <a:xfrm>
            <a:off x="448200" y="804600"/>
            <a:ext cx="658080" cy="4068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4" name="Rectangle 4"/>
          <p:cNvSpPr/>
          <p:nvPr/>
        </p:nvSpPr>
        <p:spPr>
          <a:xfrm>
            <a:off x="438840" y="6519600"/>
            <a:ext cx="8265960" cy="10440"/>
          </a:xfrm>
          <a:prstGeom prst="rect">
            <a:avLst/>
          </a:prstGeom>
          <a:solidFill>
            <a:srgbClr val="DDE4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5" name="TextBox 5"/>
          <p:cNvSpPr/>
          <p:nvPr/>
        </p:nvSpPr>
        <p:spPr>
          <a:xfrm>
            <a:off x="457200" y="6565320"/>
            <a:ext cx="59432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820" b="1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МЕТРИКИ</a:t>
            </a:r>
            <a:endParaRPr lang="ru-RU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6" name="TextBox 6"/>
          <p:cNvSpPr/>
          <p:nvPr/>
        </p:nvSpPr>
        <p:spPr>
          <a:xfrm>
            <a:off x="8229600" y="6546960"/>
            <a:ext cx="41112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850" b="0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29</a:t>
            </a:r>
            <a:endParaRPr lang="ru-RU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7" name="Rounded Rectangle 8"/>
          <p:cNvSpPr/>
          <p:nvPr/>
        </p:nvSpPr>
        <p:spPr>
          <a:xfrm>
            <a:off x="594360" y="1188720"/>
            <a:ext cx="255996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8" name="Rectangle 9"/>
          <p:cNvSpPr/>
          <p:nvPr/>
        </p:nvSpPr>
        <p:spPr>
          <a:xfrm>
            <a:off x="612720" y="1307520"/>
            <a:ext cx="50040" cy="1179360"/>
          </a:xfrm>
          <a:prstGeom prst="rect">
            <a:avLst/>
          </a:prstGeom>
          <a:solidFill>
            <a:srgbClr val="4678B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9" name="TextBox 10"/>
          <p:cNvSpPr/>
          <p:nvPr/>
        </p:nvSpPr>
        <p:spPr>
          <a:xfrm>
            <a:off x="749880" y="1289160"/>
            <a:ext cx="2304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Macro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0" name="TextBox 11"/>
          <p:cNvSpPr/>
          <p:nvPr/>
        </p:nvSpPr>
        <p:spPr>
          <a:xfrm>
            <a:off x="749880" y="1636920"/>
            <a:ext cx="230400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4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Сначала метрика по каждому классу, затем простое среднее. Каждый класс имеет одинаковый вес.</a:t>
            </a:r>
            <a:endParaRPr lang="ru-RU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1" name="Rounded Rectangle 12"/>
          <p:cNvSpPr/>
          <p:nvPr/>
        </p:nvSpPr>
        <p:spPr>
          <a:xfrm>
            <a:off x="3291840" y="1188720"/>
            <a:ext cx="255996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2" name="Rectangle 13"/>
          <p:cNvSpPr/>
          <p:nvPr/>
        </p:nvSpPr>
        <p:spPr>
          <a:xfrm>
            <a:off x="3310200" y="1307520"/>
            <a:ext cx="50040" cy="1179360"/>
          </a:xfrm>
          <a:prstGeom prst="rect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3" name="TextBox 14"/>
          <p:cNvSpPr/>
          <p:nvPr/>
        </p:nvSpPr>
        <p:spPr>
          <a:xfrm>
            <a:off x="3447360" y="1289160"/>
            <a:ext cx="2304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Micro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4" name="TextBox 15"/>
          <p:cNvSpPr/>
          <p:nvPr/>
        </p:nvSpPr>
        <p:spPr>
          <a:xfrm>
            <a:off x="3447360" y="1636920"/>
            <a:ext cx="230400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1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Суммируются TP / FP / FN по классам, затем метрика считается глобально.</a:t>
            </a:r>
            <a:endParaRPr lang="ru-RU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5" name="Rounded Rectangle 16"/>
          <p:cNvSpPr/>
          <p:nvPr/>
        </p:nvSpPr>
        <p:spPr>
          <a:xfrm>
            <a:off x="5989320" y="1188720"/>
            <a:ext cx="255996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6" name="Rectangle 17"/>
          <p:cNvSpPr/>
          <p:nvPr/>
        </p:nvSpPr>
        <p:spPr>
          <a:xfrm>
            <a:off x="6007680" y="1307520"/>
            <a:ext cx="50040" cy="117936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7" name="TextBox 18"/>
          <p:cNvSpPr/>
          <p:nvPr/>
        </p:nvSpPr>
        <p:spPr>
          <a:xfrm>
            <a:off x="6144840" y="1289160"/>
            <a:ext cx="2304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Weighted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8" name="TextBox 19"/>
          <p:cNvSpPr/>
          <p:nvPr/>
        </p:nvSpPr>
        <p:spPr>
          <a:xfrm>
            <a:off x="6144840" y="1636920"/>
            <a:ext cx="2304000" cy="5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1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F1 каждого класса усредняется с весом support - числом истинных объектов класса.</a:t>
            </a:r>
            <a:endParaRPr lang="ru-RU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9" name="TextBox 20"/>
          <p:cNvSpPr/>
          <p:nvPr/>
        </p:nvSpPr>
        <p:spPr>
          <a:xfrm>
            <a:off x="731520" y="2971800"/>
            <a:ext cx="7634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4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Пример: F1(A)≈0,91; F1(B)≈0,26; F1(C)=0; support: 900 / 80 / 20.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0" name="TextBox 21"/>
          <p:cNvSpPr/>
          <p:nvPr/>
        </p:nvSpPr>
        <p:spPr>
          <a:xfrm>
            <a:off x="868680" y="3520440"/>
            <a:ext cx="1462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00" b="1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Macro F1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1" name="Rounded Rectangle 22"/>
          <p:cNvSpPr/>
          <p:nvPr/>
        </p:nvSpPr>
        <p:spPr>
          <a:xfrm>
            <a:off x="2468880" y="3520440"/>
            <a:ext cx="4571640" cy="255600"/>
          </a:xfrm>
          <a:prstGeom prst="roundRect">
            <a:avLst>
              <a:gd name="adj" fmla="val 16667"/>
            </a:avLst>
          </a:prstGeom>
          <a:solidFill>
            <a:srgbClr val="EC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2" name="Rounded Rectangle 23"/>
          <p:cNvSpPr/>
          <p:nvPr/>
        </p:nvSpPr>
        <p:spPr>
          <a:xfrm>
            <a:off x="2468880" y="3520440"/>
            <a:ext cx="1791720" cy="255600"/>
          </a:xfrm>
          <a:prstGeom prst="roundRect">
            <a:avLst>
              <a:gd name="adj" fmla="val 16667"/>
            </a:avLst>
          </a:prstGeom>
          <a:solidFill>
            <a:srgbClr val="4678B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3" name="TextBox 24"/>
          <p:cNvSpPr/>
          <p:nvPr/>
        </p:nvSpPr>
        <p:spPr>
          <a:xfrm>
            <a:off x="7223760" y="3520440"/>
            <a:ext cx="7311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50" b="1" u="none" strike="noStrike">
                <a:solidFill>
                  <a:srgbClr val="4678B2"/>
                </a:solidFill>
                <a:effectLst/>
                <a:uFillTx/>
                <a:latin typeface="Arial"/>
              </a:rPr>
              <a:t>0.392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4" name="TextBox 25"/>
          <p:cNvSpPr/>
          <p:nvPr/>
        </p:nvSpPr>
        <p:spPr>
          <a:xfrm>
            <a:off x="868680" y="4160520"/>
            <a:ext cx="1462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00" b="1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Weighted F1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5" name="Rounded Rectangle 26"/>
          <p:cNvSpPr/>
          <p:nvPr/>
        </p:nvSpPr>
        <p:spPr>
          <a:xfrm>
            <a:off x="2468880" y="4160520"/>
            <a:ext cx="4571640" cy="255600"/>
          </a:xfrm>
          <a:prstGeom prst="roundRect">
            <a:avLst>
              <a:gd name="adj" fmla="val 16667"/>
            </a:avLst>
          </a:prstGeom>
          <a:solidFill>
            <a:srgbClr val="EC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6" name="Rounded Rectangle 27"/>
          <p:cNvSpPr/>
          <p:nvPr/>
        </p:nvSpPr>
        <p:spPr>
          <a:xfrm>
            <a:off x="2468880" y="4160520"/>
            <a:ext cx="3851280" cy="255600"/>
          </a:xfrm>
          <a:prstGeom prst="roundRect">
            <a:avLst>
              <a:gd name="adj" fmla="val 16667"/>
            </a:avLst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7" name="TextBox 28"/>
          <p:cNvSpPr/>
          <p:nvPr/>
        </p:nvSpPr>
        <p:spPr>
          <a:xfrm>
            <a:off x="7223760" y="4160520"/>
            <a:ext cx="7311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50" b="1" u="none" strike="noStrike">
                <a:solidFill>
                  <a:srgbClr val="148989"/>
                </a:solidFill>
                <a:effectLst/>
                <a:uFillTx/>
                <a:latin typeface="Arial"/>
              </a:rPr>
              <a:t>0.842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8" name="TextBox 29"/>
          <p:cNvSpPr/>
          <p:nvPr/>
        </p:nvSpPr>
        <p:spPr>
          <a:xfrm>
            <a:off x="822960" y="4983480"/>
            <a:ext cx="73148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ctr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4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В single-label multiclass micro-F1 совпадает с accuracy. При редких классах macro-F1 помогает заметить, что качество неравномерно.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Rectangle 1"/>
          <p:cNvSpPr/>
          <p:nvPr/>
        </p:nvSpPr>
        <p:spPr>
          <a:xfrm>
            <a:off x="0" y="0"/>
            <a:ext cx="9143640" cy="82080"/>
          </a:xfrm>
          <a:prstGeom prst="rect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0" name="TextBox 2"/>
          <p:cNvSpPr/>
          <p:nvPr/>
        </p:nvSpPr>
        <p:spPr>
          <a:xfrm>
            <a:off x="438840" y="191880"/>
            <a:ext cx="81378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tIns="13680" rIns="13680" bIns="1368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1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От класса с максимальной вероятностью к решению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1" name="Rectangle 3"/>
          <p:cNvSpPr/>
          <p:nvPr/>
        </p:nvSpPr>
        <p:spPr>
          <a:xfrm>
            <a:off x="448200" y="804600"/>
            <a:ext cx="658080" cy="4068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2" name="Rectangle 4"/>
          <p:cNvSpPr/>
          <p:nvPr/>
        </p:nvSpPr>
        <p:spPr>
          <a:xfrm>
            <a:off x="438840" y="6519600"/>
            <a:ext cx="8265960" cy="10440"/>
          </a:xfrm>
          <a:prstGeom prst="rect">
            <a:avLst/>
          </a:prstGeom>
          <a:solidFill>
            <a:srgbClr val="DDE4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3" name="TextBox 5"/>
          <p:cNvSpPr/>
          <p:nvPr/>
        </p:nvSpPr>
        <p:spPr>
          <a:xfrm>
            <a:off x="457200" y="6565320"/>
            <a:ext cx="59432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820" b="1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МЕТРИКИ</a:t>
            </a:r>
            <a:endParaRPr lang="ru-RU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4" name="TextBox 6"/>
          <p:cNvSpPr/>
          <p:nvPr/>
        </p:nvSpPr>
        <p:spPr>
          <a:xfrm>
            <a:off x="8229600" y="6546960"/>
            <a:ext cx="41112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850" b="0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30</a:t>
            </a:r>
            <a:endParaRPr lang="ru-RU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5" name="TextBox 7"/>
          <p:cNvSpPr/>
          <p:nvPr/>
        </p:nvSpPr>
        <p:spPr>
          <a:xfrm>
            <a:off x="640080" y="1143000"/>
            <a:ext cx="7772040" cy="52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Класс argmax - не всегда оптимальный выбор, если последствия ошибок различаются.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6" name="Rounded Rectangle 8"/>
          <p:cNvSpPr/>
          <p:nvPr/>
        </p:nvSpPr>
        <p:spPr>
          <a:xfrm>
            <a:off x="640080" y="1828800"/>
            <a:ext cx="3611520" cy="1325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7" name="Rectangle 9"/>
          <p:cNvSpPr/>
          <p:nvPr/>
        </p:nvSpPr>
        <p:spPr>
          <a:xfrm>
            <a:off x="658440" y="1947600"/>
            <a:ext cx="50040" cy="1087920"/>
          </a:xfrm>
          <a:prstGeom prst="rect">
            <a:avLst/>
          </a:prstGeom>
          <a:solidFill>
            <a:srgbClr val="4678B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8" name="TextBox 10"/>
          <p:cNvSpPr/>
          <p:nvPr/>
        </p:nvSpPr>
        <p:spPr>
          <a:xfrm>
            <a:off x="795600" y="1929240"/>
            <a:ext cx="3355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Пример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9" name="TextBox 11"/>
          <p:cNvSpPr/>
          <p:nvPr/>
        </p:nvSpPr>
        <p:spPr>
          <a:xfrm>
            <a:off x="795600" y="2277000"/>
            <a:ext cx="335556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5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Модель выдаёт P(A)=0,52, P(B)=0,43, P(C)=0,05. Простое правило выберет A.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0" name="Rounded Rectangle 12"/>
          <p:cNvSpPr/>
          <p:nvPr/>
        </p:nvSpPr>
        <p:spPr>
          <a:xfrm>
            <a:off x="4617720" y="1828800"/>
            <a:ext cx="3611520" cy="1325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1" name="Rectangle 13"/>
          <p:cNvSpPr/>
          <p:nvPr/>
        </p:nvSpPr>
        <p:spPr>
          <a:xfrm>
            <a:off x="4636080" y="1947600"/>
            <a:ext cx="50040" cy="108792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2" name="TextBox 14"/>
          <p:cNvSpPr/>
          <p:nvPr/>
        </p:nvSpPr>
        <p:spPr>
          <a:xfrm>
            <a:off x="4773240" y="1929240"/>
            <a:ext cx="3355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Цена ошибки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3" name="TextBox 15"/>
          <p:cNvSpPr/>
          <p:nvPr/>
        </p:nvSpPr>
        <p:spPr>
          <a:xfrm>
            <a:off x="4773240" y="2277000"/>
            <a:ext cx="335556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4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Если ошибка A вместо B дорого стоит, может быть лучше отправить объект на дополнительную проверку.</a:t>
            </a:r>
            <a:endParaRPr lang="ru-RU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4" name="Rounded Rectangle 16"/>
          <p:cNvSpPr/>
          <p:nvPr/>
        </p:nvSpPr>
        <p:spPr>
          <a:xfrm>
            <a:off x="731520" y="3520440"/>
            <a:ext cx="7634880" cy="914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109800" rIns="109800" bIns="109800" anchor="ctr">
            <a:noAutofit/>
          </a:bodyPr>
          <a:p>
            <a:pPr algn="ctr"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Байесовское решение: выбрать действие a, минимизирующее ожидаемую стоимость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499"/>
              </a:spcAft>
            </a:pPr>
            <a:r>
              <a:rPr lang="en-US" sz="2000" b="1" u="none" strike="noStrike">
                <a:solidFill>
                  <a:srgbClr val="148989"/>
                </a:solidFill>
                <a:effectLst/>
                <a:uFillTx/>
                <a:latin typeface="Arial"/>
              </a:rPr>
              <a:t>a* = argminₐ Σₖ C(a, k) · P(y=k | x)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5" name="TextBox 17"/>
          <p:cNvSpPr/>
          <p:nvPr/>
        </p:nvSpPr>
        <p:spPr>
          <a:xfrm>
            <a:off x="822960" y="4892040"/>
            <a:ext cx="73148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ctr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4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Возможные решения: предсказать класс, воздержаться при низкой уверенности, отправить на ручную проверку или выбрать безопасное действие.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Rectangle 1"/>
          <p:cNvSpPr/>
          <p:nvPr/>
        </p:nvSpPr>
        <p:spPr>
          <a:xfrm>
            <a:off x="0" y="0"/>
            <a:ext cx="9143640" cy="82080"/>
          </a:xfrm>
          <a:prstGeom prst="rect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7" name="TextBox 2"/>
          <p:cNvSpPr/>
          <p:nvPr/>
        </p:nvSpPr>
        <p:spPr>
          <a:xfrm>
            <a:off x="438840" y="191880"/>
            <a:ext cx="81378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tIns="13680" rIns="13680" bIns="1368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5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Что делать с дисбалансом классов?</a:t>
            </a:r>
            <a:endParaRPr lang="ru-RU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8" name="Rectangle 3"/>
          <p:cNvSpPr/>
          <p:nvPr/>
        </p:nvSpPr>
        <p:spPr>
          <a:xfrm>
            <a:off x="448200" y="804600"/>
            <a:ext cx="658080" cy="4068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9" name="Rectangle 4"/>
          <p:cNvSpPr/>
          <p:nvPr/>
        </p:nvSpPr>
        <p:spPr>
          <a:xfrm>
            <a:off x="438840" y="6519600"/>
            <a:ext cx="8265960" cy="10440"/>
          </a:xfrm>
          <a:prstGeom prst="rect">
            <a:avLst/>
          </a:prstGeom>
          <a:solidFill>
            <a:srgbClr val="DDE4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0" name="TextBox 5"/>
          <p:cNvSpPr/>
          <p:nvPr/>
        </p:nvSpPr>
        <p:spPr>
          <a:xfrm>
            <a:off x="457200" y="6565320"/>
            <a:ext cx="59432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820" b="1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МЕТРИКИ</a:t>
            </a:r>
            <a:endParaRPr lang="ru-RU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1" name="TextBox 6"/>
          <p:cNvSpPr/>
          <p:nvPr/>
        </p:nvSpPr>
        <p:spPr>
          <a:xfrm>
            <a:off x="8229600" y="6546960"/>
            <a:ext cx="41112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850" b="0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31</a:t>
            </a:r>
            <a:endParaRPr lang="ru-RU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2" name="Rounded Rectangle 7"/>
          <p:cNvSpPr/>
          <p:nvPr/>
        </p:nvSpPr>
        <p:spPr>
          <a:xfrm>
            <a:off x="594360" y="1188720"/>
            <a:ext cx="2559960" cy="1462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3" name="Rectangle 8"/>
          <p:cNvSpPr/>
          <p:nvPr/>
        </p:nvSpPr>
        <p:spPr>
          <a:xfrm>
            <a:off x="612720" y="1307520"/>
            <a:ext cx="50040" cy="1225080"/>
          </a:xfrm>
          <a:prstGeom prst="rect">
            <a:avLst/>
          </a:prstGeom>
          <a:solidFill>
            <a:srgbClr val="4678B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4" name="TextBox 9"/>
          <p:cNvSpPr/>
          <p:nvPr/>
        </p:nvSpPr>
        <p:spPr>
          <a:xfrm>
            <a:off x="749880" y="1289160"/>
            <a:ext cx="2304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Метрики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5" name="TextBox 10"/>
          <p:cNvSpPr/>
          <p:nvPr/>
        </p:nvSpPr>
        <p:spPr>
          <a:xfrm>
            <a:off x="749880" y="1636920"/>
            <a:ext cx="2304000" cy="6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5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Macro-F1, balanced accuracy, per-class recall и матрица ошибок.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6" name="Rounded Rectangle 11"/>
          <p:cNvSpPr/>
          <p:nvPr/>
        </p:nvSpPr>
        <p:spPr>
          <a:xfrm>
            <a:off x="3291840" y="1188720"/>
            <a:ext cx="2559960" cy="1462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7" name="Rectangle 12"/>
          <p:cNvSpPr/>
          <p:nvPr/>
        </p:nvSpPr>
        <p:spPr>
          <a:xfrm>
            <a:off x="3310200" y="1307520"/>
            <a:ext cx="50040" cy="1225080"/>
          </a:xfrm>
          <a:prstGeom prst="rect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8" name="TextBox 13"/>
          <p:cNvSpPr/>
          <p:nvPr/>
        </p:nvSpPr>
        <p:spPr>
          <a:xfrm>
            <a:off x="3447360" y="1289160"/>
            <a:ext cx="2304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Веса классов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9" name="TextBox 14"/>
          <p:cNvSpPr/>
          <p:nvPr/>
        </p:nvSpPr>
        <p:spPr>
          <a:xfrm>
            <a:off x="3447360" y="1636920"/>
            <a:ext cx="2304000" cy="94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7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class_weight="balanced" или веса ошибок при обучении, если модель поддерживает.</a:t>
            </a:r>
            <a:endParaRPr lang="ru-RU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0" name="Rounded Rectangle 15"/>
          <p:cNvSpPr/>
          <p:nvPr/>
        </p:nvSpPr>
        <p:spPr>
          <a:xfrm>
            <a:off x="5989320" y="1188720"/>
            <a:ext cx="2559960" cy="1462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1" name="Rectangle 16"/>
          <p:cNvSpPr/>
          <p:nvPr/>
        </p:nvSpPr>
        <p:spPr>
          <a:xfrm>
            <a:off x="6007680" y="1307520"/>
            <a:ext cx="50040" cy="122508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2" name="TextBox 17"/>
          <p:cNvSpPr/>
          <p:nvPr/>
        </p:nvSpPr>
        <p:spPr>
          <a:xfrm>
            <a:off x="6144840" y="1289160"/>
            <a:ext cx="2304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Ресэмплинг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3" name="TextBox 18"/>
          <p:cNvSpPr/>
          <p:nvPr/>
        </p:nvSpPr>
        <p:spPr>
          <a:xfrm>
            <a:off x="6144840" y="1636920"/>
            <a:ext cx="2304000" cy="83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5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Oversampling / undersampling - только внутри train-части каждого фолда. Добавить или убрать часть данных из train для соблюдения баланса между классами.</a:t>
            </a:r>
            <a:endParaRPr lang="ru-RU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4" name="Rounded Rectangle 19"/>
          <p:cNvSpPr/>
          <p:nvPr/>
        </p:nvSpPr>
        <p:spPr>
          <a:xfrm>
            <a:off x="594360" y="2971800"/>
            <a:ext cx="379440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5" name="Rectangle 20"/>
          <p:cNvSpPr/>
          <p:nvPr/>
        </p:nvSpPr>
        <p:spPr>
          <a:xfrm>
            <a:off x="612720" y="3090600"/>
            <a:ext cx="50040" cy="1179360"/>
          </a:xfrm>
          <a:prstGeom prst="rect">
            <a:avLst/>
          </a:prstGeom>
          <a:solidFill>
            <a:srgbClr val="3989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6" name="TextBox 21"/>
          <p:cNvSpPr/>
          <p:nvPr/>
        </p:nvSpPr>
        <p:spPr>
          <a:xfrm>
            <a:off x="749880" y="3072240"/>
            <a:ext cx="3538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Порог и решение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7" name="TextBox 22"/>
          <p:cNvSpPr/>
          <p:nvPr/>
        </p:nvSpPr>
        <p:spPr>
          <a:xfrm>
            <a:off x="749880" y="3420000"/>
            <a:ext cx="3538440" cy="6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5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Настраивать пороги по validation с учётом требуемой полноты, precision или цены ошибки.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8" name="Rounded Rectangle 23"/>
          <p:cNvSpPr/>
          <p:nvPr/>
        </p:nvSpPr>
        <p:spPr>
          <a:xfrm>
            <a:off x="4617720" y="2971800"/>
            <a:ext cx="379440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9" name="Rectangle 24"/>
          <p:cNvSpPr/>
          <p:nvPr/>
        </p:nvSpPr>
        <p:spPr>
          <a:xfrm>
            <a:off x="4636080" y="3090600"/>
            <a:ext cx="50040" cy="1179360"/>
          </a:xfrm>
          <a:prstGeom prst="rect">
            <a:avLst/>
          </a:prstGeom>
          <a:solidFill>
            <a:srgbClr val="B44C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0" name="TextBox 25"/>
          <p:cNvSpPr/>
          <p:nvPr/>
        </p:nvSpPr>
        <p:spPr>
          <a:xfrm>
            <a:off x="4773240" y="3072240"/>
            <a:ext cx="3538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Дополнительные данные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1" name="TextBox 26"/>
          <p:cNvSpPr/>
          <p:nvPr/>
        </p:nvSpPr>
        <p:spPr>
          <a:xfrm>
            <a:off x="4773240" y="3420000"/>
            <a:ext cx="353844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5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Часто лучше собрать и проверить новые примеры редкого класса, чем механически копировать имеющиеся.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2" name="TextBox 27"/>
          <p:cNvSpPr/>
          <p:nvPr/>
        </p:nvSpPr>
        <p:spPr>
          <a:xfrm>
            <a:off x="777240" y="4846320"/>
            <a:ext cx="75434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ctr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4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Важно: дисбаланс не всегда является проблемой. Проблема возникает, когда метрика или потери не отражают задачу и модель игнорирует важный класс.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Rectangle 1"/>
          <p:cNvSpPr/>
          <p:nvPr/>
        </p:nvSpPr>
        <p:spPr>
          <a:xfrm>
            <a:off x="0" y="0"/>
            <a:ext cx="9143640" cy="82080"/>
          </a:xfrm>
          <a:prstGeom prst="rect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4" name="TextBox 2"/>
          <p:cNvSpPr/>
          <p:nvPr/>
        </p:nvSpPr>
        <p:spPr>
          <a:xfrm>
            <a:off x="438840" y="191880"/>
            <a:ext cx="8137800" cy="4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tIns="13680" rIns="13680" bIns="1368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5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Анализ ошибок - обязательный этап</a:t>
            </a:r>
            <a:endParaRPr lang="ru-RU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5" name="Rectangle 3"/>
          <p:cNvSpPr/>
          <p:nvPr/>
        </p:nvSpPr>
        <p:spPr>
          <a:xfrm>
            <a:off x="448200" y="804600"/>
            <a:ext cx="658080" cy="4068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6" name="Rectangle 4"/>
          <p:cNvSpPr/>
          <p:nvPr/>
        </p:nvSpPr>
        <p:spPr>
          <a:xfrm>
            <a:off x="438840" y="6519600"/>
            <a:ext cx="8265960" cy="10440"/>
          </a:xfrm>
          <a:prstGeom prst="rect">
            <a:avLst/>
          </a:prstGeom>
          <a:solidFill>
            <a:srgbClr val="DDE4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7" name="TextBox 5"/>
          <p:cNvSpPr/>
          <p:nvPr/>
        </p:nvSpPr>
        <p:spPr>
          <a:xfrm>
            <a:off x="457200" y="6565320"/>
            <a:ext cx="59432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820" b="1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ЭКСПЕРИМЕНТ</a:t>
            </a:r>
            <a:endParaRPr lang="ru-RU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8" name="TextBox 6"/>
          <p:cNvSpPr/>
          <p:nvPr/>
        </p:nvSpPr>
        <p:spPr>
          <a:xfrm>
            <a:off x="8229600" y="6546960"/>
            <a:ext cx="41112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850" b="0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32</a:t>
            </a:r>
            <a:endParaRPr lang="ru-RU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9" name="Rounded Rectangle 7"/>
          <p:cNvSpPr/>
          <p:nvPr/>
        </p:nvSpPr>
        <p:spPr>
          <a:xfrm>
            <a:off x="594360" y="1188720"/>
            <a:ext cx="255996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0" name="Rectangle 8"/>
          <p:cNvSpPr/>
          <p:nvPr/>
        </p:nvSpPr>
        <p:spPr>
          <a:xfrm>
            <a:off x="612720" y="1307520"/>
            <a:ext cx="50040" cy="1179360"/>
          </a:xfrm>
          <a:prstGeom prst="rect">
            <a:avLst/>
          </a:prstGeom>
          <a:solidFill>
            <a:srgbClr val="4678B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1" name="TextBox 9"/>
          <p:cNvSpPr/>
          <p:nvPr/>
        </p:nvSpPr>
        <p:spPr>
          <a:xfrm>
            <a:off x="749880" y="1289160"/>
            <a:ext cx="2304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По классам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2" name="TextBox 10"/>
          <p:cNvSpPr/>
          <p:nvPr/>
        </p:nvSpPr>
        <p:spPr>
          <a:xfrm>
            <a:off x="749880" y="1636920"/>
            <a:ext cx="230400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1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Какие классы имеют низкие precision / recall? Каковы типичные пары путаницы?</a:t>
            </a:r>
            <a:endParaRPr lang="ru-RU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3" name="Rounded Rectangle 11"/>
          <p:cNvSpPr/>
          <p:nvPr/>
        </p:nvSpPr>
        <p:spPr>
          <a:xfrm>
            <a:off x="3291840" y="1188720"/>
            <a:ext cx="255996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4" name="Rectangle 12"/>
          <p:cNvSpPr/>
          <p:nvPr/>
        </p:nvSpPr>
        <p:spPr>
          <a:xfrm>
            <a:off x="3310200" y="1307520"/>
            <a:ext cx="50040" cy="1179360"/>
          </a:xfrm>
          <a:prstGeom prst="rect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5" name="TextBox 13"/>
          <p:cNvSpPr/>
          <p:nvPr/>
        </p:nvSpPr>
        <p:spPr>
          <a:xfrm>
            <a:off x="3447360" y="1289160"/>
            <a:ext cx="2304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По группам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6" name="TextBox 14"/>
          <p:cNvSpPr/>
          <p:nvPr/>
        </p:nvSpPr>
        <p:spPr>
          <a:xfrm>
            <a:off x="3447360" y="1636920"/>
            <a:ext cx="230400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1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Проверьте качество по источнику, устройству, времени, подгруппам и качеству входа.</a:t>
            </a:r>
            <a:endParaRPr lang="ru-RU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7" name="Rounded Rectangle 15"/>
          <p:cNvSpPr/>
          <p:nvPr/>
        </p:nvSpPr>
        <p:spPr>
          <a:xfrm>
            <a:off x="5989320" y="1188720"/>
            <a:ext cx="255996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8" name="Rectangle 16"/>
          <p:cNvSpPr/>
          <p:nvPr/>
        </p:nvSpPr>
        <p:spPr>
          <a:xfrm>
            <a:off x="6007680" y="1307520"/>
            <a:ext cx="50040" cy="117936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9" name="TextBox 17"/>
          <p:cNvSpPr/>
          <p:nvPr/>
        </p:nvSpPr>
        <p:spPr>
          <a:xfrm>
            <a:off x="6144840" y="1289160"/>
            <a:ext cx="2304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По уверенности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0" name="TextBox 18"/>
          <p:cNvSpPr/>
          <p:nvPr/>
        </p:nvSpPr>
        <p:spPr>
          <a:xfrm>
            <a:off x="6144840" y="1504440"/>
            <a:ext cx="2304000" cy="19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90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Ошибки с высокой уверенностью указывают на разметку, сдвиг данных или слабую калибровку. Например, если модель классифицирует 100 клиентов и каждому дает вероятность ухода 90% (0.90), а в реальности из них уходит всего 40 человек - модель плохо откалибрована (она сильно завышает свою уверенность).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ru-RU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ru-RU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1" name="Rounded Rectangle 19"/>
          <p:cNvSpPr/>
          <p:nvPr/>
        </p:nvSpPr>
        <p:spPr>
          <a:xfrm>
            <a:off x="594360" y="2971800"/>
            <a:ext cx="3794400" cy="1371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2" name="Rectangle 20"/>
          <p:cNvSpPr/>
          <p:nvPr/>
        </p:nvSpPr>
        <p:spPr>
          <a:xfrm>
            <a:off x="612720" y="3090600"/>
            <a:ext cx="50040" cy="1133640"/>
          </a:xfrm>
          <a:prstGeom prst="rect">
            <a:avLst/>
          </a:prstGeom>
          <a:solidFill>
            <a:srgbClr val="3989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3" name="TextBox 21"/>
          <p:cNvSpPr/>
          <p:nvPr/>
        </p:nvSpPr>
        <p:spPr>
          <a:xfrm>
            <a:off x="749880" y="3072240"/>
            <a:ext cx="3538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Ручной просмотр ошибок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4" name="TextBox 22"/>
          <p:cNvSpPr/>
          <p:nvPr/>
        </p:nvSpPr>
        <p:spPr>
          <a:xfrm>
            <a:off x="749880" y="3420000"/>
            <a:ext cx="3538440" cy="8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2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Сформируйте галерею false positives / false negatives и сопоставьте с типичными признаками.</a:t>
            </a:r>
            <a:endParaRPr lang="ru-RU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5" name="TextBox 27"/>
          <p:cNvSpPr/>
          <p:nvPr/>
        </p:nvSpPr>
        <p:spPr>
          <a:xfrm>
            <a:off x="777240" y="4827960"/>
            <a:ext cx="7497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ctr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4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Не делайте выводы только по одной агрегированной цифре: объясните, на каких объектах система ошибается и что можно исправить.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Rectangle 1"/>
          <p:cNvSpPr/>
          <p:nvPr/>
        </p:nvSpPr>
        <p:spPr>
          <a:xfrm>
            <a:off x="0" y="0"/>
            <a:ext cx="9143640" cy="82080"/>
          </a:xfrm>
          <a:prstGeom prst="rect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7" name="TextBox 2"/>
          <p:cNvSpPr/>
          <p:nvPr/>
        </p:nvSpPr>
        <p:spPr>
          <a:xfrm>
            <a:off x="438840" y="191880"/>
            <a:ext cx="81378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tIns="13680" rIns="13680" bIns="1368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1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Кейс 1. Распознавание рукописных цифр MNIST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8" name="Rectangle 3"/>
          <p:cNvSpPr/>
          <p:nvPr/>
        </p:nvSpPr>
        <p:spPr>
          <a:xfrm>
            <a:off x="448200" y="804600"/>
            <a:ext cx="658080" cy="4068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9" name="Rectangle 4"/>
          <p:cNvSpPr/>
          <p:nvPr/>
        </p:nvSpPr>
        <p:spPr>
          <a:xfrm>
            <a:off x="438840" y="6519600"/>
            <a:ext cx="8265960" cy="10440"/>
          </a:xfrm>
          <a:prstGeom prst="rect">
            <a:avLst/>
          </a:prstGeom>
          <a:solidFill>
            <a:srgbClr val="DDE4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0" name="TextBox 5"/>
          <p:cNvSpPr/>
          <p:nvPr/>
        </p:nvSpPr>
        <p:spPr>
          <a:xfrm>
            <a:off x="457200" y="6565320"/>
            <a:ext cx="59432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820" b="1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ПРИМЕНЕНИЕ</a:t>
            </a:r>
            <a:endParaRPr lang="ru-RU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1" name="TextBox 6"/>
          <p:cNvSpPr/>
          <p:nvPr/>
        </p:nvSpPr>
        <p:spPr>
          <a:xfrm>
            <a:off x="8229600" y="6546960"/>
            <a:ext cx="41112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850" b="0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33</a:t>
            </a:r>
            <a:endParaRPr lang="ru-RU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32" name="Picture 8" descr="s14_sh02_Рисунок_4.png"/>
          <p:cNvPicPr/>
          <p:nvPr/>
        </p:nvPicPr>
        <p:blipFill>
          <a:blip r:embed="rId1"/>
          <a:stretch/>
        </p:blipFill>
        <p:spPr>
          <a:xfrm>
            <a:off x="548640" y="1259280"/>
            <a:ext cx="4251600" cy="237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3" name="Rounded Rectangle 9"/>
          <p:cNvSpPr/>
          <p:nvPr/>
        </p:nvSpPr>
        <p:spPr>
          <a:xfrm>
            <a:off x="5074920" y="1280160"/>
            <a:ext cx="3428640" cy="1051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4" name="Rectangle 10"/>
          <p:cNvSpPr/>
          <p:nvPr/>
        </p:nvSpPr>
        <p:spPr>
          <a:xfrm>
            <a:off x="5093280" y="1398960"/>
            <a:ext cx="50040" cy="813600"/>
          </a:xfrm>
          <a:prstGeom prst="rect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5" name="TextBox 11"/>
          <p:cNvSpPr/>
          <p:nvPr/>
        </p:nvSpPr>
        <p:spPr>
          <a:xfrm>
            <a:off x="5230440" y="1380600"/>
            <a:ext cx="3172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Данные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6" name="TextBox 12"/>
          <p:cNvSpPr/>
          <p:nvPr/>
        </p:nvSpPr>
        <p:spPr>
          <a:xfrm>
            <a:off x="5230440" y="1728360"/>
            <a:ext cx="31726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6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60 000 обучающих и 10 000 тестовых изображений; 10 классов.</a:t>
            </a:r>
            <a:endParaRPr lang="ru-RU" sz="1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7" name="Rounded Rectangle 13"/>
          <p:cNvSpPr/>
          <p:nvPr/>
        </p:nvSpPr>
        <p:spPr>
          <a:xfrm>
            <a:off x="5074920" y="2560320"/>
            <a:ext cx="3428640" cy="1051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8" name="Rectangle 14"/>
          <p:cNvSpPr/>
          <p:nvPr/>
        </p:nvSpPr>
        <p:spPr>
          <a:xfrm>
            <a:off x="5093280" y="2679120"/>
            <a:ext cx="50040" cy="813600"/>
          </a:xfrm>
          <a:prstGeom prst="rect">
            <a:avLst/>
          </a:prstGeom>
          <a:solidFill>
            <a:srgbClr val="4678B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9" name="TextBox 15"/>
          <p:cNvSpPr/>
          <p:nvPr/>
        </p:nvSpPr>
        <p:spPr>
          <a:xfrm>
            <a:off x="5230440" y="2660760"/>
            <a:ext cx="3172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Признаки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0" name="TextBox 16"/>
          <p:cNvSpPr/>
          <p:nvPr/>
        </p:nvSpPr>
        <p:spPr>
          <a:xfrm>
            <a:off x="5230440" y="3008520"/>
            <a:ext cx="31726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6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Базовый подход: развернуть 28×28 вектор из 784 пикселей.</a:t>
            </a:r>
            <a:endParaRPr lang="ru-RU" sz="1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1" name="Rounded Rectangle 17"/>
          <p:cNvSpPr/>
          <p:nvPr/>
        </p:nvSpPr>
        <p:spPr>
          <a:xfrm>
            <a:off x="685800" y="4023360"/>
            <a:ext cx="3657240" cy="123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2" name="Rectangle 18"/>
          <p:cNvSpPr/>
          <p:nvPr/>
        </p:nvSpPr>
        <p:spPr>
          <a:xfrm>
            <a:off x="704160" y="4142160"/>
            <a:ext cx="50040" cy="99648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3" name="TextBox 19"/>
          <p:cNvSpPr/>
          <p:nvPr/>
        </p:nvSpPr>
        <p:spPr>
          <a:xfrm>
            <a:off x="841320" y="4123800"/>
            <a:ext cx="34012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Baseline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4" name="TextBox 20"/>
          <p:cNvSpPr/>
          <p:nvPr/>
        </p:nvSpPr>
        <p:spPr>
          <a:xfrm>
            <a:off x="841320" y="4471560"/>
            <a:ext cx="34012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9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Dummy → логистическая регрессия / линейный SVM → RBF-SVC → CNN как более сложный вариант.</a:t>
            </a:r>
            <a:endParaRPr lang="ru-RU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5" name="Rounded Rectangle 21"/>
          <p:cNvSpPr/>
          <p:nvPr/>
        </p:nvSpPr>
        <p:spPr>
          <a:xfrm>
            <a:off x="4617720" y="4023360"/>
            <a:ext cx="3657240" cy="123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6" name="Rectangle 22"/>
          <p:cNvSpPr/>
          <p:nvPr/>
        </p:nvSpPr>
        <p:spPr>
          <a:xfrm>
            <a:off x="4636080" y="4142160"/>
            <a:ext cx="50040" cy="996480"/>
          </a:xfrm>
          <a:prstGeom prst="rect">
            <a:avLst/>
          </a:prstGeom>
          <a:solidFill>
            <a:srgbClr val="3989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7" name="TextBox 23"/>
          <p:cNvSpPr/>
          <p:nvPr/>
        </p:nvSpPr>
        <p:spPr>
          <a:xfrm>
            <a:off x="4773240" y="4123800"/>
            <a:ext cx="34012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Что анализировать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8" name="TextBox 24"/>
          <p:cNvSpPr/>
          <p:nvPr/>
        </p:nvSpPr>
        <p:spPr>
          <a:xfrm>
            <a:off x="4773240" y="4471560"/>
            <a:ext cx="34012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9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Матрицу ошибок (например, похожие цифры), Top-k accuracy, скорость и примеры ошибок.</a:t>
            </a:r>
            <a:endParaRPr lang="ru-RU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Rectangle 1"/>
          <p:cNvSpPr/>
          <p:nvPr/>
        </p:nvSpPr>
        <p:spPr>
          <a:xfrm>
            <a:off x="0" y="0"/>
            <a:ext cx="9143640" cy="82080"/>
          </a:xfrm>
          <a:prstGeom prst="rect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0" name="TextBox 2"/>
          <p:cNvSpPr/>
          <p:nvPr/>
        </p:nvSpPr>
        <p:spPr>
          <a:xfrm>
            <a:off x="438840" y="191880"/>
            <a:ext cx="81378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tIns="13680" rIns="13680" bIns="1368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1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Кейс 2. Классификация эмоциональных категорий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1" name="Rectangle 3"/>
          <p:cNvSpPr/>
          <p:nvPr/>
        </p:nvSpPr>
        <p:spPr>
          <a:xfrm>
            <a:off x="448200" y="804600"/>
            <a:ext cx="658080" cy="4068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2" name="Rectangle 4"/>
          <p:cNvSpPr/>
          <p:nvPr/>
        </p:nvSpPr>
        <p:spPr>
          <a:xfrm>
            <a:off x="438840" y="6519600"/>
            <a:ext cx="8265960" cy="10440"/>
          </a:xfrm>
          <a:prstGeom prst="rect">
            <a:avLst/>
          </a:prstGeom>
          <a:solidFill>
            <a:srgbClr val="DDE4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3" name="TextBox 5"/>
          <p:cNvSpPr/>
          <p:nvPr/>
        </p:nvSpPr>
        <p:spPr>
          <a:xfrm>
            <a:off x="457200" y="6565320"/>
            <a:ext cx="59432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820" b="1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ПРИМЕНЕНИЕ</a:t>
            </a:r>
            <a:endParaRPr lang="ru-RU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4" name="TextBox 6"/>
          <p:cNvSpPr/>
          <p:nvPr/>
        </p:nvSpPr>
        <p:spPr>
          <a:xfrm>
            <a:off x="8229600" y="6546960"/>
            <a:ext cx="41112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850" b="0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34</a:t>
            </a:r>
            <a:endParaRPr lang="ru-RU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55" name="Picture 7" descr="s15_sh03_Рисунок_6.png"/>
          <p:cNvPicPr/>
          <p:nvPr/>
        </p:nvPicPr>
        <p:blipFill>
          <a:blip r:embed="rId1"/>
          <a:stretch/>
        </p:blipFill>
        <p:spPr>
          <a:xfrm>
            <a:off x="731520" y="1350720"/>
            <a:ext cx="1416960" cy="150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56" name="Picture 8" descr="s15_sh02_Рисунок_5.png"/>
          <p:cNvPicPr/>
          <p:nvPr/>
        </p:nvPicPr>
        <p:blipFill>
          <a:blip r:embed="rId2"/>
          <a:stretch/>
        </p:blipFill>
        <p:spPr>
          <a:xfrm>
            <a:off x="2468880" y="1371960"/>
            <a:ext cx="1416960" cy="1461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7" name="Rounded Rectangle 9"/>
          <p:cNvSpPr/>
          <p:nvPr/>
        </p:nvSpPr>
        <p:spPr>
          <a:xfrm>
            <a:off x="685800" y="3063240"/>
            <a:ext cx="1508400" cy="402120"/>
          </a:xfrm>
          <a:prstGeom prst="roundRect">
            <a:avLst>
              <a:gd name="adj" fmla="val 16667"/>
            </a:avLst>
          </a:prstGeom>
          <a:solidFill>
            <a:srgbClr val="E3F3EB"/>
          </a:solidFill>
          <a:ln w="12700">
            <a:solidFill>
              <a:srgbClr val="E3F3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8" name="TextBox 10"/>
          <p:cNvSpPr/>
          <p:nvPr/>
        </p:nvSpPr>
        <p:spPr>
          <a:xfrm>
            <a:off x="722520" y="3081600"/>
            <a:ext cx="1435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1" u="none" strike="noStrike">
                <a:solidFill>
                  <a:srgbClr val="398969"/>
                </a:solidFill>
                <a:effectLst/>
                <a:uFillTx/>
                <a:latin typeface="Arial"/>
              </a:rPr>
              <a:t>Positive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9" name="Rounded Rectangle 11"/>
          <p:cNvSpPr/>
          <p:nvPr/>
        </p:nvSpPr>
        <p:spPr>
          <a:xfrm>
            <a:off x="2423160" y="3063240"/>
            <a:ext cx="1508400" cy="402120"/>
          </a:xfrm>
          <a:prstGeom prst="roundRect">
            <a:avLst>
              <a:gd name="adj" fmla="val 16667"/>
            </a:avLst>
          </a:prstGeom>
          <a:solidFill>
            <a:srgbClr val="F9E7E7"/>
          </a:solidFill>
          <a:ln w="12700">
            <a:solidFill>
              <a:srgbClr val="F9E7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0" name="TextBox 12"/>
          <p:cNvSpPr/>
          <p:nvPr/>
        </p:nvSpPr>
        <p:spPr>
          <a:xfrm>
            <a:off x="2459880" y="3081600"/>
            <a:ext cx="1435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1" u="none" strike="noStrike">
                <a:solidFill>
                  <a:srgbClr val="B44C4C"/>
                </a:solidFill>
                <a:effectLst/>
                <a:uFillTx/>
                <a:latin typeface="Arial"/>
              </a:rPr>
              <a:t>Negative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1" name="Rounded Rectangle 13"/>
          <p:cNvSpPr/>
          <p:nvPr/>
        </p:nvSpPr>
        <p:spPr>
          <a:xfrm>
            <a:off x="4343400" y="1234440"/>
            <a:ext cx="4068720" cy="1096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2" name="Rectangle 14"/>
          <p:cNvSpPr/>
          <p:nvPr/>
        </p:nvSpPr>
        <p:spPr>
          <a:xfrm>
            <a:off x="4361760" y="1353240"/>
            <a:ext cx="50040" cy="859320"/>
          </a:xfrm>
          <a:prstGeom prst="rect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3" name="TextBox 15"/>
          <p:cNvSpPr/>
          <p:nvPr/>
        </p:nvSpPr>
        <p:spPr>
          <a:xfrm>
            <a:off x="4498920" y="1334880"/>
            <a:ext cx="38127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Три класса из исходного примера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4" name="TextBox 16"/>
          <p:cNvSpPr/>
          <p:nvPr/>
        </p:nvSpPr>
        <p:spPr>
          <a:xfrm>
            <a:off x="4498920" y="1682640"/>
            <a:ext cx="381276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6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Positive • Neutral • Negative (датасет VGAF — Video level Group Affect).</a:t>
            </a:r>
            <a:endParaRPr lang="ru-RU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5" name="Rounded Rectangle 17"/>
          <p:cNvSpPr/>
          <p:nvPr/>
        </p:nvSpPr>
        <p:spPr>
          <a:xfrm>
            <a:off x="4343400" y="2578680"/>
            <a:ext cx="4068720" cy="123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6" name="Rectangle 18"/>
          <p:cNvSpPr/>
          <p:nvPr/>
        </p:nvSpPr>
        <p:spPr>
          <a:xfrm>
            <a:off x="4361760" y="2697480"/>
            <a:ext cx="50040" cy="99648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7" name="TextBox 19"/>
          <p:cNvSpPr/>
          <p:nvPr/>
        </p:nvSpPr>
        <p:spPr>
          <a:xfrm>
            <a:off x="4498920" y="2679120"/>
            <a:ext cx="38127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Методологические риски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8" name="TextBox 20"/>
          <p:cNvSpPr/>
          <p:nvPr/>
        </p:nvSpPr>
        <p:spPr>
          <a:xfrm>
            <a:off x="4498920" y="3026520"/>
            <a:ext cx="38127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5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Неоднозначность меток, контекст видео, дисбаланс, корреляция кадров одного человека.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9" name="TextBox 21"/>
          <p:cNvSpPr/>
          <p:nvPr/>
        </p:nvSpPr>
        <p:spPr>
          <a:xfrm>
            <a:off x="777240" y="3886200"/>
            <a:ext cx="74977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ctr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400" b="1" u="none" strike="noStrike">
                <a:solidFill>
                  <a:srgbClr val="B44C4C"/>
                </a:solidFill>
                <a:effectLst/>
                <a:uFillTx/>
                <a:latin typeface="Arial"/>
              </a:rPr>
              <a:t>Если кадры одного видео распределить в train и test случайно, оценка может быть завышена: модель узнает людей, фон или съёмочные условия.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Rectangle 1"/>
          <p:cNvSpPr/>
          <p:nvPr/>
        </p:nvSpPr>
        <p:spPr>
          <a:xfrm>
            <a:off x="0" y="0"/>
            <a:ext cx="9143640" cy="82080"/>
          </a:xfrm>
          <a:prstGeom prst="rect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1" name="TextBox 2"/>
          <p:cNvSpPr/>
          <p:nvPr/>
        </p:nvSpPr>
        <p:spPr>
          <a:xfrm>
            <a:off x="438840" y="191880"/>
            <a:ext cx="81378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tIns="13680" rIns="13680" bIns="1368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5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Кейс 3. Классификация погодных явлений</a:t>
            </a:r>
            <a:endParaRPr lang="ru-RU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2" name="Rectangle 3"/>
          <p:cNvSpPr/>
          <p:nvPr/>
        </p:nvSpPr>
        <p:spPr>
          <a:xfrm>
            <a:off x="448200" y="804600"/>
            <a:ext cx="658080" cy="4068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3" name="Rectangle 4"/>
          <p:cNvSpPr/>
          <p:nvPr/>
        </p:nvSpPr>
        <p:spPr>
          <a:xfrm>
            <a:off x="438840" y="6519600"/>
            <a:ext cx="8265960" cy="10440"/>
          </a:xfrm>
          <a:prstGeom prst="rect">
            <a:avLst/>
          </a:prstGeom>
          <a:solidFill>
            <a:srgbClr val="DDE4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4" name="TextBox 5"/>
          <p:cNvSpPr/>
          <p:nvPr/>
        </p:nvSpPr>
        <p:spPr>
          <a:xfrm>
            <a:off x="457200" y="6565320"/>
            <a:ext cx="59432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820" b="1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ПРИМЕНЕНИЕ</a:t>
            </a:r>
            <a:endParaRPr lang="ru-RU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5" name="TextBox 6"/>
          <p:cNvSpPr/>
          <p:nvPr/>
        </p:nvSpPr>
        <p:spPr>
          <a:xfrm>
            <a:off x="8229600" y="6546960"/>
            <a:ext cx="41112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850" b="0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35</a:t>
            </a:r>
            <a:endParaRPr lang="ru-RU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76" name="Picture 8" descr="s16_sh01_Рисунок_5.png"/>
          <p:cNvPicPr/>
          <p:nvPr/>
        </p:nvPicPr>
        <p:blipFill>
          <a:blip r:embed="rId1"/>
          <a:stretch/>
        </p:blipFill>
        <p:spPr>
          <a:xfrm>
            <a:off x="502920" y="1496520"/>
            <a:ext cx="4525920" cy="3772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7" name="TextBox 9"/>
          <p:cNvSpPr/>
          <p:nvPr/>
        </p:nvSpPr>
        <p:spPr>
          <a:xfrm>
            <a:off x="5257800" y="1261800"/>
            <a:ext cx="32914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5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1125 изображений • 4 класса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8" name="TextBox 10"/>
          <p:cNvSpPr/>
          <p:nvPr/>
        </p:nvSpPr>
        <p:spPr>
          <a:xfrm>
            <a:off x="5257800" y="1828800"/>
            <a:ext cx="959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50" b="1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cloudy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9" name="Rounded Rectangle 11"/>
          <p:cNvSpPr/>
          <p:nvPr/>
        </p:nvSpPr>
        <p:spPr>
          <a:xfrm>
            <a:off x="6263640" y="1828800"/>
            <a:ext cx="1965600" cy="228240"/>
          </a:xfrm>
          <a:prstGeom prst="roundRect">
            <a:avLst>
              <a:gd name="adj" fmla="val 16667"/>
            </a:avLst>
          </a:prstGeom>
          <a:solidFill>
            <a:srgbClr val="EC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0" name="Rounded Rectangle 12"/>
          <p:cNvSpPr/>
          <p:nvPr/>
        </p:nvSpPr>
        <p:spPr>
          <a:xfrm>
            <a:off x="6263640" y="1828800"/>
            <a:ext cx="1651680" cy="228240"/>
          </a:xfrm>
          <a:prstGeom prst="roundRect">
            <a:avLst>
              <a:gd name="adj" fmla="val 16667"/>
            </a:avLst>
          </a:prstGeom>
          <a:solidFill>
            <a:srgbClr val="4678B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1" name="TextBox 13"/>
          <p:cNvSpPr/>
          <p:nvPr/>
        </p:nvSpPr>
        <p:spPr>
          <a:xfrm>
            <a:off x="8247960" y="1828800"/>
            <a:ext cx="4384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1080" b="1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300</a:t>
            </a:r>
            <a:endParaRPr lang="ru-RU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2" name="TextBox 14"/>
          <p:cNvSpPr/>
          <p:nvPr/>
        </p:nvSpPr>
        <p:spPr>
          <a:xfrm>
            <a:off x="5257800" y="2441520"/>
            <a:ext cx="959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50" b="1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sunrise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3" name="Rounded Rectangle 15"/>
          <p:cNvSpPr/>
          <p:nvPr/>
        </p:nvSpPr>
        <p:spPr>
          <a:xfrm>
            <a:off x="6263640" y="2441520"/>
            <a:ext cx="1965600" cy="228240"/>
          </a:xfrm>
          <a:prstGeom prst="roundRect">
            <a:avLst>
              <a:gd name="adj" fmla="val 16667"/>
            </a:avLst>
          </a:prstGeom>
          <a:solidFill>
            <a:srgbClr val="EC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4" name="Rounded Rectangle 16"/>
          <p:cNvSpPr/>
          <p:nvPr/>
        </p:nvSpPr>
        <p:spPr>
          <a:xfrm>
            <a:off x="6263640" y="2441520"/>
            <a:ext cx="1965600" cy="228240"/>
          </a:xfrm>
          <a:prstGeom prst="roundRect">
            <a:avLst>
              <a:gd name="adj" fmla="val 16667"/>
            </a:avLst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5" name="TextBox 17"/>
          <p:cNvSpPr/>
          <p:nvPr/>
        </p:nvSpPr>
        <p:spPr>
          <a:xfrm>
            <a:off x="8247960" y="2441520"/>
            <a:ext cx="4384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1080" b="1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357</a:t>
            </a:r>
            <a:endParaRPr lang="ru-RU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6" name="TextBox 18"/>
          <p:cNvSpPr/>
          <p:nvPr/>
        </p:nvSpPr>
        <p:spPr>
          <a:xfrm>
            <a:off x="5257800" y="3054240"/>
            <a:ext cx="959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50" b="1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rain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7" name="Rounded Rectangle 19"/>
          <p:cNvSpPr/>
          <p:nvPr/>
        </p:nvSpPr>
        <p:spPr>
          <a:xfrm>
            <a:off x="6263640" y="3054240"/>
            <a:ext cx="1965600" cy="228240"/>
          </a:xfrm>
          <a:prstGeom prst="roundRect">
            <a:avLst>
              <a:gd name="adj" fmla="val 16667"/>
            </a:avLst>
          </a:prstGeom>
          <a:solidFill>
            <a:srgbClr val="EC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8" name="Rounded Rectangle 20"/>
          <p:cNvSpPr/>
          <p:nvPr/>
        </p:nvSpPr>
        <p:spPr>
          <a:xfrm>
            <a:off x="6263640" y="3054240"/>
            <a:ext cx="1183680" cy="228240"/>
          </a:xfrm>
          <a:prstGeom prst="roundRect">
            <a:avLst>
              <a:gd name="adj" fmla="val 16667"/>
            </a:avLst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9" name="TextBox 21"/>
          <p:cNvSpPr/>
          <p:nvPr/>
        </p:nvSpPr>
        <p:spPr>
          <a:xfrm>
            <a:off x="8247960" y="3054240"/>
            <a:ext cx="4384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1080" b="1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215</a:t>
            </a:r>
            <a:endParaRPr lang="ru-RU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0" name="TextBox 22"/>
          <p:cNvSpPr/>
          <p:nvPr/>
        </p:nvSpPr>
        <p:spPr>
          <a:xfrm>
            <a:off x="5257800" y="3666600"/>
            <a:ext cx="959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50" b="1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shine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1" name="Rounded Rectangle 23"/>
          <p:cNvSpPr/>
          <p:nvPr/>
        </p:nvSpPr>
        <p:spPr>
          <a:xfrm>
            <a:off x="6263640" y="3666600"/>
            <a:ext cx="1965600" cy="228240"/>
          </a:xfrm>
          <a:prstGeom prst="roundRect">
            <a:avLst>
              <a:gd name="adj" fmla="val 16667"/>
            </a:avLst>
          </a:prstGeom>
          <a:solidFill>
            <a:srgbClr val="EC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2" name="Rounded Rectangle 24"/>
          <p:cNvSpPr/>
          <p:nvPr/>
        </p:nvSpPr>
        <p:spPr>
          <a:xfrm>
            <a:off x="6263640" y="3666600"/>
            <a:ext cx="1392840" cy="228240"/>
          </a:xfrm>
          <a:prstGeom prst="roundRect">
            <a:avLst>
              <a:gd name="adj" fmla="val 16667"/>
            </a:avLst>
          </a:prstGeom>
          <a:solidFill>
            <a:srgbClr val="3989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3" name="TextBox 25"/>
          <p:cNvSpPr/>
          <p:nvPr/>
        </p:nvSpPr>
        <p:spPr>
          <a:xfrm>
            <a:off x="8247960" y="3666600"/>
            <a:ext cx="4384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1080" b="1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253</a:t>
            </a:r>
            <a:endParaRPr lang="ru-RU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4" name="TextBox 27"/>
          <p:cNvSpPr/>
          <p:nvPr/>
        </p:nvSpPr>
        <p:spPr>
          <a:xfrm>
            <a:off x="5257800" y="5230440"/>
            <a:ext cx="3200040" cy="47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5F6F7F"/>
                </a:solidFill>
                <a:effectLst/>
                <a:uFillTx/>
                <a:latin typeface="Arial"/>
                <a:ea typeface="Microsoft YaHei"/>
              </a:rPr>
              <a:t>Источник: </a:t>
            </a: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https://www.kaggle.com/datasets/pratik2901/multiclass-weather-dataset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5" name=""/>
          <p:cNvSpPr txBox="1"/>
          <p:nvPr/>
        </p:nvSpPr>
        <p:spPr>
          <a:xfrm>
            <a:off x="458640" y="5979240"/>
            <a:ext cx="8181360" cy="320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ru-RU" sz="1800" b="0" u="sng" strike="noStrike">
                <a:solidFill>
                  <a:schemeClr val="dk1"/>
                </a:solidFill>
                <a:effectLst/>
                <a:uFillTx/>
                <a:latin typeface="Calibri"/>
                <a:hlinkClick r:id="rId2"/>
              </a:rPr>
              <a:t>https://drive.google.com/file/d/1ZviYBBsl8g0d9XISVhlZPFBfFJCrjK_I/view?usp=sharing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Rectangle 1"/>
          <p:cNvSpPr/>
          <p:nvPr/>
        </p:nvSpPr>
        <p:spPr>
          <a:xfrm>
            <a:off x="0" y="0"/>
            <a:ext cx="9143640" cy="82080"/>
          </a:xfrm>
          <a:prstGeom prst="rect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7" name="TextBox 2"/>
          <p:cNvSpPr/>
          <p:nvPr/>
        </p:nvSpPr>
        <p:spPr>
          <a:xfrm>
            <a:off x="438840" y="191880"/>
            <a:ext cx="813780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tIns="13680" rIns="13680" bIns="1368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9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Проект (защита декабрь)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8" name="Rectangle 3"/>
          <p:cNvSpPr/>
          <p:nvPr/>
        </p:nvSpPr>
        <p:spPr>
          <a:xfrm>
            <a:off x="448200" y="804600"/>
            <a:ext cx="658080" cy="4068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9" name="Rectangle 4"/>
          <p:cNvSpPr/>
          <p:nvPr/>
        </p:nvSpPr>
        <p:spPr>
          <a:xfrm>
            <a:off x="438840" y="6519600"/>
            <a:ext cx="8265960" cy="10440"/>
          </a:xfrm>
          <a:prstGeom prst="rect">
            <a:avLst/>
          </a:prstGeom>
          <a:solidFill>
            <a:srgbClr val="DDE4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0" name="TextBox 5"/>
          <p:cNvSpPr/>
          <p:nvPr/>
        </p:nvSpPr>
        <p:spPr>
          <a:xfrm>
            <a:off x="457200" y="6565320"/>
            <a:ext cx="59432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820" b="1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САМОСТОЯТЕЛЬНАЯ РАБОТА</a:t>
            </a:r>
            <a:endParaRPr lang="ru-RU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1" name="TextBox 6"/>
          <p:cNvSpPr/>
          <p:nvPr/>
        </p:nvSpPr>
        <p:spPr>
          <a:xfrm>
            <a:off x="8229600" y="6546960"/>
            <a:ext cx="41112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850" b="0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36</a:t>
            </a:r>
            <a:endParaRPr lang="ru-RU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2" name="TextBox 7"/>
          <p:cNvSpPr/>
          <p:nvPr/>
        </p:nvSpPr>
        <p:spPr>
          <a:xfrm>
            <a:off x="640080" y="114300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Формат: команда из 2–3 участников. Можно выбрать открытое соревнование Kaggle или согласованный набор данных.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3" name="Rounded Rectangle 8"/>
          <p:cNvSpPr/>
          <p:nvPr/>
        </p:nvSpPr>
        <p:spPr>
          <a:xfrm>
            <a:off x="594360" y="1828800"/>
            <a:ext cx="3748680" cy="1325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4" name="Rectangle 9"/>
          <p:cNvSpPr/>
          <p:nvPr/>
        </p:nvSpPr>
        <p:spPr>
          <a:xfrm>
            <a:off x="612720" y="1947600"/>
            <a:ext cx="50040" cy="1087920"/>
          </a:xfrm>
          <a:prstGeom prst="rect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5" name="TextBox 10"/>
          <p:cNvSpPr/>
          <p:nvPr/>
        </p:nvSpPr>
        <p:spPr>
          <a:xfrm>
            <a:off x="749880" y="1929240"/>
            <a:ext cx="3492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Этап 1. Постановка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6" name="TextBox 11"/>
          <p:cNvSpPr/>
          <p:nvPr/>
        </p:nvSpPr>
        <p:spPr>
          <a:xfrm>
            <a:off x="749880" y="2277000"/>
            <a:ext cx="349272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4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Опишите цель, целевую переменную, единицу наблюдения, риски утечки и выбранную метрику.</a:t>
            </a:r>
            <a:endParaRPr lang="ru-RU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7" name="Rounded Rectangle 12"/>
          <p:cNvSpPr/>
          <p:nvPr/>
        </p:nvSpPr>
        <p:spPr>
          <a:xfrm>
            <a:off x="4617720" y="1828800"/>
            <a:ext cx="3748680" cy="1325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8" name="Rectangle 13"/>
          <p:cNvSpPr/>
          <p:nvPr/>
        </p:nvSpPr>
        <p:spPr>
          <a:xfrm>
            <a:off x="4636080" y="1947600"/>
            <a:ext cx="50040" cy="1087920"/>
          </a:xfrm>
          <a:prstGeom prst="rect">
            <a:avLst/>
          </a:prstGeom>
          <a:solidFill>
            <a:srgbClr val="4678B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9" name="TextBox 14"/>
          <p:cNvSpPr/>
          <p:nvPr/>
        </p:nvSpPr>
        <p:spPr>
          <a:xfrm>
            <a:off x="4773240" y="1929240"/>
            <a:ext cx="3492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Этап 2. Эксперименты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0" name="TextBox 15"/>
          <p:cNvSpPr/>
          <p:nvPr/>
        </p:nvSpPr>
        <p:spPr>
          <a:xfrm>
            <a:off x="4773240" y="2277000"/>
            <a:ext cx="349272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5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Baseline + минимум 3 модели/настройки; общий split/CV; журнал результатов.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1" name="Rounded Rectangle 16"/>
          <p:cNvSpPr/>
          <p:nvPr/>
        </p:nvSpPr>
        <p:spPr>
          <a:xfrm>
            <a:off x="594360" y="3429000"/>
            <a:ext cx="3748680" cy="1325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2" name="Rectangle 17"/>
          <p:cNvSpPr/>
          <p:nvPr/>
        </p:nvSpPr>
        <p:spPr>
          <a:xfrm>
            <a:off x="612720" y="3547800"/>
            <a:ext cx="50040" cy="108792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3" name="TextBox 18"/>
          <p:cNvSpPr/>
          <p:nvPr/>
        </p:nvSpPr>
        <p:spPr>
          <a:xfrm>
            <a:off x="749880" y="3529440"/>
            <a:ext cx="3492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Этап 3. Анализ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4" name="TextBox 19"/>
          <p:cNvSpPr/>
          <p:nvPr/>
        </p:nvSpPr>
        <p:spPr>
          <a:xfrm>
            <a:off x="749880" y="3877200"/>
            <a:ext cx="349272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5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Матрица ошибок, показатели по классам, дисбаланс, разбор 10 ошибок.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5" name="Rounded Rectangle 20"/>
          <p:cNvSpPr/>
          <p:nvPr/>
        </p:nvSpPr>
        <p:spPr>
          <a:xfrm>
            <a:off x="4617720" y="3429000"/>
            <a:ext cx="3748680" cy="1325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6" name="Rectangle 21"/>
          <p:cNvSpPr/>
          <p:nvPr/>
        </p:nvSpPr>
        <p:spPr>
          <a:xfrm>
            <a:off x="4636080" y="3547800"/>
            <a:ext cx="50040" cy="1087920"/>
          </a:xfrm>
          <a:prstGeom prst="rect">
            <a:avLst/>
          </a:prstGeom>
          <a:solidFill>
            <a:srgbClr val="3989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7" name="TextBox 22"/>
          <p:cNvSpPr/>
          <p:nvPr/>
        </p:nvSpPr>
        <p:spPr>
          <a:xfrm>
            <a:off x="4773240" y="3529440"/>
            <a:ext cx="3492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Этап 4. Итог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8" name="TextBox 23"/>
          <p:cNvSpPr/>
          <p:nvPr/>
        </p:nvSpPr>
        <p:spPr>
          <a:xfrm>
            <a:off x="4773240" y="3877200"/>
            <a:ext cx="349272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4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Notebook/код, краткий отчёт, выводы и ограничения; фиксация random_state и окружения.</a:t>
            </a:r>
            <a:endParaRPr lang="ru-RU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9" name="TextBox 24"/>
          <p:cNvSpPr/>
          <p:nvPr/>
        </p:nvSpPr>
        <p:spPr>
          <a:xfrm>
            <a:off x="777240" y="5120640"/>
            <a:ext cx="7497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t">
            <a:sp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250" b="0" u="none" strike="noStrike">
                <a:solidFill>
                  <a:srgbClr val="4678B2"/>
                </a:solidFill>
                <a:effectLst/>
                <a:uFillTx/>
                <a:latin typeface="Arial"/>
              </a:rPr>
              <a:t>Соревнования: https://www.kaggle.com/competitions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Rectangle 1"/>
          <p:cNvSpPr/>
          <p:nvPr/>
        </p:nvSpPr>
        <p:spPr>
          <a:xfrm>
            <a:off x="0" y="0"/>
            <a:ext cx="9143640" cy="82080"/>
          </a:xfrm>
          <a:prstGeom prst="rect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1" name="TextBox 2"/>
          <p:cNvSpPr/>
          <p:nvPr/>
        </p:nvSpPr>
        <p:spPr>
          <a:xfrm>
            <a:off x="438840" y="191880"/>
            <a:ext cx="81378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tIns="13680" rIns="13680" bIns="1368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5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Ключевые выводы</a:t>
            </a:r>
            <a:endParaRPr lang="ru-RU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2" name="Rectangle 3"/>
          <p:cNvSpPr/>
          <p:nvPr/>
        </p:nvSpPr>
        <p:spPr>
          <a:xfrm>
            <a:off x="448200" y="804600"/>
            <a:ext cx="658080" cy="4068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3" name="Rectangle 4"/>
          <p:cNvSpPr/>
          <p:nvPr/>
        </p:nvSpPr>
        <p:spPr>
          <a:xfrm>
            <a:off x="438840" y="6519600"/>
            <a:ext cx="8265960" cy="10440"/>
          </a:xfrm>
          <a:prstGeom prst="rect">
            <a:avLst/>
          </a:prstGeom>
          <a:solidFill>
            <a:srgbClr val="DDE4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4" name="TextBox 5"/>
          <p:cNvSpPr/>
          <p:nvPr/>
        </p:nvSpPr>
        <p:spPr>
          <a:xfrm>
            <a:off x="457200" y="6565320"/>
            <a:ext cx="59432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820" b="1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ЗАКЛЮЧЕНИЕ</a:t>
            </a:r>
            <a:endParaRPr lang="ru-RU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5" name="TextBox 6"/>
          <p:cNvSpPr/>
          <p:nvPr/>
        </p:nvSpPr>
        <p:spPr>
          <a:xfrm>
            <a:off x="8229600" y="6546960"/>
            <a:ext cx="41112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850" b="0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37</a:t>
            </a:r>
            <a:endParaRPr lang="ru-RU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6" name="Oval 7"/>
          <p:cNvSpPr/>
          <p:nvPr/>
        </p:nvSpPr>
        <p:spPr>
          <a:xfrm>
            <a:off x="731520" y="1344240"/>
            <a:ext cx="77400" cy="77400"/>
          </a:xfrm>
          <a:prstGeom prst="ellipse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0080" rIns="90000" bIns="10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7" name="TextBox 8"/>
          <p:cNvSpPr/>
          <p:nvPr/>
        </p:nvSpPr>
        <p:spPr>
          <a:xfrm>
            <a:off x="896040" y="1234440"/>
            <a:ext cx="769896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45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Многоклассовая классификация — постановка, в которой выбирается один из K классов; multilabel — отдельная постановка.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8" name="Oval 9"/>
          <p:cNvSpPr/>
          <p:nvPr/>
        </p:nvSpPr>
        <p:spPr>
          <a:xfrm>
            <a:off x="731520" y="1901520"/>
            <a:ext cx="77400" cy="77400"/>
          </a:xfrm>
          <a:prstGeom prst="ellipse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0080" rIns="90000" bIns="10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9" name="TextBox 10"/>
          <p:cNvSpPr/>
          <p:nvPr/>
        </p:nvSpPr>
        <p:spPr>
          <a:xfrm>
            <a:off x="896040" y="1792080"/>
            <a:ext cx="769896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45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Есть нативные модели и стратегии OvR / OvO; они отличаются числом моделей, вычислительной стоимостью и механизмом агрегирования.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0" name="Oval 11"/>
          <p:cNvSpPr/>
          <p:nvPr/>
        </p:nvSpPr>
        <p:spPr>
          <a:xfrm>
            <a:off x="731520" y="2459160"/>
            <a:ext cx="77400" cy="77400"/>
          </a:xfrm>
          <a:prstGeom prst="ellipse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0080" rIns="90000" bIns="10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1" name="TextBox 12"/>
          <p:cNvSpPr/>
          <p:nvPr/>
        </p:nvSpPr>
        <p:spPr>
          <a:xfrm>
            <a:off x="896040" y="2349360"/>
            <a:ext cx="769896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45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Модель нельзя выбирать по названию: сравнение требует baseline, единого split/CV и подходящих метрик.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2" name="Oval 13"/>
          <p:cNvSpPr/>
          <p:nvPr/>
        </p:nvSpPr>
        <p:spPr>
          <a:xfrm>
            <a:off x="731520" y="3016800"/>
            <a:ext cx="77400" cy="77400"/>
          </a:xfrm>
          <a:prstGeom prst="ellipse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0080" rIns="90000" bIns="10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3" name="TextBox 14"/>
          <p:cNvSpPr/>
          <p:nvPr/>
        </p:nvSpPr>
        <p:spPr>
          <a:xfrm>
            <a:off x="896040" y="2799000"/>
            <a:ext cx="7698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45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При дисбалансе смотрите macro-F1, balanced accuracy, per-class recall и матрицу ошибок.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4" name="Oval 15"/>
          <p:cNvSpPr/>
          <p:nvPr/>
        </p:nvSpPr>
        <p:spPr>
          <a:xfrm>
            <a:off x="731520" y="3327480"/>
            <a:ext cx="77400" cy="77400"/>
          </a:xfrm>
          <a:prstGeom prst="ellipse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0080" rIns="90000" bIns="10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5" name="TextBox 16"/>
          <p:cNvSpPr/>
          <p:nvPr/>
        </p:nvSpPr>
        <p:spPr>
          <a:xfrm>
            <a:off x="896040" y="3217680"/>
            <a:ext cx="769896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45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Отделяйте train, validation и test; все преобразования обучайте только на train внутри Pipeline.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6" name="Oval 17"/>
          <p:cNvSpPr/>
          <p:nvPr/>
        </p:nvSpPr>
        <p:spPr>
          <a:xfrm>
            <a:off x="731520" y="3885120"/>
            <a:ext cx="77400" cy="77400"/>
          </a:xfrm>
          <a:prstGeom prst="ellipse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0080" rIns="90000" bIns="10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7" name="TextBox 18"/>
          <p:cNvSpPr/>
          <p:nvPr/>
        </p:nvSpPr>
        <p:spPr>
          <a:xfrm>
            <a:off x="896040" y="3775320"/>
            <a:ext cx="7698960" cy="46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450" b="0" u="none" strike="noStrike">
                <a:solidFill>
                  <a:srgbClr val="2A3644"/>
                </a:solidFill>
                <a:effectLst/>
                <a:uFillTx/>
                <a:latin typeface="Arial"/>
              </a:rPr>
              <a:t>Качество вероятностей, цена ошибок, скорость и устойчивость - важные характеристики наряду с accuracy.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Rectangle 1"/>
          <p:cNvSpPr/>
          <p:nvPr/>
        </p:nvSpPr>
        <p:spPr>
          <a:xfrm>
            <a:off x="0" y="0"/>
            <a:ext cx="9143640" cy="82080"/>
          </a:xfrm>
          <a:prstGeom prst="rect">
            <a:avLst/>
          </a:prstGeom>
          <a:solidFill>
            <a:srgbClr val="1489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9" name="TextBox 2"/>
          <p:cNvSpPr/>
          <p:nvPr/>
        </p:nvSpPr>
        <p:spPr>
          <a:xfrm>
            <a:off x="438840" y="191880"/>
            <a:ext cx="81378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tIns="13680" rIns="13680" bIns="1368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90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Источники и документация для дальнейшего изучения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0" name="Rectangle 3"/>
          <p:cNvSpPr/>
          <p:nvPr/>
        </p:nvSpPr>
        <p:spPr>
          <a:xfrm>
            <a:off x="448200" y="804600"/>
            <a:ext cx="658080" cy="40680"/>
          </a:xfrm>
          <a:prstGeom prst="rect">
            <a:avLst/>
          </a:prstGeom>
          <a:solidFill>
            <a:srgbClr val="E68B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1" name="Rectangle 4"/>
          <p:cNvSpPr/>
          <p:nvPr/>
        </p:nvSpPr>
        <p:spPr>
          <a:xfrm>
            <a:off x="438840" y="6519600"/>
            <a:ext cx="8265960" cy="10440"/>
          </a:xfrm>
          <a:prstGeom prst="rect">
            <a:avLst/>
          </a:prstGeom>
          <a:solidFill>
            <a:srgbClr val="DDE4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2" name="TextBox 5"/>
          <p:cNvSpPr/>
          <p:nvPr/>
        </p:nvSpPr>
        <p:spPr>
          <a:xfrm>
            <a:off x="457200" y="6565320"/>
            <a:ext cx="59432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820" b="1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ЛИТЕРАТУРА</a:t>
            </a:r>
            <a:endParaRPr lang="ru-RU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3" name="TextBox 6"/>
          <p:cNvSpPr/>
          <p:nvPr/>
        </p:nvSpPr>
        <p:spPr>
          <a:xfrm>
            <a:off x="8229600" y="6546960"/>
            <a:ext cx="41112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850" b="0" u="none" strike="noStrike">
                <a:solidFill>
                  <a:srgbClr val="5F6F7F"/>
                </a:solidFill>
                <a:effectLst/>
                <a:uFillTx/>
                <a:latin typeface="Arial"/>
              </a:rPr>
              <a:t>38</a:t>
            </a:r>
            <a:endParaRPr lang="ru-RU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4" name="Rounded Rectangle 7"/>
          <p:cNvSpPr/>
          <p:nvPr/>
        </p:nvSpPr>
        <p:spPr>
          <a:xfrm>
            <a:off x="594360" y="1143000"/>
            <a:ext cx="3840120" cy="60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5" name="TextBox 8"/>
          <p:cNvSpPr/>
          <p:nvPr/>
        </p:nvSpPr>
        <p:spPr>
          <a:xfrm>
            <a:off x="704160" y="1197720"/>
            <a:ext cx="3611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8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Multiclass and multioutput algorithms</a:t>
            </a:r>
            <a:endParaRPr lang="ru-RU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6" name="TextBox 9"/>
          <p:cNvSpPr/>
          <p:nvPr/>
        </p:nvSpPr>
        <p:spPr>
          <a:xfrm>
            <a:off x="704160" y="1435680"/>
            <a:ext cx="3611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730" b="0" u="none" strike="noStrike">
                <a:solidFill>
                  <a:srgbClr val="4678B2"/>
                </a:solidFill>
                <a:effectLst/>
                <a:uFillTx/>
                <a:latin typeface="Arial"/>
              </a:rPr>
              <a:t>https://scikit-learn.org/stable/modules/multiclass.html</a:t>
            </a:r>
            <a:endParaRPr lang="ru-RU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7" name="Rounded Rectangle 10"/>
          <p:cNvSpPr/>
          <p:nvPr/>
        </p:nvSpPr>
        <p:spPr>
          <a:xfrm>
            <a:off x="594360" y="1892880"/>
            <a:ext cx="3840120" cy="60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8" name="TextBox 11"/>
          <p:cNvSpPr/>
          <p:nvPr/>
        </p:nvSpPr>
        <p:spPr>
          <a:xfrm>
            <a:off x="704160" y="1947600"/>
            <a:ext cx="3611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8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DecisionTreeClassifier</a:t>
            </a:r>
            <a:endParaRPr lang="ru-RU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9" name="TextBox 12"/>
          <p:cNvSpPr/>
          <p:nvPr/>
        </p:nvSpPr>
        <p:spPr>
          <a:xfrm>
            <a:off x="704160" y="2185560"/>
            <a:ext cx="3611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730" b="0" u="none" strike="noStrike">
                <a:solidFill>
                  <a:srgbClr val="4678B2"/>
                </a:solidFill>
                <a:effectLst/>
                <a:uFillTx/>
                <a:latin typeface="Arial"/>
              </a:rPr>
              <a:t>https://scikit-learn.org/stable/modules/generated/sklearn.tree.DecisionTreeClassifier.html</a:t>
            </a:r>
            <a:endParaRPr lang="ru-RU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0" name="Rounded Rectangle 13"/>
          <p:cNvSpPr/>
          <p:nvPr/>
        </p:nvSpPr>
        <p:spPr>
          <a:xfrm>
            <a:off x="594360" y="2642760"/>
            <a:ext cx="3840120" cy="60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1" name="TextBox 14"/>
          <p:cNvSpPr/>
          <p:nvPr/>
        </p:nvSpPr>
        <p:spPr>
          <a:xfrm>
            <a:off x="704160" y="2697480"/>
            <a:ext cx="3611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8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RandomForestClassifier</a:t>
            </a:r>
            <a:endParaRPr lang="ru-RU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2" name="TextBox 15"/>
          <p:cNvSpPr/>
          <p:nvPr/>
        </p:nvSpPr>
        <p:spPr>
          <a:xfrm>
            <a:off x="704160" y="2935080"/>
            <a:ext cx="3611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730" b="0" u="none" strike="noStrike">
                <a:solidFill>
                  <a:srgbClr val="4678B2"/>
                </a:solidFill>
                <a:effectLst/>
                <a:uFillTx/>
                <a:latin typeface="Arial"/>
              </a:rPr>
              <a:t>https://scikit-learn.org/stable/modules/generated/sklearn.ensemble.RandomForestClassifier.html</a:t>
            </a:r>
            <a:endParaRPr lang="ru-RU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3" name="Rounded Rectangle 16"/>
          <p:cNvSpPr/>
          <p:nvPr/>
        </p:nvSpPr>
        <p:spPr>
          <a:xfrm>
            <a:off x="594360" y="3392280"/>
            <a:ext cx="3840120" cy="60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4" name="TextBox 17"/>
          <p:cNvSpPr/>
          <p:nvPr/>
        </p:nvSpPr>
        <p:spPr>
          <a:xfrm>
            <a:off x="704160" y="3447360"/>
            <a:ext cx="3611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8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SVC / Support Vector Machines</a:t>
            </a:r>
            <a:endParaRPr lang="ru-RU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5" name="TextBox 18"/>
          <p:cNvSpPr/>
          <p:nvPr/>
        </p:nvSpPr>
        <p:spPr>
          <a:xfrm>
            <a:off x="704160" y="3684960"/>
            <a:ext cx="361152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730" b="0" u="none" strike="noStrike">
                <a:solidFill>
                  <a:srgbClr val="4678B2"/>
                </a:solidFill>
                <a:effectLst/>
                <a:uFillTx/>
                <a:latin typeface="Arial"/>
              </a:rPr>
              <a:t>https://scikit-learn.org/stable/modules/generated/sklearn.svm.SVC.html</a:t>
            </a:r>
            <a:endParaRPr lang="ru-RU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6" name="Rounded Rectangle 19"/>
          <p:cNvSpPr/>
          <p:nvPr/>
        </p:nvSpPr>
        <p:spPr>
          <a:xfrm>
            <a:off x="594360" y="4142160"/>
            <a:ext cx="3840120" cy="60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7" name="TextBox 20"/>
          <p:cNvSpPr/>
          <p:nvPr/>
        </p:nvSpPr>
        <p:spPr>
          <a:xfrm>
            <a:off x="704160" y="4197240"/>
            <a:ext cx="3611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8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SGDClassifier</a:t>
            </a:r>
            <a:endParaRPr lang="ru-RU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8" name="TextBox 21"/>
          <p:cNvSpPr/>
          <p:nvPr/>
        </p:nvSpPr>
        <p:spPr>
          <a:xfrm>
            <a:off x="704160" y="4434840"/>
            <a:ext cx="361152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730" b="0" u="none" strike="noStrike">
                <a:solidFill>
                  <a:srgbClr val="4678B2"/>
                </a:solidFill>
                <a:effectLst/>
                <a:uFillTx/>
                <a:latin typeface="Arial"/>
              </a:rPr>
              <a:t>https://scikit-learn.org/stable/modules/generated/sklearn.linear_model.SGDClassifier.html</a:t>
            </a:r>
            <a:endParaRPr lang="ru-RU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9" name="Rounded Rectangle 22"/>
          <p:cNvSpPr/>
          <p:nvPr/>
        </p:nvSpPr>
        <p:spPr>
          <a:xfrm>
            <a:off x="594360" y="4892040"/>
            <a:ext cx="3840120" cy="60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0" name="TextBox 23"/>
          <p:cNvSpPr/>
          <p:nvPr/>
        </p:nvSpPr>
        <p:spPr>
          <a:xfrm>
            <a:off x="704160" y="4946760"/>
            <a:ext cx="3611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8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GaussianNB</a:t>
            </a:r>
            <a:endParaRPr lang="ru-RU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1" name="TextBox 24"/>
          <p:cNvSpPr/>
          <p:nvPr/>
        </p:nvSpPr>
        <p:spPr>
          <a:xfrm>
            <a:off x="704160" y="5184720"/>
            <a:ext cx="361152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730" b="0" u="none" strike="noStrike">
                <a:solidFill>
                  <a:srgbClr val="4678B2"/>
                </a:solidFill>
                <a:effectLst/>
                <a:uFillTx/>
                <a:latin typeface="Arial"/>
              </a:rPr>
              <a:t>https://scikit-learn.org/stable/modules/generated/sklearn.naive_bayes.GaussianNB.html</a:t>
            </a:r>
            <a:endParaRPr lang="ru-RU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2" name="Rounded Rectangle 25"/>
          <p:cNvSpPr/>
          <p:nvPr/>
        </p:nvSpPr>
        <p:spPr>
          <a:xfrm>
            <a:off x="4754880" y="1143000"/>
            <a:ext cx="3840120" cy="60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3" name="TextBox 26"/>
          <p:cNvSpPr/>
          <p:nvPr/>
        </p:nvSpPr>
        <p:spPr>
          <a:xfrm>
            <a:off x="4864680" y="1197720"/>
            <a:ext cx="3611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8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Classification metrics / F1 / confusion matrix</a:t>
            </a:r>
            <a:endParaRPr lang="ru-RU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4" name="TextBox 27"/>
          <p:cNvSpPr/>
          <p:nvPr/>
        </p:nvSpPr>
        <p:spPr>
          <a:xfrm>
            <a:off x="4864680" y="1435680"/>
            <a:ext cx="3611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730" b="0" u="none" strike="noStrike">
                <a:solidFill>
                  <a:srgbClr val="4678B2"/>
                </a:solidFill>
                <a:effectLst/>
                <a:uFillTx/>
                <a:latin typeface="Arial"/>
              </a:rPr>
              <a:t>https://scikit-learn.org/stable/modules/model_evaluation.html</a:t>
            </a:r>
            <a:endParaRPr lang="ru-RU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5" name="Rounded Rectangle 28"/>
          <p:cNvSpPr/>
          <p:nvPr/>
        </p:nvSpPr>
        <p:spPr>
          <a:xfrm>
            <a:off x="4754880" y="1892880"/>
            <a:ext cx="3840120" cy="60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6" name="TextBox 29"/>
          <p:cNvSpPr/>
          <p:nvPr/>
        </p:nvSpPr>
        <p:spPr>
          <a:xfrm>
            <a:off x="4864680" y="1947600"/>
            <a:ext cx="3611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8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Cross-validation</a:t>
            </a:r>
            <a:endParaRPr lang="ru-RU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7" name="TextBox 30"/>
          <p:cNvSpPr/>
          <p:nvPr/>
        </p:nvSpPr>
        <p:spPr>
          <a:xfrm>
            <a:off x="4864680" y="2185560"/>
            <a:ext cx="361152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730" b="0" u="none" strike="noStrike">
                <a:solidFill>
                  <a:srgbClr val="4678B2"/>
                </a:solidFill>
                <a:effectLst/>
                <a:uFillTx/>
                <a:latin typeface="Arial"/>
              </a:rPr>
              <a:t>https://scikit-learn.org/stable/modules/cross_validation.html</a:t>
            </a:r>
            <a:endParaRPr lang="ru-RU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8" name="Rounded Rectangle 31"/>
          <p:cNvSpPr/>
          <p:nvPr/>
        </p:nvSpPr>
        <p:spPr>
          <a:xfrm>
            <a:off x="4754880" y="2642760"/>
            <a:ext cx="3840120" cy="60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9" name="TextBox 32"/>
          <p:cNvSpPr/>
          <p:nvPr/>
        </p:nvSpPr>
        <p:spPr>
          <a:xfrm>
            <a:off x="4864680" y="2697480"/>
            <a:ext cx="3611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8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Common pitfalls: data leakage</a:t>
            </a:r>
            <a:endParaRPr lang="ru-RU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0" name="TextBox 33"/>
          <p:cNvSpPr/>
          <p:nvPr/>
        </p:nvSpPr>
        <p:spPr>
          <a:xfrm>
            <a:off x="4864680" y="2935080"/>
            <a:ext cx="3611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730" b="0" u="none" strike="noStrike">
                <a:solidFill>
                  <a:srgbClr val="4678B2"/>
                </a:solidFill>
                <a:effectLst/>
                <a:uFillTx/>
                <a:latin typeface="Arial"/>
              </a:rPr>
              <a:t>https://scikit-learn.org/stable/common_pitfalls.html</a:t>
            </a:r>
            <a:endParaRPr lang="ru-RU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1" name="Rounded Rectangle 34"/>
          <p:cNvSpPr/>
          <p:nvPr/>
        </p:nvSpPr>
        <p:spPr>
          <a:xfrm>
            <a:off x="4754880" y="3392280"/>
            <a:ext cx="3840120" cy="60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2" name="TextBox 35"/>
          <p:cNvSpPr/>
          <p:nvPr/>
        </p:nvSpPr>
        <p:spPr>
          <a:xfrm>
            <a:off x="4864680" y="3447360"/>
            <a:ext cx="3611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8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Probability calibration</a:t>
            </a:r>
            <a:endParaRPr lang="ru-RU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3" name="TextBox 36"/>
          <p:cNvSpPr/>
          <p:nvPr/>
        </p:nvSpPr>
        <p:spPr>
          <a:xfrm>
            <a:off x="4864680" y="3684960"/>
            <a:ext cx="3611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730" b="0" u="none" strike="noStrike">
                <a:solidFill>
                  <a:srgbClr val="4678B2"/>
                </a:solidFill>
                <a:effectLst/>
                <a:uFillTx/>
                <a:latin typeface="Arial"/>
              </a:rPr>
              <a:t>https://scikit-learn.org/stable/modules/calibration.html</a:t>
            </a:r>
            <a:endParaRPr lang="ru-RU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4" name="Rounded Rectangle 40"/>
          <p:cNvSpPr/>
          <p:nvPr/>
        </p:nvSpPr>
        <p:spPr>
          <a:xfrm>
            <a:off x="4799880" y="4257000"/>
            <a:ext cx="3840120" cy="60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5" name="TextBox 41"/>
          <p:cNvSpPr/>
          <p:nvPr/>
        </p:nvSpPr>
        <p:spPr>
          <a:xfrm>
            <a:off x="4860000" y="4335120"/>
            <a:ext cx="3611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80" b="1" u="none" strike="noStrike">
                <a:solidFill>
                  <a:srgbClr val="162A43"/>
                </a:solidFill>
                <a:effectLst/>
                <a:uFillTx/>
                <a:latin typeface="Arial"/>
              </a:rPr>
              <a:t>Kaggle Competitions</a:t>
            </a:r>
            <a:endParaRPr lang="ru-RU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6" name="TextBox 42"/>
          <p:cNvSpPr/>
          <p:nvPr/>
        </p:nvSpPr>
        <p:spPr>
          <a:xfrm>
            <a:off x="4860000" y="4536000"/>
            <a:ext cx="3611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9000" rIns="9000" bIns="9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730" b="0" u="none" strike="noStrike">
                <a:solidFill>
                  <a:srgbClr val="4678B2"/>
                </a:solidFill>
                <a:effectLst/>
                <a:uFillTx/>
                <a:latin typeface="Arial"/>
              </a:rPr>
              <a:t>https://www.kaggle.com/competitions</a:t>
            </a:r>
            <a:endParaRPr lang="ru-RU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</TotalTime>
  <Application>LibreOffice/26.2.5.2$Windows_X86_64 LibreOffice_project/cd7284b4cbbfeb507e630c1aac019f4157393acb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Савченко Людмила Васильевна; расширенная редакция с помощью OpenAI</dc:creator>
  <dc:description>generated using python-pptx</dc:description>
  <cp:keywords>multiclass classification scikit-learn machine learning metrics</cp:keywords>
  <dc:language>ru-RU</dc:language>
  <cp:lastModifiedBy/>
  <dcterms:modified xsi:type="dcterms:W3CDTF">2026-10-11T13:50:45Z</dcterms:modified>
  <cp:revision>13</cp:revision>
  <dc:subject>Методы машинного обучения, многоклассовая классификация и оценка моделей</dc:subject>
  <dc:title>Многоклассовая классификация — расширенная лекция для магистрантов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