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BC021E8-9DA0-4866-98BF-6B17F29EE78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DA8046-9B32-479D-AA68-FDE7454A8B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A0A8A9-BC30-4387-A4AF-6A65C196DC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ACA9F6-AC1C-41C1-B668-7B721B0B70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AB5964-08D6-41A8-9B64-E4341CEF1F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8EF3EA-7E10-4824-8115-CB443A51B6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FE7948-7B67-4F97-AEB9-D68B200555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3F5BEF-045D-468A-924C-BBB6CAAC4C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93CB6F-BAA4-461E-ABD9-1AFE7DF49A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1A2CF6-23DD-4088-93C6-66C09F39A4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5590BE-B402-44F8-89BB-D6D06715C9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4093CB-C106-4711-83CB-C8FBD56223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4517F5C-44D5-4D42-9F7F-04FAA721DB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154632-AC11-4FC2-A0F6-FC6A0812DF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2D17A6-34D2-4D01-8604-17DBD8C2FE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0E76A1-6C0F-4DB0-9080-9553BB8E31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2E6ABA-21E7-4EC0-9D58-10609425AD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5BEB6A-D53E-4F7F-B010-8B378303DC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BAC3D3-D270-4E4D-87B2-4DA2EDA48D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0D6D20-7B2E-47DE-A756-0FA01E015C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CD8621-931F-4451-884E-FD0A104B8C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49F6D7-E1A3-4DE3-8CEB-4A9D6CF064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EF95F2-4604-4B94-88FB-B641EABFD4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301F2F-6B03-479C-8A2E-4648FC59FE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FE95DB-4A27-46EB-A330-C7B1A71F22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4A0176-7DF6-46F4-87F3-7159A302CA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345D8B-4CA7-4C59-81DB-41B79F2279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514423-68F3-44E5-9D3F-A1FAC38098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drive.google.com/file/d/17D9MA-hDicjUPRGmQk8dPQhOWmIseKR-/view?usp=sharing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3.png"/><Relationship Id="rId4" Type="http://schemas.openxmlformats.org/officeDocument/2006/relationships/image" Target="../media/image33.png"/><Relationship Id="rId5" Type="http://schemas.openxmlformats.org/officeDocument/2006/relationships/image" Target="../media/image3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7955280" y="-2377440"/>
            <a:ext cx="6856560" cy="6856560"/>
          </a:xfrm>
          <a:prstGeom prst="ellipse">
            <a:avLst/>
          </a:prstGeom>
          <a:solidFill>
            <a:srgbClr val="4038B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194560" y="4572000"/>
            <a:ext cx="4204800" cy="4204800"/>
          </a:xfrm>
          <a:prstGeom prst="ellipse">
            <a:avLst/>
          </a:prstGeom>
          <a:solidFill>
            <a:srgbClr val="4038B8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1828800"/>
            <a:ext cx="9599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50" strike="noStrike">
                <a:solidFill>
                  <a:srgbClr val="9AA0DE"/>
                </a:solidFill>
                <a:effectLst/>
                <a:uFillTx/>
                <a:latin typeface="Calibri"/>
                <a:ea typeface="Calibri"/>
              </a:rPr>
              <a:t>МАШИННОЕ ОБУЧЕНИЕ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2286000"/>
            <a:ext cx="987408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Линейная регрессия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868680" y="3977640"/>
            <a:ext cx="2011680" cy="360"/>
          </a:xfrm>
          <a:prstGeom prst="line">
            <a:avLst/>
          </a:prstGeom>
          <a:ln w="25400">
            <a:solidFill>
              <a:srgbClr val="5B4F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68680" y="4160520"/>
            <a:ext cx="667368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Савченко Людмила Васильевна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Доцент кафедры ИСиТ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lsavchenko@hse.ru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ВВЕДЕНИЕ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Виды машинного обучения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640080" y="1691640"/>
            <a:ext cx="5073480" cy="2330280"/>
          </a:xfrm>
          <a:prstGeom prst="roundRect">
            <a:avLst>
              <a:gd name="adj" fmla="val 4706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846000" y="1897560"/>
            <a:ext cx="592920" cy="5929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icons/user.png"/>
          <p:cNvPicPr/>
          <p:nvPr/>
        </p:nvPicPr>
        <p:blipFill>
          <a:blip r:embed="rId1"/>
          <a:stretch/>
        </p:blipFill>
        <p:spPr>
          <a:xfrm>
            <a:off x="988560" y="2040120"/>
            <a:ext cx="307800" cy="3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5"/>
          <p:cNvSpPr/>
          <p:nvPr/>
        </p:nvSpPr>
        <p:spPr>
          <a:xfrm>
            <a:off x="1508760" y="1947600"/>
            <a:ext cx="32446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С учителем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1508760" y="2295000"/>
            <a:ext cx="32446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(supervised learning)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914400" y="2926080"/>
            <a:ext cx="38847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F4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Регрессия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F4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Классификация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6172200" y="1691640"/>
            <a:ext cx="5073480" cy="2330280"/>
          </a:xfrm>
          <a:prstGeom prst="roundRect">
            <a:avLst>
              <a:gd name="adj" fmla="val 4706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6378120" y="1897560"/>
            <a:ext cx="592920" cy="5929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1" descr="icons/users.png"/>
          <p:cNvPicPr/>
          <p:nvPr/>
        </p:nvPicPr>
        <p:blipFill>
          <a:blip r:embed="rId2"/>
          <a:stretch/>
        </p:blipFill>
        <p:spPr>
          <a:xfrm>
            <a:off x="6520680" y="2040120"/>
            <a:ext cx="307800" cy="3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10"/>
          <p:cNvSpPr/>
          <p:nvPr/>
        </p:nvSpPr>
        <p:spPr>
          <a:xfrm>
            <a:off x="7132320" y="1947600"/>
            <a:ext cx="3793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Без учителя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7132320" y="2295000"/>
            <a:ext cx="37933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(unsupervised learning)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6629400" y="2926080"/>
            <a:ext cx="4341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F4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Кластеризация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640080" y="4343400"/>
            <a:ext cx="10605600" cy="1598760"/>
          </a:xfrm>
          <a:prstGeom prst="roundRect">
            <a:avLst>
              <a:gd name="adj" fmla="val 6857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4"/>
          <p:cNvSpPr/>
          <p:nvPr/>
        </p:nvSpPr>
        <p:spPr>
          <a:xfrm>
            <a:off x="846000" y="4549320"/>
            <a:ext cx="592920" cy="5929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2" descr="icons/book.png"/>
          <p:cNvPicPr/>
          <p:nvPr/>
        </p:nvPicPr>
        <p:blipFill>
          <a:blip r:embed="rId3"/>
          <a:stretch/>
        </p:blipFill>
        <p:spPr>
          <a:xfrm>
            <a:off x="988560" y="4691880"/>
            <a:ext cx="307800" cy="3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15"/>
          <p:cNvSpPr/>
          <p:nvPr/>
        </p:nvSpPr>
        <p:spPr>
          <a:xfrm>
            <a:off x="1554480" y="454464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Рекомендуемая литература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1417320" y="5001840"/>
            <a:ext cx="859392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1) academy.yandex.ru/handbook/ml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2)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0" u="sng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  <a:hlinkClick r:id="rId4"/>
              </a:rPr>
              <a:t>https://drive.google.com/file/d/17D9MA-hDicjUPRGmQk8dPQhOWmIseKR-/view?usp=sharing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ВВЕДЕНИЕ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Примеры задач машинного обучения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640080" y="1691640"/>
            <a:ext cx="10907280" cy="4479120"/>
          </a:xfrm>
          <a:prstGeom prst="roundRect">
            <a:avLst>
              <a:gd name="adj" fmla="val 2449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assets/mindmap.png"/>
          <p:cNvPicPr/>
          <p:nvPr/>
        </p:nvPicPr>
        <p:blipFill>
          <a:blip r:embed="rId1"/>
          <a:stretch/>
        </p:blipFill>
        <p:spPr>
          <a:xfrm>
            <a:off x="2855520" y="1965960"/>
            <a:ext cx="6476400" cy="393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8897040" y="-2011680"/>
            <a:ext cx="5942160" cy="5942160"/>
          </a:xfrm>
          <a:prstGeom prst="ellipse">
            <a:avLst/>
          </a:prstGeom>
          <a:solidFill>
            <a:srgbClr val="4038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777240" y="2331720"/>
            <a:ext cx="2924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ru-RU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777240" y="3749040"/>
            <a:ext cx="821520" cy="8215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0" descr="icons/target.png"/>
          <p:cNvPicPr/>
          <p:nvPr/>
        </p:nvPicPr>
        <p:blipFill>
          <a:blip r:embed="rId1"/>
          <a:stretch/>
        </p:blipFill>
        <p:spPr>
          <a:xfrm>
            <a:off x="974880" y="3946680"/>
            <a:ext cx="426600" cy="42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3"/>
          <p:cNvSpPr/>
          <p:nvPr/>
        </p:nvSpPr>
        <p:spPr>
          <a:xfrm>
            <a:off x="1645920" y="3794760"/>
            <a:ext cx="86853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Задача регрессии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777240" y="4892040"/>
            <a:ext cx="8685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Постановка задачи и типичные примеры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РЕГРЕССИИ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Постановка задачи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640080" y="1691640"/>
            <a:ext cx="5530680" cy="4479120"/>
          </a:xfrm>
          <a:prstGeom prst="roundRect">
            <a:avLst>
              <a:gd name="adj" fmla="val 2449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960120" y="2011680"/>
            <a:ext cx="4890600" cy="38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Задача регрессии</a:t>
            </a:r>
            <a:r>
              <a:rPr lang="en-US" sz="16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 — прогноз на основе выборки объектов с различными признаками. На выходе должно получиться вещественное число, например цена квартиры, курс валюты, ожидаемый доход магазина на следующий месяц.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6537960" y="1691640"/>
            <a:ext cx="5012280" cy="4479120"/>
          </a:xfrm>
          <a:prstGeom prst="roundRect">
            <a:avLst>
              <a:gd name="adj" fmla="val 2449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0" descr="assets/plot_price_size.png"/>
          <p:cNvPicPr/>
          <p:nvPr/>
        </p:nvPicPr>
        <p:blipFill>
          <a:blip r:embed="rId1"/>
          <a:stretch/>
        </p:blipFill>
        <p:spPr>
          <a:xfrm>
            <a:off x="6858000" y="2640240"/>
            <a:ext cx="4372200" cy="212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6"/>
          <p:cNvSpPr/>
          <p:nvPr/>
        </p:nvSpPr>
        <p:spPr>
          <a:xfrm>
            <a:off x="6858000" y="5486400"/>
            <a:ext cx="4372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Предсказание цены дома в зависимости от площади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РЕГРЕССИИ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Примеры задач регрессии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640080" y="1737360"/>
            <a:ext cx="10907280" cy="839880"/>
          </a:xfrm>
          <a:prstGeom prst="roundRect">
            <a:avLst>
              <a:gd name="adj" fmla="val 13043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891720" y="1906560"/>
            <a:ext cx="501480" cy="5014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0" descr="icons/trend.png"/>
          <p:cNvPicPr/>
          <p:nvPr/>
        </p:nvPicPr>
        <p:blipFill>
          <a:blip r:embed="rId1"/>
          <a:stretch/>
        </p:blipFill>
        <p:spPr>
          <a:xfrm>
            <a:off x="1012320" y="20271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5"/>
          <p:cNvSpPr/>
          <p:nvPr/>
        </p:nvSpPr>
        <p:spPr>
          <a:xfrm>
            <a:off x="1600200" y="1737360"/>
            <a:ext cx="971856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Предсказать курс акций (ценных бумаг, валюты)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640080" y="2706480"/>
            <a:ext cx="10907280" cy="839880"/>
          </a:xfrm>
          <a:prstGeom prst="roundRect">
            <a:avLst>
              <a:gd name="adj" fmla="val 13043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891720" y="2875680"/>
            <a:ext cx="501480" cy="5014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1" descr="icons/trend.png"/>
          <p:cNvPicPr/>
          <p:nvPr/>
        </p:nvPicPr>
        <p:blipFill>
          <a:blip r:embed="rId2"/>
          <a:stretch/>
        </p:blipFill>
        <p:spPr>
          <a:xfrm>
            <a:off x="1012320" y="299664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8"/>
          <p:cNvSpPr/>
          <p:nvPr/>
        </p:nvSpPr>
        <p:spPr>
          <a:xfrm>
            <a:off x="1600200" y="2706480"/>
            <a:ext cx="971856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Предсказать продолжительность жизни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640080" y="3675960"/>
            <a:ext cx="10907280" cy="839880"/>
          </a:xfrm>
          <a:prstGeom prst="roundRect">
            <a:avLst>
              <a:gd name="adj" fmla="val 13043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891720" y="3845160"/>
            <a:ext cx="501480" cy="5014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2" descr="icons/trend.png"/>
          <p:cNvPicPr/>
          <p:nvPr/>
        </p:nvPicPr>
        <p:blipFill>
          <a:blip r:embed="rId3"/>
          <a:stretch/>
        </p:blipFill>
        <p:spPr>
          <a:xfrm>
            <a:off x="1012320" y="39657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11"/>
          <p:cNvSpPr/>
          <p:nvPr/>
        </p:nvSpPr>
        <p:spPr>
          <a:xfrm>
            <a:off x="1600200" y="3675960"/>
            <a:ext cx="971856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Предсказать выручку магазина за месяц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640080" y="4645080"/>
            <a:ext cx="10907280" cy="839880"/>
          </a:xfrm>
          <a:prstGeom prst="roundRect">
            <a:avLst>
              <a:gd name="adj" fmla="val 13043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3"/>
          <p:cNvSpPr/>
          <p:nvPr/>
        </p:nvSpPr>
        <p:spPr>
          <a:xfrm>
            <a:off x="891720" y="4814280"/>
            <a:ext cx="501480" cy="5014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3" descr="icons/trend.png"/>
          <p:cNvPicPr/>
          <p:nvPr/>
        </p:nvPicPr>
        <p:blipFill>
          <a:blip r:embed="rId4"/>
          <a:stretch/>
        </p:blipFill>
        <p:spPr>
          <a:xfrm>
            <a:off x="1012320" y="49348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4"/>
          <p:cNvSpPr/>
          <p:nvPr/>
        </p:nvSpPr>
        <p:spPr>
          <a:xfrm>
            <a:off x="1600200" y="4645080"/>
            <a:ext cx="971856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Предсказать стоимость дома (квартиры)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640080" y="5614560"/>
            <a:ext cx="10907280" cy="839880"/>
          </a:xfrm>
          <a:prstGeom prst="roundRect">
            <a:avLst>
              <a:gd name="adj" fmla="val 13043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6"/>
          <p:cNvSpPr/>
          <p:nvPr/>
        </p:nvSpPr>
        <p:spPr>
          <a:xfrm>
            <a:off x="891720" y="5783760"/>
            <a:ext cx="501480" cy="5014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4" descr="icons/trend.png"/>
          <p:cNvPicPr/>
          <p:nvPr/>
        </p:nvPicPr>
        <p:blipFill>
          <a:blip r:embed="rId5"/>
          <a:stretch/>
        </p:blipFill>
        <p:spPr>
          <a:xfrm>
            <a:off x="1012320" y="59043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17"/>
          <p:cNvSpPr/>
          <p:nvPr/>
        </p:nvSpPr>
        <p:spPr>
          <a:xfrm>
            <a:off x="1600200" y="5614560"/>
            <a:ext cx="971856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Предсказать уровень дохода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8897040" y="-2011680"/>
            <a:ext cx="5942160" cy="5942160"/>
          </a:xfrm>
          <a:prstGeom prst="ellipse">
            <a:avLst/>
          </a:prstGeom>
          <a:solidFill>
            <a:srgbClr val="4038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777240" y="2331720"/>
            <a:ext cx="2924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ru-RU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777240" y="3749040"/>
            <a:ext cx="821520" cy="8215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0" descr="icons/activity.png"/>
          <p:cNvPicPr/>
          <p:nvPr/>
        </p:nvPicPr>
        <p:blipFill>
          <a:blip r:embed="rId1"/>
          <a:stretch/>
        </p:blipFill>
        <p:spPr>
          <a:xfrm>
            <a:off x="974880" y="3946680"/>
            <a:ext cx="426600" cy="42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3"/>
          <p:cNvSpPr/>
          <p:nvPr/>
        </p:nvSpPr>
        <p:spPr>
          <a:xfrm>
            <a:off x="1645920" y="3794760"/>
            <a:ext cx="86853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Линейная регрессия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777240" y="4892040"/>
            <a:ext cx="8685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Определение и математическая модель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ЛИНЕЙНАЯ РЕГРЕССИЯ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Постановка задачи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640080" y="1691640"/>
            <a:ext cx="10907280" cy="2330280"/>
          </a:xfrm>
          <a:prstGeom prst="roundRect">
            <a:avLst>
              <a:gd name="adj" fmla="val 4706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960120" y="1965960"/>
            <a:ext cx="10267200" cy="17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Линейная регрессия </a:t>
            </a:r>
            <a:r>
              <a:rPr lang="en-US" sz="17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(Linear regression) — метод восстановления зависимости одной переменной y от другой или нескольких других переменных x с линейной функцией зависимости. Данный метод позволяет предсказывать значения зависимой переменной y по значениям независимой переменной x.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640080" y="4343400"/>
            <a:ext cx="10907280" cy="1598760"/>
          </a:xfrm>
          <a:prstGeom prst="roundRect">
            <a:avLst>
              <a:gd name="adj" fmla="val 6857"/>
            </a:avLst>
          </a:prstGeom>
          <a:solidFill>
            <a:srgbClr val="20233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640080" y="4343400"/>
            <a:ext cx="1090728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 = θ</a:t>
            </a:r>
            <a:r>
              <a:rPr lang="en-US" sz="26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</a:t>
            </a:r>
            <a:r>
              <a:rPr lang="en-US" sz="26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+ θ</a:t>
            </a:r>
            <a:r>
              <a:rPr lang="en-US" sz="26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r>
              <a:rPr lang="en-US" sz="26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</a:t>
            </a:r>
            <a:r>
              <a:rPr lang="en-US" sz="26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r>
              <a:rPr lang="en-US" sz="26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+ θ</a:t>
            </a:r>
            <a:r>
              <a:rPr lang="en-US" sz="26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r>
              <a:rPr lang="en-US" sz="26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</a:t>
            </a:r>
            <a:r>
              <a:rPr lang="en-US" sz="26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r>
              <a:rPr lang="en-US" sz="26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+ … + θ</a:t>
            </a:r>
            <a:r>
              <a:rPr lang="en-US" sz="26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</a:t>
            </a:r>
            <a:r>
              <a:rPr lang="en-US" sz="26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</a:t>
            </a:r>
            <a:r>
              <a:rPr lang="en-US" sz="26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ЛИНЕЙНАЯ РЕГРЕССИЯ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Векторная форма записи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640080" y="1691640"/>
            <a:ext cx="10907280" cy="4479120"/>
          </a:xfrm>
          <a:prstGeom prst="roundRect">
            <a:avLst>
              <a:gd name="adj" fmla="val 2449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assets/notes_vector_form.png"/>
          <p:cNvPicPr/>
          <p:nvPr/>
        </p:nvPicPr>
        <p:blipFill>
          <a:blip r:embed="rId1"/>
          <a:stretch/>
        </p:blipFill>
        <p:spPr>
          <a:xfrm>
            <a:off x="2580840" y="2057400"/>
            <a:ext cx="7025760" cy="374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ЛИНЕЙНАЯ РЕГРЕССИЯ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Линейная регрессия с одной переменной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640080" y="1783080"/>
            <a:ext cx="5256360" cy="2147400"/>
          </a:xfrm>
          <a:prstGeom prst="roundRect">
            <a:avLst>
              <a:gd name="adj" fmla="val 5106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914400" y="1984320"/>
            <a:ext cx="4707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Гипотеза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914400" y="2468880"/>
            <a:ext cx="47077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20233F"/>
                </a:solidFill>
                <a:effectLst/>
                <a:uFillTx/>
                <a:latin typeface="Cambria"/>
                <a:ea typeface="Cambria"/>
              </a:rPr>
              <a:t>hθ(x) = θ</a:t>
            </a:r>
            <a:r>
              <a:rPr lang="en-US" sz="2000" b="0" i="1" u="none" strike="noStrike" baseline="-40000">
                <a:solidFill>
                  <a:srgbClr val="20233F"/>
                </a:solidFill>
                <a:effectLst/>
                <a:uFillTx/>
                <a:latin typeface="Cambria"/>
                <a:ea typeface="Cambria"/>
              </a:rPr>
              <a:t>0</a:t>
            </a:r>
            <a:r>
              <a:rPr lang="en-US" sz="2000" b="0" i="1" u="none" strike="noStrike">
                <a:solidFill>
                  <a:srgbClr val="20233F"/>
                </a:solidFill>
                <a:effectLst/>
                <a:uFillTx/>
                <a:latin typeface="Cambria"/>
                <a:ea typeface="Cambria"/>
              </a:rPr>
              <a:t> + θ</a:t>
            </a:r>
            <a:r>
              <a:rPr lang="en-US" sz="2000" b="0" i="1" u="none" strike="noStrike" baseline="-40000">
                <a:solidFill>
                  <a:srgbClr val="20233F"/>
                </a:solidFill>
                <a:effectLst/>
                <a:uFillTx/>
                <a:latin typeface="Cambria"/>
                <a:ea typeface="Cambria"/>
              </a:rPr>
              <a:t>1</a:t>
            </a:r>
            <a:r>
              <a:rPr lang="en-US" sz="2000" b="0" i="1" u="none" strike="noStrike">
                <a:solidFill>
                  <a:srgbClr val="20233F"/>
                </a:solidFill>
                <a:effectLst/>
                <a:uFillTx/>
                <a:latin typeface="Cambria"/>
                <a:ea typeface="Cambria"/>
              </a:rPr>
              <a:t>x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914400" y="3200400"/>
            <a:ext cx="47077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Параметры: θ₀, θ₁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6291000" y="1783080"/>
            <a:ext cx="5256360" cy="2147400"/>
          </a:xfrm>
          <a:prstGeom prst="roundRect">
            <a:avLst>
              <a:gd name="adj" fmla="val 5106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6565320" y="1984320"/>
            <a:ext cx="4707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Цель обучения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6565320" y="2441520"/>
            <a:ext cx="47077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rgbClr val="20233F"/>
                </a:solidFill>
                <a:effectLst/>
                <a:uFillTx/>
                <a:latin typeface="Cambria"/>
                <a:ea typeface="Cambria"/>
              </a:rPr>
              <a:t>min J(θ₀, θ₁) по θ₀, θ₁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assets/formula_cost_j.png"/>
          <p:cNvPicPr/>
          <p:nvPr/>
        </p:nvPicPr>
        <p:blipFill>
          <a:blip r:embed="rId1"/>
          <a:stretch/>
        </p:blipFill>
        <p:spPr>
          <a:xfrm>
            <a:off x="6565320" y="2988360"/>
            <a:ext cx="4707720" cy="69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Shape 10"/>
          <p:cNvSpPr/>
          <p:nvPr/>
        </p:nvSpPr>
        <p:spPr>
          <a:xfrm>
            <a:off x="640080" y="4325040"/>
            <a:ext cx="5256360" cy="2147400"/>
          </a:xfrm>
          <a:prstGeom prst="roundRect">
            <a:avLst>
              <a:gd name="adj" fmla="val 5106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1" descr="assets/plot_model_error.png"/>
          <p:cNvPicPr/>
          <p:nvPr/>
        </p:nvPicPr>
        <p:blipFill>
          <a:blip r:embed="rId2"/>
          <a:stretch/>
        </p:blipFill>
        <p:spPr>
          <a:xfrm>
            <a:off x="1463760" y="4507920"/>
            <a:ext cx="3609000" cy="146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11"/>
          <p:cNvSpPr/>
          <p:nvPr/>
        </p:nvSpPr>
        <p:spPr>
          <a:xfrm>
            <a:off x="868680" y="6016680"/>
            <a:ext cx="4799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Модель и ошибка на обучающей выборке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2"/>
          <p:cNvSpPr/>
          <p:nvPr/>
        </p:nvSpPr>
        <p:spPr>
          <a:xfrm>
            <a:off x="6291000" y="4325040"/>
            <a:ext cx="5256360" cy="2147400"/>
          </a:xfrm>
          <a:prstGeom prst="roundRect">
            <a:avLst>
              <a:gd name="adj" fmla="val 5106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2" descr="assets/plot_multi_fit.png"/>
          <p:cNvPicPr/>
          <p:nvPr/>
        </p:nvPicPr>
        <p:blipFill>
          <a:blip r:embed="rId3"/>
          <a:stretch/>
        </p:blipFill>
        <p:spPr>
          <a:xfrm>
            <a:off x="8187120" y="4507920"/>
            <a:ext cx="1464120" cy="146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3"/>
          <p:cNvSpPr/>
          <p:nvPr/>
        </p:nvSpPr>
        <p:spPr>
          <a:xfrm>
            <a:off x="6519600" y="6016680"/>
            <a:ext cx="4799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Варианты линии регрессии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8897040" y="-2011680"/>
            <a:ext cx="5942160" cy="5942160"/>
          </a:xfrm>
          <a:prstGeom prst="ellipse">
            <a:avLst/>
          </a:prstGeom>
          <a:solidFill>
            <a:srgbClr val="4038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777240" y="2331720"/>
            <a:ext cx="2924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ru-RU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777240" y="3749040"/>
            <a:ext cx="821520" cy="8215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0" descr="icons/barchart.png"/>
          <p:cNvPicPr/>
          <p:nvPr/>
        </p:nvPicPr>
        <p:blipFill>
          <a:blip r:embed="rId1"/>
          <a:stretch/>
        </p:blipFill>
        <p:spPr>
          <a:xfrm>
            <a:off x="974880" y="3946680"/>
            <a:ext cx="426600" cy="42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3"/>
          <p:cNvSpPr/>
          <p:nvPr/>
        </p:nvSpPr>
        <p:spPr>
          <a:xfrm>
            <a:off x="1645920" y="3794760"/>
            <a:ext cx="86853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Метрики качества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777240" y="4892040"/>
            <a:ext cx="8685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Как оценить точность модели регрессии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МЕТРИКИ КАЧЕСТВА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MSE — среднеквадратичная ошибка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640080" y="1737360"/>
            <a:ext cx="4296240" cy="2513160"/>
          </a:xfrm>
          <a:prstGeom prst="roundRect">
            <a:avLst>
              <a:gd name="adj" fmla="val 436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868680" y="2011680"/>
            <a:ext cx="3839040" cy="19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N – число наблюдений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yₙ – значение объясняемой переменной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ŷₙ - модельные значения, построенные по оценённым параметрам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5"/>
          <p:cNvSpPr/>
          <p:nvPr/>
        </p:nvSpPr>
        <p:spPr>
          <a:xfrm>
            <a:off x="5303520" y="1737360"/>
            <a:ext cx="6246720" cy="2513160"/>
          </a:xfrm>
          <a:prstGeom prst="roundRect">
            <a:avLst>
              <a:gd name="adj" fmla="val 4364"/>
            </a:avLst>
          </a:prstGeom>
          <a:solidFill>
            <a:srgbClr val="20233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0" descr="assets/mse_formula.png"/>
          <p:cNvPicPr/>
          <p:nvPr/>
        </p:nvPicPr>
        <p:blipFill>
          <a:blip r:embed="rId1"/>
          <a:stretch/>
        </p:blipFill>
        <p:spPr>
          <a:xfrm>
            <a:off x="5904000" y="2011680"/>
            <a:ext cx="5045400" cy="146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6"/>
          <p:cNvSpPr/>
          <p:nvPr/>
        </p:nvSpPr>
        <p:spPr>
          <a:xfrm>
            <a:off x="5303520" y="3474720"/>
            <a:ext cx="62467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RMSE = √MSE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640080" y="4572000"/>
            <a:ext cx="10907280" cy="1735920"/>
          </a:xfrm>
          <a:prstGeom prst="roundRect">
            <a:avLst>
              <a:gd name="adj" fmla="val 6316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914400" y="4800600"/>
            <a:ext cx="103586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Среднеквадратичная ошибка подходит для сравнения двух моделей или для контроля качества во время обучения, но не позволяет сделать выводов о том, насколько хорошо данная модель решает задачу. Например, RMSE = 10 является очень плохим показателем, если целевая переменная принимает значения от 0 до 1, и очень хорошим, если целевая переменная лежит в интервале (10000, 100000).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МЕТРИКИ КАЧЕСТВА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MAE — средняя абсолютная ошибка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640080" y="1737360"/>
            <a:ext cx="4296240" cy="2513160"/>
          </a:xfrm>
          <a:prstGeom prst="roundRect">
            <a:avLst>
              <a:gd name="adj" fmla="val 436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868680" y="2011680"/>
            <a:ext cx="3839040" cy="19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N – число наблюдений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yₙ – значение объясняемой переменной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ŷₙ - модельные значения, построенные по оценённым параметрам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5303520" y="1737360"/>
            <a:ext cx="6246720" cy="2513160"/>
          </a:xfrm>
          <a:prstGeom prst="roundRect">
            <a:avLst>
              <a:gd name="adj" fmla="val 4364"/>
            </a:avLst>
          </a:prstGeom>
          <a:solidFill>
            <a:srgbClr val="20233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0" descr="assets/mae_formula.png"/>
          <p:cNvPicPr/>
          <p:nvPr/>
        </p:nvPicPr>
        <p:blipFill>
          <a:blip r:embed="rId1"/>
          <a:stretch/>
        </p:blipFill>
        <p:spPr>
          <a:xfrm>
            <a:off x="5669280" y="2019960"/>
            <a:ext cx="5515200" cy="194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Shape 6"/>
          <p:cNvSpPr/>
          <p:nvPr/>
        </p:nvSpPr>
        <p:spPr>
          <a:xfrm>
            <a:off x="640080" y="4572000"/>
            <a:ext cx="10907280" cy="1735920"/>
          </a:xfrm>
          <a:prstGeom prst="roundRect">
            <a:avLst>
              <a:gd name="adj" fmla="val 6316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914400" y="4800600"/>
            <a:ext cx="103586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MAE — метрика, которая вычисляет среднюю абсолютную разницу между прогнозируемыми значениями и фактическими значениями в наборе данных. Чем ниже MAE, тем лучше модель соответствует набору данных. Показывает, насколько в среднем ошибается модель.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МЕТРИКИ КАЧЕСТВА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R² — коэффициент детерминации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640080" y="1737360"/>
            <a:ext cx="4296240" cy="2513160"/>
          </a:xfrm>
          <a:prstGeom prst="roundRect">
            <a:avLst>
              <a:gd name="adj" fmla="val 436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868680" y="2011680"/>
            <a:ext cx="3839040" cy="19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n – число наблюдений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yᵢ – значение объясняемой переменной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ȳ – среднее значение объясняемой переменной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ỹ – модельные значения, построенные по оценённым параметрам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5303520" y="1737360"/>
            <a:ext cx="6246720" cy="2513160"/>
          </a:xfrm>
          <a:prstGeom prst="roundRect">
            <a:avLst>
              <a:gd name="adj" fmla="val 4364"/>
            </a:avLst>
          </a:prstGeom>
          <a:solidFill>
            <a:srgbClr val="20233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0" descr="assets/r2_formula.png"/>
          <p:cNvPicPr/>
          <p:nvPr/>
        </p:nvPicPr>
        <p:blipFill>
          <a:blip r:embed="rId1"/>
          <a:stretch/>
        </p:blipFill>
        <p:spPr>
          <a:xfrm>
            <a:off x="6148080" y="2011680"/>
            <a:ext cx="4557600" cy="150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Image 1" descr="assets/r2_formula2.png"/>
          <p:cNvPicPr/>
          <p:nvPr/>
        </p:nvPicPr>
        <p:blipFill>
          <a:blip r:embed="rId2"/>
          <a:stretch/>
        </p:blipFill>
        <p:spPr>
          <a:xfrm>
            <a:off x="7284600" y="3566160"/>
            <a:ext cx="2284560" cy="4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Shape 6"/>
          <p:cNvSpPr/>
          <p:nvPr/>
        </p:nvSpPr>
        <p:spPr>
          <a:xfrm>
            <a:off x="640080" y="4572000"/>
            <a:ext cx="10907280" cy="1735920"/>
          </a:xfrm>
          <a:prstGeom prst="roundRect">
            <a:avLst>
              <a:gd name="adj" fmla="val 6316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914400" y="4800600"/>
            <a:ext cx="1035864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R² принимает значение от 0 до 1 и показывает долю объяснённой дисперсии объясняемого ряда. чем ближе R² к 1, тем лучше модель, тем меньше доля необъяснённого.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8897040" y="-2011680"/>
            <a:ext cx="5942160" cy="5942160"/>
          </a:xfrm>
          <a:prstGeom prst="ellipse">
            <a:avLst/>
          </a:prstGeom>
          <a:solidFill>
            <a:srgbClr val="4038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777240" y="2331720"/>
            <a:ext cx="2924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ru-RU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777240" y="3749040"/>
            <a:ext cx="821520" cy="8215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0" descr="icons/pen.png"/>
          <p:cNvPicPr/>
          <p:nvPr/>
        </p:nvPicPr>
        <p:blipFill>
          <a:blip r:embed="rId1"/>
          <a:stretch/>
        </p:blipFill>
        <p:spPr>
          <a:xfrm>
            <a:off x="974880" y="3946680"/>
            <a:ext cx="426600" cy="42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3"/>
          <p:cNvSpPr/>
          <p:nvPr/>
        </p:nvSpPr>
        <p:spPr>
          <a:xfrm>
            <a:off x="1645920" y="3794760"/>
            <a:ext cx="93254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Метод наименьших квадратов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МЕТОД НАИМЕНЬШИХ КВАДРАТОВ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МНК: (аналитическое решение)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640080" y="1737360"/>
            <a:ext cx="1090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Метод наименьших квадратов минимизирует сумму квадратов регрессионных остатков.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640080" y="2331720"/>
            <a:ext cx="10907280" cy="1415880"/>
          </a:xfrm>
          <a:prstGeom prst="roundRect">
            <a:avLst>
              <a:gd name="adj" fmla="val 7742"/>
            </a:avLst>
          </a:prstGeom>
          <a:solidFill>
            <a:srgbClr val="20233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0" descr="assets/mnk_f.png"/>
          <p:cNvPicPr/>
          <p:nvPr/>
        </p:nvPicPr>
        <p:blipFill>
          <a:blip r:embed="rId1"/>
          <a:stretch/>
        </p:blipFill>
        <p:spPr>
          <a:xfrm>
            <a:off x="914400" y="2702520"/>
            <a:ext cx="1827360" cy="67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Image 1" descr="assets/mnk_argmin.png"/>
          <p:cNvPicPr/>
          <p:nvPr/>
        </p:nvPicPr>
        <p:blipFill>
          <a:blip r:embed="rId2"/>
          <a:stretch/>
        </p:blipFill>
        <p:spPr>
          <a:xfrm>
            <a:off x="3017520" y="2766600"/>
            <a:ext cx="5119200" cy="54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5"/>
          <p:cNvSpPr/>
          <p:nvPr/>
        </p:nvSpPr>
        <p:spPr>
          <a:xfrm>
            <a:off x="8321040" y="2331720"/>
            <a:ext cx="301608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Продифференцировав и приравняв частные производные нулю, получим: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640080" y="4023360"/>
            <a:ext cx="10907280" cy="1735920"/>
          </a:xfrm>
          <a:prstGeom prst="roundRect">
            <a:avLst>
              <a:gd name="adj" fmla="val 6316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2" descr="assets/mnk_b1b0.png"/>
          <p:cNvPicPr/>
          <p:nvPr/>
        </p:nvPicPr>
        <p:blipFill>
          <a:blip r:embed="rId3"/>
          <a:stretch/>
        </p:blipFill>
        <p:spPr>
          <a:xfrm>
            <a:off x="1477800" y="4297680"/>
            <a:ext cx="3444120" cy="118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Image 3" descr="assets/mnk_theta.png"/>
          <p:cNvPicPr/>
          <p:nvPr/>
        </p:nvPicPr>
        <p:blipFill>
          <a:blip r:embed="rId4"/>
          <a:stretch/>
        </p:blipFill>
        <p:spPr>
          <a:xfrm>
            <a:off x="5943600" y="4536360"/>
            <a:ext cx="4570560" cy="70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7"/>
          <p:cNvSpPr/>
          <p:nvPr/>
        </p:nvSpPr>
        <p:spPr>
          <a:xfrm>
            <a:off x="640080" y="6291000"/>
            <a:ext cx="69188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* https://edu.hse.ru/mod/page/view.php?id=628211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МЕТОД НАИМЕНЬШИХ КВАДРАТОВ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МНК: пример (одномерная регрессия)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640080" y="1691640"/>
            <a:ext cx="10907280" cy="2878920"/>
          </a:xfrm>
          <a:prstGeom prst="roundRect">
            <a:avLst>
              <a:gd name="adj" fmla="val 3810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0" descr="assets/mnk_matlab_derivation.png"/>
          <p:cNvPicPr/>
          <p:nvPr/>
        </p:nvPicPr>
        <p:blipFill>
          <a:blip r:embed="rId1"/>
          <a:stretch/>
        </p:blipFill>
        <p:spPr>
          <a:xfrm>
            <a:off x="2881080" y="1874520"/>
            <a:ext cx="6425280" cy="251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Shape 4"/>
          <p:cNvSpPr/>
          <p:nvPr/>
        </p:nvSpPr>
        <p:spPr>
          <a:xfrm>
            <a:off x="640080" y="4846320"/>
            <a:ext cx="10907280" cy="1598760"/>
          </a:xfrm>
          <a:prstGeom prst="roundRect">
            <a:avLst>
              <a:gd name="adj" fmla="val 6857"/>
            </a:avLst>
          </a:prstGeom>
          <a:solidFill>
            <a:srgbClr val="20233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914400" y="5029200"/>
            <a:ext cx="3656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Пример на MATLAB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Image 1" descr="assets/mnk_matlab_code.png"/>
          <p:cNvPicPr/>
          <p:nvPr/>
        </p:nvPicPr>
        <p:blipFill>
          <a:blip r:embed="rId2"/>
          <a:stretch/>
        </p:blipFill>
        <p:spPr>
          <a:xfrm>
            <a:off x="4775040" y="5349240"/>
            <a:ext cx="2637360" cy="91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6"/>
          <p:cNvSpPr/>
          <p:nvPr/>
        </p:nvSpPr>
        <p:spPr>
          <a:xfrm>
            <a:off x="640080" y="640080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* http://www.machinelearning.ru/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МЕТОД НАИМЕНЬШИХ КВАДРАТОВ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Полиномиальная регрессия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640080" y="1737360"/>
            <a:ext cx="10907280" cy="1050120"/>
          </a:xfrm>
          <a:prstGeom prst="roundRect">
            <a:avLst>
              <a:gd name="adj" fmla="val 10435"/>
            </a:avLst>
          </a:prstGeom>
          <a:solidFill>
            <a:srgbClr val="20233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640080" y="1737360"/>
            <a:ext cx="1090728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hθ(x) = θ</a:t>
            </a:r>
            <a:r>
              <a:rPr lang="en-US" sz="22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</a:t>
            </a:r>
            <a:r>
              <a:rPr lang="en-US" sz="22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+ θ</a:t>
            </a:r>
            <a:r>
              <a:rPr lang="en-US" sz="22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r>
              <a:rPr lang="en-US" sz="22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</a:t>
            </a:r>
            <a:r>
              <a:rPr lang="en-US" sz="22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r>
              <a:rPr lang="en-US" sz="22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+ θ</a:t>
            </a:r>
            <a:r>
              <a:rPr lang="en-US" sz="22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r>
              <a:rPr lang="en-US" sz="22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x</a:t>
            </a:r>
            <a:r>
              <a:rPr lang="en-US" sz="2200" b="0" i="1" u="none" strike="noStrike" baseline="-4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r>
              <a:rPr lang="en-US" sz="2200" b="0" i="1" u="none" strike="noStrike" baseline="3000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640080" y="3108960"/>
            <a:ext cx="5270040" cy="3198960"/>
          </a:xfrm>
          <a:prstGeom prst="roundRect">
            <a:avLst>
              <a:gd name="adj" fmla="val 3429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0" descr="assets/poly_scatter.png"/>
          <p:cNvPicPr/>
          <p:nvPr/>
        </p:nvPicPr>
        <p:blipFill>
          <a:blip r:embed="rId1"/>
          <a:stretch/>
        </p:blipFill>
        <p:spPr>
          <a:xfrm>
            <a:off x="963720" y="3337560"/>
            <a:ext cx="4623120" cy="274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Shape 6"/>
          <p:cNvSpPr/>
          <p:nvPr/>
        </p:nvSpPr>
        <p:spPr>
          <a:xfrm>
            <a:off x="6277320" y="3108960"/>
            <a:ext cx="5270040" cy="3198960"/>
          </a:xfrm>
          <a:prstGeom prst="roundRect">
            <a:avLst>
              <a:gd name="adj" fmla="val 3429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1" descr="assets/poly_fit.png"/>
          <p:cNvPicPr/>
          <p:nvPr/>
        </p:nvPicPr>
        <p:blipFill>
          <a:blip r:embed="rId2"/>
          <a:stretch/>
        </p:blipFill>
        <p:spPr>
          <a:xfrm>
            <a:off x="6505920" y="3885840"/>
            <a:ext cx="4812840" cy="164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МЕТОД НАИМЕНЬШИХ КВАДРАТОВ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МНК: пример (полиномиальная регрессия)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640080" y="1691640"/>
            <a:ext cx="10907280" cy="4479120"/>
          </a:xfrm>
          <a:prstGeom prst="roundRect">
            <a:avLst>
              <a:gd name="adj" fmla="val 2449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0" descr="assets/poly_example_full.png"/>
          <p:cNvPicPr/>
          <p:nvPr/>
        </p:nvPicPr>
        <p:blipFill>
          <a:blip r:embed="rId1"/>
          <a:stretch/>
        </p:blipFill>
        <p:spPr>
          <a:xfrm>
            <a:off x="2839320" y="1965960"/>
            <a:ext cx="6508800" cy="370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4"/>
          <p:cNvSpPr/>
          <p:nvPr/>
        </p:nvSpPr>
        <p:spPr>
          <a:xfrm>
            <a:off x="960120" y="571500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* http://www.machinelearning.ru/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8897040" y="-2011680"/>
            <a:ext cx="5942160" cy="5942160"/>
          </a:xfrm>
          <a:prstGeom prst="ellipse">
            <a:avLst/>
          </a:prstGeom>
          <a:solidFill>
            <a:srgbClr val="4038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777240" y="2331720"/>
            <a:ext cx="2924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ru-RU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777240" y="3749040"/>
            <a:ext cx="821520" cy="8215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1645920" y="3794760"/>
            <a:ext cx="86853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Градиентный спуск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27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Градиентный спуск: (численное решение)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8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3"/>
          <p:cNvSpPr/>
          <p:nvPr/>
        </p:nvSpPr>
        <p:spPr>
          <a:xfrm>
            <a:off x="640080" y="6291000"/>
            <a:ext cx="69188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089"/>
                </a:solidFill>
                <a:effectLst/>
                <a:uFillTx/>
                <a:latin typeface="Calibri"/>
                <a:ea typeface="Calibri"/>
              </a:rPr>
              <a:t>* https://edu.hse.ru/mod/page/view.php?id=628205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"/>
          <p:cNvPicPr/>
          <p:nvPr/>
        </p:nvPicPr>
        <p:blipFill>
          <a:blip r:embed="rId1"/>
          <a:stretch/>
        </p:blipFill>
        <p:spPr>
          <a:xfrm>
            <a:off x="2340000" y="1849680"/>
            <a:ext cx="7199280" cy="336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24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Градиентный спуск: алгоритм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1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"/>
          <p:cNvPicPr/>
          <p:nvPr/>
        </p:nvPicPr>
        <p:blipFill>
          <a:blip r:embed="rId1"/>
          <a:stretch/>
        </p:blipFill>
        <p:spPr>
          <a:xfrm>
            <a:off x="1260000" y="1620000"/>
            <a:ext cx="8627400" cy="284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"/>
          <p:cNvPicPr/>
          <p:nvPr/>
        </p:nvPicPr>
        <p:blipFill>
          <a:blip r:embed="rId2"/>
          <a:stretch/>
        </p:blipFill>
        <p:spPr>
          <a:xfrm>
            <a:off x="1193040" y="4500000"/>
            <a:ext cx="3846240" cy="197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"/>
          <p:cNvPicPr/>
          <p:nvPr/>
        </p:nvPicPr>
        <p:blipFill>
          <a:blip r:embed="rId3"/>
          <a:stretch/>
        </p:blipFill>
        <p:spPr>
          <a:xfrm>
            <a:off x="6120000" y="4570560"/>
            <a:ext cx="3239280" cy="173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17"/>
          <p:cNvSpPr/>
          <p:nvPr/>
        </p:nvSpPr>
        <p:spPr>
          <a:xfrm>
            <a:off x="8897040" y="-2011680"/>
            <a:ext cx="5942160" cy="5942160"/>
          </a:xfrm>
          <a:prstGeom prst="ellipse">
            <a:avLst/>
          </a:prstGeom>
          <a:solidFill>
            <a:srgbClr val="4038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9"/>
          <p:cNvSpPr/>
          <p:nvPr/>
        </p:nvSpPr>
        <p:spPr>
          <a:xfrm>
            <a:off x="777240" y="2331720"/>
            <a:ext cx="2924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06</a:t>
            </a:r>
            <a:endParaRPr lang="ru-RU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8"/>
          <p:cNvSpPr/>
          <p:nvPr/>
        </p:nvSpPr>
        <p:spPr>
          <a:xfrm>
            <a:off x="777240" y="3749040"/>
            <a:ext cx="821520" cy="8215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5" descr="icons/checksquare.png"/>
          <p:cNvPicPr/>
          <p:nvPr/>
        </p:nvPicPr>
        <p:blipFill>
          <a:blip r:embed="rId1"/>
          <a:stretch/>
        </p:blipFill>
        <p:spPr>
          <a:xfrm>
            <a:off x="974880" y="3946680"/>
            <a:ext cx="426600" cy="42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20"/>
          <p:cNvSpPr/>
          <p:nvPr/>
        </p:nvSpPr>
        <p:spPr>
          <a:xfrm>
            <a:off x="1645920" y="3794760"/>
            <a:ext cx="868536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Итоги и практика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3"/>
          <p:cNvSpPr/>
          <p:nvPr/>
        </p:nvSpPr>
        <p:spPr>
          <a:xfrm>
            <a:off x="777240" y="4892040"/>
            <a:ext cx="8685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Ключевые выводы и примеры кода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Методы решения задачи линейной регрессии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640080" y="1783080"/>
            <a:ext cx="10907280" cy="748440"/>
          </a:xfrm>
          <a:prstGeom prst="roundRect">
            <a:avLst>
              <a:gd name="adj" fmla="val 1463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4"/>
          <p:cNvSpPr/>
          <p:nvPr/>
        </p:nvSpPr>
        <p:spPr>
          <a:xfrm>
            <a:off x="868680" y="1929240"/>
            <a:ext cx="455760" cy="4557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3" name="Image 0" descr="icons/tool.png"/>
          <p:cNvPicPr/>
          <p:nvPr/>
        </p:nvPicPr>
        <p:blipFill>
          <a:blip r:embed="rId1"/>
          <a:stretch/>
        </p:blipFill>
        <p:spPr>
          <a:xfrm>
            <a:off x="978480" y="2039040"/>
            <a:ext cx="23616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5"/>
          <p:cNvSpPr/>
          <p:nvPr/>
        </p:nvSpPr>
        <p:spPr>
          <a:xfrm>
            <a:off x="1463040" y="1783080"/>
            <a:ext cx="990144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Lasso()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6"/>
          <p:cNvSpPr/>
          <p:nvPr/>
        </p:nvSpPr>
        <p:spPr>
          <a:xfrm>
            <a:off x="640080" y="2651760"/>
            <a:ext cx="10907280" cy="748440"/>
          </a:xfrm>
          <a:prstGeom prst="roundRect">
            <a:avLst>
              <a:gd name="adj" fmla="val 1463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7"/>
          <p:cNvSpPr/>
          <p:nvPr/>
        </p:nvSpPr>
        <p:spPr>
          <a:xfrm>
            <a:off x="868680" y="2797920"/>
            <a:ext cx="455760" cy="4557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1" descr="icons/tool.png"/>
          <p:cNvPicPr/>
          <p:nvPr/>
        </p:nvPicPr>
        <p:blipFill>
          <a:blip r:embed="rId2"/>
          <a:stretch/>
        </p:blipFill>
        <p:spPr>
          <a:xfrm>
            <a:off x="978480" y="2907720"/>
            <a:ext cx="23616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8"/>
          <p:cNvSpPr/>
          <p:nvPr/>
        </p:nvSpPr>
        <p:spPr>
          <a:xfrm>
            <a:off x="1463040" y="2651760"/>
            <a:ext cx="990144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Ridge()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9"/>
          <p:cNvSpPr/>
          <p:nvPr/>
        </p:nvSpPr>
        <p:spPr>
          <a:xfrm>
            <a:off x="640080" y="3520440"/>
            <a:ext cx="10907280" cy="748440"/>
          </a:xfrm>
          <a:prstGeom prst="roundRect">
            <a:avLst>
              <a:gd name="adj" fmla="val 1463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0"/>
          <p:cNvSpPr/>
          <p:nvPr/>
        </p:nvSpPr>
        <p:spPr>
          <a:xfrm>
            <a:off x="868680" y="3666600"/>
            <a:ext cx="455760" cy="4557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1" name="Image 2" descr="icons/tool.png"/>
          <p:cNvPicPr/>
          <p:nvPr/>
        </p:nvPicPr>
        <p:blipFill>
          <a:blip r:embed="rId3"/>
          <a:stretch/>
        </p:blipFill>
        <p:spPr>
          <a:xfrm>
            <a:off x="978480" y="3776400"/>
            <a:ext cx="23616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ext 11"/>
          <p:cNvSpPr/>
          <p:nvPr/>
        </p:nvSpPr>
        <p:spPr>
          <a:xfrm>
            <a:off x="1463040" y="3520440"/>
            <a:ext cx="990144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LinearRegression()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2"/>
          <p:cNvSpPr/>
          <p:nvPr/>
        </p:nvSpPr>
        <p:spPr>
          <a:xfrm>
            <a:off x="640080" y="4389120"/>
            <a:ext cx="10907280" cy="748440"/>
          </a:xfrm>
          <a:prstGeom prst="roundRect">
            <a:avLst>
              <a:gd name="adj" fmla="val 1463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3"/>
          <p:cNvSpPr/>
          <p:nvPr/>
        </p:nvSpPr>
        <p:spPr>
          <a:xfrm>
            <a:off x="868680" y="4535280"/>
            <a:ext cx="455760" cy="4557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3" descr="icons/tool.png"/>
          <p:cNvPicPr/>
          <p:nvPr/>
        </p:nvPicPr>
        <p:blipFill>
          <a:blip r:embed="rId4"/>
          <a:stretch/>
        </p:blipFill>
        <p:spPr>
          <a:xfrm>
            <a:off x="978480" y="4645080"/>
            <a:ext cx="23616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14"/>
          <p:cNvSpPr/>
          <p:nvPr/>
        </p:nvSpPr>
        <p:spPr>
          <a:xfrm>
            <a:off x="1463040" y="4389120"/>
            <a:ext cx="990144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МНК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5"/>
          <p:cNvSpPr/>
          <p:nvPr/>
        </p:nvSpPr>
        <p:spPr>
          <a:xfrm>
            <a:off x="640080" y="5257800"/>
            <a:ext cx="10907280" cy="748440"/>
          </a:xfrm>
          <a:prstGeom prst="roundRect">
            <a:avLst>
              <a:gd name="adj" fmla="val 1463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6"/>
          <p:cNvSpPr/>
          <p:nvPr/>
        </p:nvSpPr>
        <p:spPr>
          <a:xfrm>
            <a:off x="868680" y="5403960"/>
            <a:ext cx="455760" cy="4557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4" descr="icons/tool.png"/>
          <p:cNvPicPr/>
          <p:nvPr/>
        </p:nvPicPr>
        <p:blipFill>
          <a:blip r:embed="rId5"/>
          <a:stretch/>
        </p:blipFill>
        <p:spPr>
          <a:xfrm>
            <a:off x="978480" y="5513760"/>
            <a:ext cx="23616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17"/>
          <p:cNvSpPr/>
          <p:nvPr/>
        </p:nvSpPr>
        <p:spPr>
          <a:xfrm>
            <a:off x="1463040" y="5257800"/>
            <a:ext cx="990144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LAMA — github.com/sb-ai-lab/LightAutoML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Показатели качества при решении задачи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"/>
          <p:cNvSpPr/>
          <p:nvPr/>
        </p:nvSpPr>
        <p:spPr>
          <a:xfrm>
            <a:off x="640080" y="1920240"/>
            <a:ext cx="3427560" cy="3016080"/>
          </a:xfrm>
          <a:prstGeom prst="roundRect">
            <a:avLst>
              <a:gd name="adj" fmla="val 3636"/>
            </a:avLst>
          </a:prstGeom>
          <a:solidFill>
            <a:srgbClr val="20233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822960" y="2743200"/>
            <a:ext cx="30618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RMSE → min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960120" y="3749040"/>
            <a:ext cx="278748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Среднеквадратичная ошибка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6"/>
          <p:cNvSpPr/>
          <p:nvPr/>
        </p:nvSpPr>
        <p:spPr>
          <a:xfrm>
            <a:off x="4380120" y="1920240"/>
            <a:ext cx="3427560" cy="3016080"/>
          </a:xfrm>
          <a:prstGeom prst="roundRect">
            <a:avLst>
              <a:gd name="adj" fmla="val 3636"/>
            </a:avLst>
          </a:prstGeom>
          <a:solidFill>
            <a:srgbClr val="20233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7"/>
          <p:cNvSpPr/>
          <p:nvPr/>
        </p:nvSpPr>
        <p:spPr>
          <a:xfrm>
            <a:off x="4563000" y="2743200"/>
            <a:ext cx="30618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MAE → min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8"/>
          <p:cNvSpPr/>
          <p:nvPr/>
        </p:nvSpPr>
        <p:spPr>
          <a:xfrm>
            <a:off x="4700160" y="3749040"/>
            <a:ext cx="278748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Средняя абсолютная ошибка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9"/>
          <p:cNvSpPr/>
          <p:nvPr/>
        </p:nvSpPr>
        <p:spPr>
          <a:xfrm>
            <a:off x="8119800" y="1920240"/>
            <a:ext cx="3427560" cy="3016080"/>
          </a:xfrm>
          <a:prstGeom prst="roundRect">
            <a:avLst>
              <a:gd name="adj" fmla="val 3636"/>
            </a:avLst>
          </a:prstGeom>
          <a:solidFill>
            <a:srgbClr val="20233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0"/>
          <p:cNvSpPr/>
          <p:nvPr/>
        </p:nvSpPr>
        <p:spPr>
          <a:xfrm>
            <a:off x="8302680" y="2743200"/>
            <a:ext cx="30618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R² → 1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1"/>
          <p:cNvSpPr/>
          <p:nvPr/>
        </p:nvSpPr>
        <p:spPr>
          <a:xfrm>
            <a:off x="8439840" y="3749040"/>
            <a:ext cx="278748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При корректно построенной модели R² &gt; 0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"/>
          <p:cNvSpPr/>
          <p:nvPr/>
        </p:nvSpPr>
        <p:spPr>
          <a:xfrm>
            <a:off x="640080" y="73152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Алгоритм решения задачи регрессии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3"/>
          <p:cNvSpPr/>
          <p:nvPr/>
        </p:nvSpPr>
        <p:spPr>
          <a:xfrm>
            <a:off x="640080" y="1737360"/>
            <a:ext cx="10907280" cy="556200"/>
          </a:xfrm>
          <a:prstGeom prst="roundRect">
            <a:avLst>
              <a:gd name="adj" fmla="val 1967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4"/>
          <p:cNvSpPr/>
          <p:nvPr/>
        </p:nvSpPr>
        <p:spPr>
          <a:xfrm>
            <a:off x="841320" y="1842480"/>
            <a:ext cx="345960" cy="3459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5"/>
          <p:cNvSpPr/>
          <p:nvPr/>
        </p:nvSpPr>
        <p:spPr>
          <a:xfrm>
            <a:off x="841320" y="184248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1371600" y="1737360"/>
            <a:ext cx="999288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Считываем данные. Формируем признаки X и целевую переменную Y.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7"/>
          <p:cNvSpPr/>
          <p:nvPr/>
        </p:nvSpPr>
        <p:spPr>
          <a:xfrm>
            <a:off x="640080" y="2386440"/>
            <a:ext cx="10907280" cy="556200"/>
          </a:xfrm>
          <a:prstGeom prst="roundRect">
            <a:avLst>
              <a:gd name="adj" fmla="val 1967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8"/>
          <p:cNvSpPr/>
          <p:nvPr/>
        </p:nvSpPr>
        <p:spPr>
          <a:xfrm>
            <a:off x="841320" y="2491920"/>
            <a:ext cx="345960" cy="3459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841320" y="249192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0"/>
          <p:cNvSpPr/>
          <p:nvPr/>
        </p:nvSpPr>
        <p:spPr>
          <a:xfrm>
            <a:off x="1371600" y="2386440"/>
            <a:ext cx="999288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Разбиваем исходное множество на train и test (train_test_split()).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1"/>
          <p:cNvSpPr/>
          <p:nvPr/>
        </p:nvSpPr>
        <p:spPr>
          <a:xfrm>
            <a:off x="640080" y="3035880"/>
            <a:ext cx="10907280" cy="556200"/>
          </a:xfrm>
          <a:prstGeom prst="roundRect">
            <a:avLst>
              <a:gd name="adj" fmla="val 1967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2"/>
          <p:cNvSpPr/>
          <p:nvPr/>
        </p:nvSpPr>
        <p:spPr>
          <a:xfrm>
            <a:off x="841320" y="3141000"/>
            <a:ext cx="345960" cy="3459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3"/>
          <p:cNvSpPr/>
          <p:nvPr/>
        </p:nvSpPr>
        <p:spPr>
          <a:xfrm>
            <a:off x="841320" y="314100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4"/>
          <p:cNvSpPr/>
          <p:nvPr/>
        </p:nvSpPr>
        <p:spPr>
          <a:xfrm>
            <a:off x="1371600" y="3035880"/>
            <a:ext cx="999288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Определяем модель (Lasso, Ridge, МНК, LAMA).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5"/>
          <p:cNvSpPr/>
          <p:nvPr/>
        </p:nvSpPr>
        <p:spPr>
          <a:xfrm>
            <a:off x="640080" y="3684960"/>
            <a:ext cx="10907280" cy="556200"/>
          </a:xfrm>
          <a:prstGeom prst="roundRect">
            <a:avLst>
              <a:gd name="adj" fmla="val 1967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6"/>
          <p:cNvSpPr/>
          <p:nvPr/>
        </p:nvSpPr>
        <p:spPr>
          <a:xfrm>
            <a:off x="841320" y="3790080"/>
            <a:ext cx="345960" cy="3459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7"/>
          <p:cNvSpPr/>
          <p:nvPr/>
        </p:nvSpPr>
        <p:spPr>
          <a:xfrm>
            <a:off x="841320" y="379008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8"/>
          <p:cNvSpPr/>
          <p:nvPr/>
        </p:nvSpPr>
        <p:spPr>
          <a:xfrm>
            <a:off x="1371600" y="3684960"/>
            <a:ext cx="999288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Обучаем модель (fit()) на X_train, Y_train.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9"/>
          <p:cNvSpPr/>
          <p:nvPr/>
        </p:nvSpPr>
        <p:spPr>
          <a:xfrm>
            <a:off x="640080" y="4334400"/>
            <a:ext cx="10907280" cy="556200"/>
          </a:xfrm>
          <a:prstGeom prst="roundRect">
            <a:avLst>
              <a:gd name="adj" fmla="val 1967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0"/>
          <p:cNvSpPr/>
          <p:nvPr/>
        </p:nvSpPr>
        <p:spPr>
          <a:xfrm>
            <a:off x="841320" y="4439520"/>
            <a:ext cx="345960" cy="3459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1"/>
          <p:cNvSpPr/>
          <p:nvPr/>
        </p:nvSpPr>
        <p:spPr>
          <a:xfrm>
            <a:off x="841320" y="443952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2"/>
          <p:cNvSpPr/>
          <p:nvPr/>
        </p:nvSpPr>
        <p:spPr>
          <a:xfrm>
            <a:off x="1371600" y="4334400"/>
            <a:ext cx="999288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Предсказываем (predict()) значения на X_test — получаем Y_predict.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3"/>
          <p:cNvSpPr/>
          <p:nvPr/>
        </p:nvSpPr>
        <p:spPr>
          <a:xfrm>
            <a:off x="640080" y="4983480"/>
            <a:ext cx="10907280" cy="556200"/>
          </a:xfrm>
          <a:prstGeom prst="roundRect">
            <a:avLst>
              <a:gd name="adj" fmla="val 1967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4"/>
          <p:cNvSpPr/>
          <p:nvPr/>
        </p:nvSpPr>
        <p:spPr>
          <a:xfrm>
            <a:off x="841320" y="5088600"/>
            <a:ext cx="345960" cy="3459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5"/>
          <p:cNvSpPr/>
          <p:nvPr/>
        </p:nvSpPr>
        <p:spPr>
          <a:xfrm>
            <a:off x="841320" y="508860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6"/>
          <p:cNvSpPr/>
          <p:nvPr/>
        </p:nvSpPr>
        <p:spPr>
          <a:xfrm>
            <a:off x="1371600" y="4983480"/>
            <a:ext cx="999288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Вычисляем показатели качества (RMSE, MAE, R²) для Y_predict и Y_test.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7"/>
          <p:cNvSpPr/>
          <p:nvPr/>
        </p:nvSpPr>
        <p:spPr>
          <a:xfrm>
            <a:off x="640080" y="5632560"/>
            <a:ext cx="10907280" cy="556200"/>
          </a:xfrm>
          <a:prstGeom prst="roundRect">
            <a:avLst>
              <a:gd name="adj" fmla="val 1967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8"/>
          <p:cNvSpPr/>
          <p:nvPr/>
        </p:nvSpPr>
        <p:spPr>
          <a:xfrm>
            <a:off x="841320" y="5738040"/>
            <a:ext cx="345960" cy="3459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9"/>
          <p:cNvSpPr/>
          <p:nvPr/>
        </p:nvSpPr>
        <p:spPr>
          <a:xfrm>
            <a:off x="841320" y="573804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0"/>
          <p:cNvSpPr/>
          <p:nvPr/>
        </p:nvSpPr>
        <p:spPr>
          <a:xfrm>
            <a:off x="1371600" y="5632560"/>
            <a:ext cx="999288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Делаем выводы.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640080" y="411480"/>
            <a:ext cx="95997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640080" y="816840"/>
            <a:ext cx="106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Практика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"/>
          <p:cNvSpPr/>
          <p:nvPr/>
        </p:nvSpPr>
        <p:spPr>
          <a:xfrm>
            <a:off x="11323080" y="6355080"/>
            <a:ext cx="5472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BAFC8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"/>
          <p:cNvSpPr/>
          <p:nvPr/>
        </p:nvSpPr>
        <p:spPr>
          <a:xfrm>
            <a:off x="640080" y="1737360"/>
            <a:ext cx="5256360" cy="4479120"/>
          </a:xfrm>
          <a:prstGeom prst="roundRect">
            <a:avLst>
              <a:gd name="adj" fmla="val 2449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4"/>
          <p:cNvSpPr/>
          <p:nvPr/>
        </p:nvSpPr>
        <p:spPr>
          <a:xfrm>
            <a:off x="846000" y="1943280"/>
            <a:ext cx="592920" cy="5929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 0" descr="icons/extlink.png"/>
          <p:cNvPicPr/>
          <p:nvPr/>
        </p:nvPicPr>
        <p:blipFill>
          <a:blip r:embed="rId1"/>
          <a:stretch/>
        </p:blipFill>
        <p:spPr>
          <a:xfrm>
            <a:off x="988560" y="2085840"/>
            <a:ext cx="307800" cy="3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5"/>
          <p:cNvSpPr/>
          <p:nvPr/>
        </p:nvSpPr>
        <p:spPr>
          <a:xfrm>
            <a:off x="1600200" y="1965960"/>
            <a:ext cx="4067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Пример линейной регрессии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1005840" y="2880360"/>
            <a:ext cx="45248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Ноутбук с полным разбором задачи линейной регрессии в Google Colab: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7"/>
          <p:cNvSpPr/>
          <p:nvPr/>
        </p:nvSpPr>
        <p:spPr>
          <a:xfrm>
            <a:off x="1005840" y="3566160"/>
            <a:ext cx="452484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colab.research.google.com/drive/1QN1V-R706Bloir_YPrD0xJjPCzH2fREj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 1" descr="icons/search.png"/>
          <p:cNvPicPr/>
          <p:nvPr/>
        </p:nvPicPr>
        <p:blipFill>
          <a:blip r:embed="rId2"/>
          <a:stretch/>
        </p:blipFill>
        <p:spPr>
          <a:xfrm>
            <a:off x="6639480" y="2085840"/>
            <a:ext cx="307800" cy="3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Text 10"/>
          <p:cNvSpPr/>
          <p:nvPr/>
        </p:nvSpPr>
        <p:spPr>
          <a:xfrm>
            <a:off x="6878520" y="482040"/>
            <a:ext cx="40676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Cambria"/>
                <a:ea typeface="Cambria"/>
              </a:rPr>
              <a:t>Пример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</a:t>
            </a: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Cambria"/>
                <a:ea typeface="Cambria"/>
              </a:rPr>
              <a:t>использования GridSearchCV()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" name="Image 2" descr="assets/gridsearch_code.png"/>
          <p:cNvPicPr/>
          <p:nvPr/>
        </p:nvPicPr>
        <p:blipFill>
          <a:blip r:embed="rId3"/>
          <a:stretch/>
        </p:blipFill>
        <p:spPr>
          <a:xfrm>
            <a:off x="6660000" y="1260000"/>
            <a:ext cx="4858920" cy="476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Text 11"/>
          <p:cNvSpPr/>
          <p:nvPr/>
        </p:nvSpPr>
        <p:spPr>
          <a:xfrm>
            <a:off x="6611040" y="619956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https://scikit-learn.ru/stable/modules/generated/sklearn.model_selection.GridSearchCV.html#sklearn.model_selection.GridSearchCV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540000" y="5745960"/>
            <a:ext cx="5580000" cy="37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https://colab.research.google.com/drive/1IFFz1PSI5yolS8QXEpgUWbevv93qgO5E?usp=sharing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4696200" y="242280"/>
            <a:ext cx="2863080" cy="47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Примеры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9" name=""/>
          <p:cNvPicPr/>
          <p:nvPr/>
        </p:nvPicPr>
        <p:blipFill>
          <a:blip r:embed="rId1"/>
          <a:stretch/>
        </p:blipFill>
        <p:spPr>
          <a:xfrm>
            <a:off x="720000" y="899640"/>
            <a:ext cx="7345440" cy="21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"/>
          <p:cNvSpPr/>
          <p:nvPr/>
        </p:nvSpPr>
        <p:spPr>
          <a:xfrm>
            <a:off x="883800" y="3196800"/>
            <a:ext cx="793548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(*) (21000 – 20000)/20000=0.05 Относительная разница ошибок 5%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(**) О качестве модели нельзя судить только по значению ошибок. Нет самих данных, диапазона изменения.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1" name=""/>
          <p:cNvPicPr/>
          <p:nvPr/>
        </p:nvPicPr>
        <p:blipFill>
          <a:blip r:embed="rId2"/>
          <a:stretch/>
        </p:blipFill>
        <p:spPr>
          <a:xfrm>
            <a:off x="900000" y="3605400"/>
            <a:ext cx="6299280" cy="251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"/>
          <p:cNvSpPr/>
          <p:nvPr/>
        </p:nvSpPr>
        <p:spPr>
          <a:xfrm>
            <a:off x="921240" y="6120000"/>
            <a:ext cx="627804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Если функция дифференцируема, то ее можно минимизировать градиентным спуском. Первая функция не дифференцируема.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Application>LibreOffice/26.2.4.2$Windows_X86_64 LibreOffice_project/0229ac93fcf0d7cbc6376066c6f35021cef002dc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2026-09-09T08:07:44Z</dcterms:created>
  <dc:creator>PptxGenJS</dc:creator>
  <dc:description/>
  <dc:language>ru-RU</dc:language>
  <cp:lastModifiedBy/>
  <dcterms:modified xsi:type="dcterms:W3CDTF">2026-09-21T09:43:23Z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24</vt:i4>
  </property>
  <property fmtid="{D5CDD505-2E9C-101B-9397-08002B2CF9AE}" pid="3" name="PresentationFormat">
    <vt:lpwstr>On-screen Show (16:9)</vt:lpwstr>
  </property>
  <property fmtid="{D5CDD505-2E9C-101B-9397-08002B2CF9AE}" pid="4" name="Slides">
    <vt:i4>24</vt:i4>
  </property>
</Properties>
</file>